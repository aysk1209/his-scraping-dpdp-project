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0" r:id="rId2"/>
    <p:sldId id="259" r:id="rId3"/>
    <p:sldId id="260" r:id="rId4"/>
    <p:sldId id="267" r:id="rId5"/>
    <p:sldId id="261" r:id="rId6"/>
    <p:sldId id="271" r:id="rId7"/>
    <p:sldId id="272" r:id="rId8"/>
    <p:sldId id="262" r:id="rId9"/>
    <p:sldId id="263" r:id="rId10"/>
    <p:sldId id="264" r:id="rId11"/>
    <p:sldId id="269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55647-AA68-A712-66DB-85825EA9D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E7569-18CF-F6AF-ECC5-6B396D9BE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BD70-93D6-8BF5-DEAE-924FF57B2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09ED8-EDD5-A8AE-9C9D-23A0A5E5A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3355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1867FB-CA76-9BBB-DBAE-E787CCF3D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276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highly sensitive personal data, yet techniques for extracting data from HIS portals are judged only on speed, robustness and coverage.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 compliance is treated as a legal afterthought, never as a measurable property of the extraction technique itself.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platforms are heterogeneous and frequently updated; staff-facing data access is credentialed and portal-based — Tier-2, headless-browser automation.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DPDP Act 2023 makes lawful basis, purpose limitation, data minimisation and security safeguards binding on any entity processing patient data in India.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/ wrapper scrapers (fast, brittle); headless-browser automation (handles auth and dynamic pages); LLM / agentic extractors — AutoScraper (EMNLP 2024), AXE (2026).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guidance for scraping exists only as qualitative checklists (e.g. Web Scraping for Research, 2025).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technique reports a compliance score, so compliance cannot be compared across extraction methods.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gap: make DPDP compliance a benchmarkable, per-technique number produced by one shared harness.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Ruchitaa et al., 2023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Tools and Techniques: A Brief Survey — ICITIIT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/ taxonomy of scraping tools and methods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catalogue; no domain-specific (HIS) use and no compliance axis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Huang et al., 2024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AutoScraper: A Progressive Understanding Web Agent — EMNLP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LLM agent using HTML hierarchy + cross-page similarity; executability metric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SOTA scraper generation, but evaluated only on executability / coverage — no data protection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059076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Mansour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AXE: Low-Cost Cross-Domain Web Structured Information Extraction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DOM-tree pruning + Grounded XPath Resolution feeding a 0.6B LLM; zero-shot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88.1% on SWDE at low cost; no compliance modelling, not applied to credentialed domains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614442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Bohra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WebLists: Structured Extraction from Interactive Sites (BardeenAgent)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200-task benchmark; agent converts execution into replayable programs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31%→66%; regulated / enterprise contexts and privacy risk left unaddressed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82583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Co-Scraper: Query-Aware DOM Pruning and Reusable Scraper Synthesis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query-aware pruning + extraction-strategy induction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94.78% SWDE, ~90% reuse; optimises efficiency only — no purpose-limitation notion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25146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Gundelach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Detecting Bot Detection: Prevalence, Techniques, Implications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(2020–25) of bot-detection at top security / web venues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the detection landscape; authenticated / credentialed portal scraping under-studied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469853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[1]–[6] here; [7]–[12] on the next slide. Full IEEE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IMC,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Scrapers Selectively Respect robots.txt Directives — large-scale study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Internet-scale measurement of robots.txt compliance in the wild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observed after the fact, never designed into the technique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Purnawan &amp; Surendro, 2016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Enterprise Architecture for Hospital Information System — ICoICT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Enterprise-architecture modelling of HIS structure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Useful layer model; predates LLM extraction, no data-egress / compliance view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999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review,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Critical Review of Health Data Interoperability Standards: FHIR, HL7 and Beyond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review of HL7 / FHIR and related standards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≠ compliant extraction; standards are silent on lawful scraping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9310596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 Public Health,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Significance of the DPDP Act 2023 for the Healthcare Industry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Doctrinal analysis of DPDP obligations for healthcare entities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analysis only; no technical or measurable operationalisation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68587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npj Digital Medicine,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Data Protection in Indian Medical Research and Healthcare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Synthesis of challenges and recommendations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 not translated into checkable controls on data-collection pipelines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6751537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for Research: Legal, Ethical, Institutional and Scientific Considerations — Big Data &amp; Society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Multi-dimensional qualitative framework (contract, CFAA, IP, privacy, IRB, validity)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checklist, not a scored per-technique benchmark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605250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from previous slide. Full IEEE reference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DPDP-compliance benchmarking harness that scores any HIS extraction run against seven data-protection principles and returns one 0–1 score with a written reason for every mark lost.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harness scores every technique, making extraction methods directly comparable on compliance — a fourth evaluation axis alongside speed, coverage and robustness.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an extraction run as data: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ExtractionRun — the manifest a technique declares about itself: processing purpose, lawful basis and its reference, retention period, deletion mechanism, security posture, notice and governance.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ExtractedRecord — a record tagged only by DPDP field category (direct identifier, quasi-identifier, clinical, financial, administrative, contact). No values are carried, so no personal data enters the benchmark.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catalogue maps every HIS field name to its category, so the rules reason about categories and never about vendor-specific field names.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 policy — the auditable rulebook: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declarative table states, per processing purpose, which categories are necessary, the retention ceiling, and whether direct identifiers must be pseudonymised.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compliance envelope is a configuration edit, not a change to rule code — a clinician or data protection officer can inspect and challenge it without reading the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Rules, Scoring &amp; Extraction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executable DPDP rules, each a distinct check: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DM-01 data minimisation — extracted categories must sit inside the purpose policy; score = 1 − excess / total.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LB-01 lawful basis — a basis is declared, recognised, and carries a specific reference.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SL-01 storage limitation — retention declared and within the ceiling, plus a stated deletion mechanism.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SS-01 security safeguards — fraction of TLS, encryption at rest, access control and pseudonymisation in place.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PL-01 purpose limitation — a single specific purpose, with no undeclared onward use.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NT-01 transparency / notice — a privacy notice is on record and covers the stated purpose.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AC-01 accountability — audit logging, a named accountable party, and a retained record of processing.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returns pass / fail / not-applicable, a 0–1 score and plain-language findings; the overall score is the weighted mean of applicable rules, with equal weights until a weighting can be justified.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credit is deliberate — it lets the harness rank techniques rather than merely reject them, which is what makes it a benchmark and not a checklist.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and HIS heterogeneity: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pluggable HISDataSource adapter: the synthetic generator now, a credentialed live HIS later, with no downstream change.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Heterogeneity is absorbed twice — once at the adapter, and again by scoring data categories instead of vendor field names.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extraction agent (build step 6, not yet started):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off-the-shelf LLM driven agentically, AXE-method inspired: prompt design, tool design and evaluation against synthetic data — no fine-tuning and no training set. The scorer stays deterministic so the benchmark is reproducible.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40" name="Tools Table"/>
          <p:cNvGraphicFramePr>
            <a:graphicFrameLocks noGrp="1"/>
          </p:cNvGraphicFramePr>
          <p:nvPr/>
        </p:nvGraphicFramePr>
        <p:xfrm>
          <a:off x="548640" y="1230000"/>
          <a:ext cx="11091672" cy="3520000"/>
        </p:xfrm>
        <a:graphic>
          <a:graphicData uri="http://schemas.openxmlformats.org/drawingml/2006/table">
            <a:tbl>
              <a:tblPr/>
              <a:tblGrid>
                <a:gridCol w="2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91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is used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choice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entire pipeline — data generation, extraction, rules, benchmark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for research and scraping work; the libraries this project needs already live here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72836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v2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manifest, the seven rules, HIS record shapes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Rejects a malformed manifest at the boundary and serialises every report to JSON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254129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HIS record generation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Realistic values with no real patient; seeded, so every demo run reproduces exactly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804901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 tests across rules, techniques and adapters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rules are the contribution, so they are pinned by tests rather than asserted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648842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Tier-2 credentialed portal scraping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portals need login, session persistence and JavaScript rendering. Stubbed until access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821219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 API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extraction agent (build step 6)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Off-the-shelf, no fine-tuning; chosen for structured output and tool use. Not yet called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8124037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HL7 / FHIR / DICOM / ISO-IEEE 11073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shaping per HIS layer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Hand-rolled lightweight shapers — no vendor libraries and no vendor names in core logic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979897"/>
                  </a:ext>
                </a:extLst>
              </a:tr>
            </a:tbl>
          </a:graphicData>
        </a:graphic>
      </p:graphicFrame>
      <p:sp>
        <p:nvSpPr>
          <p:cNvPr id="41" name="Text 41"/>
          <p:cNvSpPr txBox="1"/>
          <p:nvPr/>
        </p:nvSpPr>
        <p:spPr>
          <a:xfrm>
            <a:off x="640080" y="4900000"/>
            <a:ext cx="109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8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runs: everything executes locally on project machines against self-generated synthetic data — 50 records per layer across four HIS layers, seeded. No network calls, no cloud service, no connection to any hospital system.</a:t>
            </a:r>
          </a:p>
          <a:p>
            <a:pPr marL="177800" indent="-177800">
              <a:spcAft>
                <a:spcPts val="38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the seven rules, the benchmarking harness and three runnable demos live in one Git repository; every result is written out as JSON and Markdown so the report can cite the artifact rather than a screenshot.</a:t>
            </a:r>
          </a:p>
          <a:p>
            <a:pPr marL="177800" indent="-177800">
              <a:spcAft>
                <a:spcPts val="38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HIS access, when it opens, changes exactly one thing: the adapter behind the HISDataSource interface (build step 7).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&amp; Timeline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framework: 7 executable DPDP rules + a declarative purpose policy + a ComplianceReport artifact (0–1 score, pass-rate, per-rule findings).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HIS layer: field catalogue (field → HIS layer → DPDP category) and a Faker-seeded record generator over a five-layer functional HIS model.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skeleton: a HISDataSource interface + a working MockHISDataSource adapter — the swap point for real Tier-2 scraping.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harness: three techniques scored on the identical rule set — compliance-aware 1.000, minimising-but-undocumented 0.500, unconstrained baseline 0.131. 91 tests passing.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endParaRPr lang="en-US" sz="14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lvl="1">
              <a:spcAft>
                <a:spcPts val="360"/>
              </a:spcAft>
              <a:buSzPct val="90000"/>
            </a:pPr>
            <a:endParaRPr lang="en-US" sz="14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(now): architecture, the compliance-as-benchmarkable-property thesis, and a runnable scoring demo on synthetic data.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(~75%): extraction layer built out, agent scaffolding, harness scoring ≥ 1 baseline technique, wider synthetic coverage; live HIS folded in if access opens.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Review-III (100%): full benchmarking across techniques, complete project report and publication-ready manuscript.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techniques attempt the same three extraction tasks over the same synthetic HIS data, scored by the identical seven-rule DPDP set.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differ only in how they treat personal data — not in speed or coverage.</a:t>
            </a:r>
          </a:p>
        </p:txBody>
      </p:sp>
      <p:graphicFrame>
        <p:nvGraphicFramePr>
          <p:cNvPr id="30" name="Benchmark Table"/>
          <p:cNvGraphicFramePr>
            <a:graphicFrameLocks noGrp="1"/>
          </p:cNvGraphicFramePr>
          <p:nvPr/>
        </p:nvGraphicFramePr>
        <p:xfrm>
          <a:off x="548640" y="2250000"/>
          <a:ext cx="11091672" cy="2520000"/>
        </p:xfrm>
        <a:graphic>
          <a:graphicData uri="http://schemas.openxmlformats.org/drawingml/2006/table">
            <a:tbl>
              <a:tblPr/>
              <a:tblGrid>
                <a:gridCol w="27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91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score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passed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compliance-aware (ours)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only the fields each task needs; files a full manifest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067795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minimising, undocumented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only what it needs, but files no compliance paperwork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525431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unconstrained (baseline)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Ignores the task; sweeps every field of every layer it can reach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2328240"/>
                  </a:ext>
                </a:extLst>
              </a:tr>
            </a:tbl>
          </a:graphicData>
        </a:graphic>
      </p:graphicFrame>
      <p:sp>
        <p:nvSpPr>
          <p:cNvPr id="22" name="Text 22"/>
          <p:cNvSpPr txBox="1"/>
          <p:nvPr/>
        </p:nvSpPr>
        <p:spPr>
          <a:xfrm>
            <a:off x="640080" y="4950000"/>
            <a:ext cx="109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row is the key result: it passes data minimisation outright, yet still loses half its marks for declaring no lawful-basis reference, no deletion route, no notice and no audit trail.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0.869 gap on identical rules — purely a compliance difference, invisible to any coverage or speed benchmark.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deduction is explained in words, not just scored — “no lawful basis declared”, “1/4 required safeguards in place”.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the score auditable rather than arbitrary, and why the scorer is deterministic code and not a language model.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AF0333-4B62-37AD-3E1B-5E54782CD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70" y="2988876"/>
            <a:ext cx="9810540" cy="20301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344E8-FF77-B286-38F9-3CBB36A25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85B9BF-6755-C963-22E2-175FD4533DFC}"/>
              </a:ext>
            </a:extLst>
          </p:cNvPr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C27DB9-0E08-CA8E-1475-DE17D83E42B3}"/>
              </a:ext>
            </a:extLst>
          </p:cNvPr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One Patient, End to End</a:t>
            </a:r>
            <a:endParaRPr lang="en-US" sz="2800" dirty="0"/>
          </a:p>
        </p:txBody>
      </p:sp>
      <p:pic>
        <p:nvPicPr>
          <p:cNvPr id="4" name="Image 0" descr="logo.png">
            <a:extLst>
              <a:ext uri="{FF2B5EF4-FFF2-40B4-BE49-F238E27FC236}">
                <a16:creationId xmlns:a16="http://schemas.microsoft.com/office/drawing/2014/main" id="{916227F1-668A-E5CE-03EE-FCFA4BA30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C10CA6AB-E420-29F4-8BB6-FDBE494F7F28}"/>
              </a:ext>
            </a:extLst>
          </p:cNvPr>
          <p:cNvSpPr txBox="1"/>
          <p:nvPr/>
        </p:nvSpPr>
        <p:spPr>
          <a:xfrm>
            <a:off x="640080" y="1200000"/>
            <a:ext cx="109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/>
            <a:r>
              <a:rPr lang="en-IN" sz="1400" dirty="0"/>
              <a:t>The six fields the baseline takes that no care-coordination purpose permits are an email address, a street address, and four billing fields — including an insurance policy number. None of them serve the clinical task that was asked for.</a:t>
            </a:r>
          </a:p>
          <a:p>
            <a:pPr lvl="0"/>
            <a:endParaRPr lang="en-IN" sz="1400" dirty="0"/>
          </a:p>
          <a:p>
            <a:pPr lvl="0"/>
            <a:r>
              <a:rPr lang="en-IN" sz="1400" dirty="0"/>
              <a:t>Same patient, same source, same seven rules. The </a:t>
            </a:r>
            <a:r>
              <a:rPr lang="en-IN" sz="1400" b="1" dirty="0"/>
              <a:t>0.869 gap is traceable to specific fields taken and specific paperwork missing; </a:t>
            </a:r>
            <a:r>
              <a:rPr lang="en-IN" sz="1400" dirty="0"/>
              <a:t>not to speed, coverage, or how much data was pulled.</a:t>
            </a:r>
          </a:p>
          <a:p>
            <a:br>
              <a:rPr lang="en-IN" sz="1400" dirty="0"/>
            </a:br>
            <a:endParaRPr lang="en-IN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endParaRPr lang="en-US" sz="125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530355-1EDB-0921-D609-BA70BCCCB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9520" y="2760645"/>
            <a:ext cx="9841120" cy="389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206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230000"/>
            <a:ext cx="10881360" cy="4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"Scrapers Selectively Respect robots.txt Directives: Evidence From a Large-Scale Empirical Study," in Proc. 2025 ACM Internet Measurement Conf. (IMC),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"A Critical Review of Health Data Interoperability Standards: FHIR, HL7, and Beyond,"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"Examining the Significance of the Digital Personal Data Protection Act, 2023 in the Context of the Healthcare Industry: A Comprehensive Analysis," Discover Public Health,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"Challenges and Recommendations for Enhancing Digital Data Protection in the Indian Medical Research and Healthcare Sector," npj Digital Medicine,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2577</Words>
  <Application>Microsoft Office PowerPoint</Application>
  <PresentationFormat>Widescreen</PresentationFormat>
  <Paragraphs>222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Avanindra Singh Kushwah</cp:lastModifiedBy>
  <cp:revision>8</cp:revision>
  <dcterms:created xsi:type="dcterms:W3CDTF">2026-08-27T09:57:11Z</dcterms:created>
  <dcterms:modified xsi:type="dcterms:W3CDTF">2026-09-09T04:56:42Z</dcterms:modified>
</cp:coreProperties>
</file>