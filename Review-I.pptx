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 · 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highly sensitive personal data, yet techniques for extracting data from HIS portals are judged only on speed, robustness and coverage.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 compliance is treated as a legal afterthought, never as a measurable property of the extraction technique itself.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platforms are heterogeneous and frequently updated; staff-facing data access is credentialed and portal-based — Tier-2, headless-browser automation.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DPDP Act 2023 makes lawful basis, purpose limitation, data minimisation and security safeguards binding on any entity processing patient data in India.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/ wrapper scrapers (fast, brittle); headless-browser automation (handles auth and dynamic pages); LLM / agentic extractors — AutoScraper (EMNLP 2024), AXE (2026).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guidance for scraping exists only as qualitative checklists (e.g. Web Scraping for Research, 2025).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technique reports a compliance score, so compliance cannot be compared across extraction methods.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gap: make DPDP compliance a benchmarkable, per-technique number produced by one shared harness.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Ruchitaa et al., 2023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Tools and Techniques: A Brief Survey — ICITIIT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/ taxonomy of scraping tools and methods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catalogue; no domain-specific (HIS) use and no compliance axis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Huang et al., 2024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AutoScraper: A Progressive Understanding Web Agent — EMNLP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LLM agent using HTML hierarchy + cross-page similarity; executability metric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SOTA scraper generation, but evaluated only on executability / coverage — no data protection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Mansour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AXE: Low-Cost Cross-Domain Web Structured Information Extraction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DOM-tree pruning + Grounded XPath Resolution feeding a 0.6B LLM; zero-shot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88.1% on SWDE at low cost; no compliance modelling, not applied to credentialed domains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Bohra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WebLists: Structured Extraction from Interactive Sites (BardeenAgent)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200-task benchmark; agent converts execution into replayable programs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31%→66%; regulated / enterprise contexts and privacy risk left unaddressed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Co-Scraper: Query-Aware DOM Pruning and Reusable Scraper Synthesis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query-aware pruning + extraction-strategy induction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94.78% SWDE, ~90% reuse; optimises efficiency only — no purpose-limitation notion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Gundelach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Detecting Bot Detection: Prevalence, Techniques, Implications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(2020–25) of bot-detection at top security / web venues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the detection landscape; authenticated / credentialed portal scraping under-studied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[1]–[6] here; [7]–[12] on the next slide. Full IEEE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DPDP-compliance benchmarking harness that scores any HIS extraction run against data-protection criteria and returns one 0–1 compliance score plus a per-rule breakdown.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harness scores every technique — including baselines such as AutoScraper — so extraction methods become directly comparable on compliance.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/ Approach: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is represented as data: a manifest (purpose, lawful basis, retention, deletion, security posture) + records tagged only by field category — no personal values enter the benchmark.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executable rules — data minimisation, lawful basis, storage limitation, security safeguards, purpose limitation, transparency/notice, accountability — each returns pass/fail, a 0–1 score and plain findings; overall = mean of applicable rules.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data source (adapter pattern): synthetic HIS generator now, live credentialed HIS later, no downstream change. HIS heterogeneity is absorbed here and by scoring categories, not vendor fields.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agent = an off-the-shelf LLM driven agentically (AXE-method-inspired): prompt and tool design plus evaluation on synthetic data — no model fine-tuning.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 (in scope / out of scope):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scope: Tier-2 headless-browser extraction, the compliance rule set and harness, synthetic HIS data, benchmarking against baseline techniques, and the project report.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production deployment; live-HIS runs until credentialed data access is enabled.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framework: 7 executable DPDP rules + a declarative purpose policy + a ComplianceReport artifact (0–1 score, pass-rate, per-rule findings).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HIS layer: field catalogue (field → HIS layer → DPDP category) and a Faker-seeded record generator over a five-layer functional HIS model.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skeleton: a HISDataSource interface + a working MockHISDataSource adapter — the swap point for real Tier-2 scraping.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harness: three techniques scored on the identical rule set — compliance-aware 1.000, minimising-but-undocumented 0.500, unconstrained baseline 0.131. 91 tests passing.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milestones up to Review-III: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(now): architecture, the compliance-as-benchmarkable-property thesis, and a runnable scoring demo on synthetic data.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(~75%): extraction layer built out, agent scaffolding, harness scoring ≥ 1 baseline technique, wider synthetic coverage; live HIS folded in if access opens.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Review-III (100%): full benchmarking across techniques, complete project report and publication-ready manuscript.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 (software / hardware / datasets):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pytest; Faker / pandas for synthetic records; Selenium / Playwright for Tier-2 (stubbed until data access); Anthropic Claude API for the AXE-inspired agent; HL7 / FHIR-shaped schemas.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self-generated synthetic HIS records only — no personal data. Credentialed live-HIS access is secured but not yet usable.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0080" y="1200000"/>
            <a:ext cx="10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techniques attempt the same three extraction tasks over the same synthetic HIS data, scored by the identical seven-rule DPDP set.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differ only in how they treat personal data — not in speed or coverage.</a:t>
            </a:r>
          </a:p>
        </p:txBody>
      </p:sp>
      <p:graphicFrame>
        <p:nvGraphicFramePr>
          <p:cNvPr id="30" name="Benchmark Table"/>
          <p:cNvGraphicFramePr>
            <a:graphicFrameLocks noGrp="1"/>
          </p:cNvGraphicFramePr>
          <p:nvPr/>
        </p:nvGraphicFramePr>
        <p:xfrm>
          <a:off x="548640" y="2250000"/>
          <a:ext cx="11091672" cy="2520000"/>
        </p:xfrm>
        <a:graphic>
          <a:graphicData uri="http://schemas.openxmlformats.org/drawingml/2006/table">
            <a:tbl>
              <a:tblPr/>
              <a:tblGrid>
                <a:gridCol w="2750000"/>
                <a:gridCol w="1850000"/>
                <a:gridCol w="1500000"/>
                <a:gridCol w="4991672"/>
              </a:tblGrid>
              <a:tr h="6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score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passed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compliance-aware (ours)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Pulls only the fields each task needs; files a full manifest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minimising, undocumented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Pulls only what it needs, but files no compliance paperwork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unconstrained (baseline)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7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Ignores the task; sweeps every field of every layer it can reach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" name="Text 22"/>
          <p:cNvSpPr txBox="1"/>
          <p:nvPr/>
        </p:nvSpPr>
        <p:spPr>
          <a:xfrm>
            <a:off x="640080" y="4950000"/>
            <a:ext cx="109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row is the key result: it passes data minimisation outright, yet still loses half its marks for declaring no lawful-basis reference, no deletion route, no notice and no audit trail.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0.869 gap on identical rules — purely a compliance difference, invisible to any coverage or speed benchmark.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0080" y="1200000"/>
            <a:ext cx="109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deduction is explained in words, not just scored — “no lawful basis declared”, “1/4 required safeguards in place”.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the score auditable rather than arbitrary, and why the scorer is deterministic code and not a language model.</a:t>
            </a:r>
          </a:p>
        </p:txBody>
      </p:sp>
      <p:sp>
        <p:nvSpPr>
          <p:cNvPr id="21" name="Screenshot Placeholder"/>
          <p:cNvSpPr/>
          <p:nvPr/>
        </p:nvSpPr>
        <p:spPr>
          <a:xfrm>
            <a:off x="1200000" y="2450000"/>
            <a:ext cx="9792000" cy="28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dash"/>
          </a:ln>
        </p:spPr>
        <p:txBody>
          <a:bodyPr wrap="square" lIns="91440" tIns="45720" rIns="91440" bIns="45720" rtlCol="0" anchor="ctr"/>
          <a:lstStyle/>
          <a:p>
            <a:pPr algn="ctr">
              <a:buNone/>
            </a:pPr>
            <a:r>
              <a:rPr lang="en-US" sz="13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python scripts/score_extraction_run.py — per-rule breakdown ]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1200000" y="5380000"/>
            <a:ext cx="9792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Per-rule findings for one run. Screenshot to be inserted.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230000"/>
            <a:ext cx="10881360" cy="45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"Scrapers Selectively Respect robots.txt Directives: Evidence From a Large-Scale Empirical Study," in Proc. 2025 ACM Internet Measurement Conf. (IMC),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"A Critical Review of Health Data Interoperability Standards: FHIR, HL7, and Beyond,"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"Examining the Significance of the Digital Personal Data Protection Act, 2023 in the Context of the Healthcare Industry: A Comprehensive Analysis," Discover Public Health,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"Challenges and Recommendations for Enhancing Digital Data Protection in the Indian Medical Research and Healthcare Sector," npj Digital Medicine,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IEEE format. Every reference listed must be cited in the slides / report.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 IMC,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Scrapers Selectively Respect robots.txt Directives — large-scale study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Internet-scale measurement of robots.txt compliance in the wild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observed after the fact, never designed into the technique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Purnawan &amp; Surendro, 2016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Enterprise Architecture for Hospital Information System — ICoICT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Enterprise-architecture modelling of HIS structure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Useful layer model; predates LLM extraction, no data-egress / compliance view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review,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Critical Review of Health Data Interoperability Standards: FHIR, HL7 and Beyond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review of HL7 / FHIR and related standards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≠ compliant extraction; standards are silent on lawful scraping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 Public Health,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Significance of the DPDP Act 2023 for the Healthcare Industry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Doctrinal analysis of DPDP obligations for healthcare entities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analysis only; no technical or measurable operationalisation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npj Digital Medicine,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Data Protection in Indian Medical Research and Healthcare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Synthesis of challenges and recommendations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Recommendations not translated into checkable controls on data-collection pipelines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for Research: Legal, Ethical, Institutional and Scientific Considerations — Big Data &amp; Society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Multi-dimensional qualitative framework (contract, CFAA, IP, privacy, IRB, validity)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checklist, not a scored per-technique benchmark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 from previous slide. Full IEEE reference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