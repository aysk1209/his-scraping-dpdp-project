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0" r:id="rId4"/>
    <p:sldId id="267" r:id="rId5"/>
    <p:sldId id="261" r:id="rId6"/>
    <p:sldId id="262" r:id="rId7"/>
    <p:sldId id="263" r:id="rId8"/>
    <p:sldId id="264" r:id="rId9"/>
    <p:sldId id="269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58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5647-AA68-A712-66DB-85825EA9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E7569-18CF-F6AF-ECC5-6B396D9BE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BD70-93D6-8BF5-DEAE-924FF57B2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09ED8-EDD5-A8AE-9C9D-23A0A5E5A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35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Techniques for HIS Towards DPDP Compliance</a:t>
            </a:r>
            <a:endParaRPr lang="en-US" sz="3200" b="1" dirty="0">
              <a:solidFill>
                <a:srgbClr val="1D2F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Karmakar          (23BLC1017)</a:t>
            </a:r>
          </a:p>
          <a:p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Avanindra S Kushwah   (23BLC1089)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Manoj Kumar, SENSE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 ·  02.09.2026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Background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Information Systems hold highly sensitive personal data, yet techniques for extracting data from HIS portals are judged only on speed, robustness and coverage.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compliance is treated as a legal afterthought, never as a measurable property of the extraction technique itself.</a:t>
            </a:r>
          </a:p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Significance: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platforms are heterogeneous and frequently updated; staff-facing data access is credentialed and portal-based — Tier-2, headless-browser automation.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DPDP Act 2023 makes lawful basis, purpose limitation, data minimisation and security safeguards binding on any entity processing patient data in India.</a:t>
            </a:r>
          </a:p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wrapper scrapers (fast, brittle); headless-browser automation (handles auth and dynamic pages); LLM / agentic extractors — AutoScraper (EMNLP 2024), AXE (2026).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guidance for scraping exists only as qualitative checklists (e.g. Web Scraping for Research, 2025).</a:t>
            </a:r>
          </a:p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Research Gap: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technique reports a compliance score, so compliance cannot be compared across extraction methods.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gap: make DPDP compliance a benchmarkable, per-technique number produced by one shared harness.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Ruchitaa et al., 2023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Scraping Tools and Techniques: A Brief Survey — ICITIIT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/ taxonomy of scraping tools and methods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catalogue; no domain-specific (HIS) use and no compliance axis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et al., 2024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AutoScraper: A Progressive Understanding Web Agent — EMNLP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LLM agent using HTML hierarchy + cross-page similarity; executability metric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scraper generation, but evaluated only on executability / coverage — no data protection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059076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Mansour et al., 2026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AXE: Low-Cost Cross-Domain Web Structured Information Extraction — arXiv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DOM-tree pruning + Grounded XPath Resolution feeding a 0.6B LLM; zero-shot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88.1% on SWDE at low cost; no compliance modelling, not applied to credentialed domains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14442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Bohra et al., 2025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WebLists: Structured Extraction from Interactive Sites (BardeenAgent) — arXiv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200-task benchmark; agent converts execution into replayable programs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31%→66%; regulated / enterprise contexts and privacy risk left unaddressed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82583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al., 2026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Co-Scraper: Query-Aware DOM Pruning and Reusable Scraper Synthesis — arXiv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query-aware pruning + extraction-strategy induction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94.78% SWDE, ~90% reuse; optimises efficiency only — no purpose-limitation notion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5146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Gundelach et al., 2025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Detecting Bot Detection: Prevalence, Techniques, Implications — arXiv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(2020–25) of bot-detection at top security / web venues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the detection landscape; authenticated / credentialed portal scraping under-studied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69853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[1]–[6] here; [7]–[12] on the next slide. Full IEEE list on the References slide.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IMC, 2025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Scrapers Selectively Respect robots.txt Directives — large-scale study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Internet-scale measurement of robots.txt compliance in the wild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observed after the fact, never designed into the technique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Purnawan &amp; Surendro, 2016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Enterprise Architecture for Hospital Information System — ICoICT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Enterprise-architecture modelling of HIS structure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layer model; predates LLM extraction, no data-egress / compliance view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99931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Interoperability review, 2025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Critical Review of Health Data Interoperability Standards: FHIR, HL7 and Beyond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review of HL7 / FHIR and related standards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Interoperability ≠ compliant extraction; standards are silent on lawful scraping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31059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Public Health, 2025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 of the DPDP Act 2023 for the Healthcare Industry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Doctrinal analysis of DPDP obligations for healthcare entities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analysis only; no technical or measurable operationalisation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8587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npj Digital Medicine, 2025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Data Protection in Indian Medical Research and Healthcare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of challenges and recommendations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Recommendations not translated into checkable controls on data-collection pipelines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75153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et al., 2025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Scraping for Research: Legal, Ethical, Institutional and Scientific Considerations — Big Data &amp; Society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Multi-dimensional qualitative framework (contract, CFAA, IP, privacy, IRB, validity)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checklist, not a scored per-technique benchmark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60525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from previous slide. Full IEEE reference list on the References slide.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Methodology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DPDP-compliance benchmarking harness that scores any HIS extraction run against data-protection criteria and returns one 0–1 compliance score plus a per-rule breakdown.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harness scores every technique — including baselines such as AutoScraper — so extraction methods become directly comparable on compliance.</a:t>
            </a:r>
          </a:p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Approach: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is represented as data: a manifest (purpose, lawful basis, retention, deletion, security posture) + records tagged only by field category — no personal values enter the benchmark.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executable rules — data minimisation, lawful basis, storage limitation, security safeguards, purpose limitation, transparency/notice, accountability — each returns pass/fail, a 0–1 score and plain findings; overall = mean of applicable rules.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data source (adapter pattern): synthetic HIS generator now, live credentialed HIS later, no downstream change. HIS heterogeneity is absorbed here and by scoring categories, not vendor fields.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agent = an off-the-shelf LLM driven agentically (AXE-method-inspired): prompt and tool design plus evaluation on synthetic data — no model fine-tuning.</a:t>
            </a:r>
          </a:p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(in scope / out of scope):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Tier-2 headless-browser extraction, the compliance rule set and harness, synthetic HIS data, benchmarking against baseline techniques, and the project report.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production deployment; live-HIS runs until credentialed data access is enabled.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Completed, Timeline &amp; Tools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so far: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framework: 7 executable DPDP rules + a declarative purpose policy + a ComplianceReport artifact (0–1 score, pass-rate, per-rule findings).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HIS layer: field catalogue (field → HIS layer → DPDP category) and a Faker-seeded record generator over a five-layer functional HIS model.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skeleton: a HISDataSource interface + a working MockHISDataSource adapter — the swap point for real Tier-2 scraping.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harness: three techniques scored on the identical rule set — compliance-aware 1.000, minimising-but-undocumented 0.500, unconstrained baseline 0.131. 91 tests passing.</a:t>
            </a:r>
          </a:p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 up to Review-III: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 (now): architecture, the compliance-as-benchmarkable-property thesis, and a runnable scoring demo on synthetic data.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(~75%): extraction layer built out, agent scaffolding, harness scoring ≥ 1 baseline technique, wider synthetic coverage; live HIS folded in if access opens.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(100%): full benchmarking across techniques, complete project report and publication-ready manuscript.</a:t>
            </a:r>
          </a:p>
          <a:p>
            <a:pPr marL="177800" indent="-177800">
              <a:spcBef>
                <a:spcPts val="700"/>
              </a:spcBef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(software / hardware / datasets):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pytest; Faker / pandas for synthetic records; Selenium / Playwright for Tier-2 (stubbed until data access); Anthropic Claude API for the AXE-inspired agent; HL7 / FHIR-shaped schemas.</a:t>
            </a:r>
          </a:p>
          <a:p>
            <a:pPr marL="457200" lvl="1" indent="-228600">
              <a:spcAft>
                <a:spcPts val="500"/>
              </a:spcAft>
              <a:buSzPct val="90000"/>
              <a:buChar char="–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self-generated synthetic HIS records only — no personal data. Credentialed live-HIS access is secured but not yet usable.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640080" y="1200000"/>
            <a:ext cx="10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techniques attempt the same three extraction tasks over the same synthetic HIS data, scored by the identical seven-rule DPDP set.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differ only in how they treat personal data — not in speed or coverage.</a:t>
            </a:r>
          </a:p>
        </p:txBody>
      </p:sp>
      <p:graphicFrame>
        <p:nvGraphicFramePr>
          <p:cNvPr id="30" name="Benchmark Table"/>
          <p:cNvGraphicFramePr>
            <a:graphicFrameLocks noGrp="1"/>
          </p:cNvGraphicFramePr>
          <p:nvPr/>
        </p:nvGraphicFramePr>
        <p:xfrm>
          <a:off x="548640" y="2250000"/>
          <a:ext cx="11091672" cy="2520000"/>
        </p:xfrm>
        <a:graphic>
          <a:graphicData uri="http://schemas.openxmlformats.org/drawingml/2006/table">
            <a:tbl>
              <a:tblPr/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1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score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passed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2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compliance-aware (ours)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Pulls only the fields each task needs; files a full manifest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67795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minimising, undocumented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Pulls only what it needs, but files no compliance paperwork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25431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unconstrained (baseline)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the task; sweeps every field of every layer it can reach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328240"/>
                  </a:ext>
                </a:extLst>
              </a:tr>
            </a:tbl>
          </a:graphicData>
        </a:graphic>
      </p:graphicFrame>
      <p:sp>
        <p:nvSpPr>
          <p:cNvPr id="22" name="Text 22"/>
          <p:cNvSpPr txBox="1"/>
          <p:nvPr/>
        </p:nvSpPr>
        <p:spPr>
          <a:xfrm>
            <a:off x="640080" y="4950000"/>
            <a:ext cx="109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row is the key result: it passes data minimisation outright, yet still loses half its marks for declaring no lawful-basis reference, no deletion route, no notice and no audit trail.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0.869 gap on identical rules — purely a compliance difference, invisible to any coverage or speed benchmark.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640080" y="1200000"/>
            <a:ext cx="109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deduction is explained in words, not just scored — “no lawful basis declared”, “1/4 required safeguards in place”.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the score auditable rather than arbitrary, and why the scorer is deterministic code and not a language model.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F0333-4B62-37AD-3E1B-5E54782CD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70" y="2988876"/>
            <a:ext cx="9810540" cy="20301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344E8-FF77-B286-38F9-3CBB36A2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85B9BF-6755-C963-22E2-175FD4533DFC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C27DB9-0E08-CA8E-1475-DE17D83E42B3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Results — One Patient, End to End</a:t>
            </a:r>
            <a:endParaRPr lang="en-US" sz="2800" dirty="0"/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916227F1-668A-E5CE-03EE-FCFA4BA30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C10CA6AB-E420-29F4-8BB6-FDBE494F7F28}"/>
              </a:ext>
            </a:extLst>
          </p:cNvPr>
          <p:cNvSpPr txBox="1"/>
          <p:nvPr/>
        </p:nvSpPr>
        <p:spPr>
          <a:xfrm>
            <a:off x="640080" y="1200000"/>
            <a:ext cx="109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dirty="0"/>
              <a:t>The six fields the baseline takes that no care-coordination purpose permits are an email address, a street address, and four billing fields — including an insurance policy number. None of them serve the clinical task that was asked for.</a:t>
            </a:r>
          </a:p>
          <a:p>
            <a:pPr lvl="0"/>
            <a:endParaRPr lang="en-IN" sz="1400" dirty="0"/>
          </a:p>
          <a:p>
            <a:pPr lvl="0"/>
            <a:r>
              <a:rPr lang="en-IN" sz="1400" dirty="0"/>
              <a:t>Same patient, same source, same seven rules. The </a:t>
            </a:r>
            <a:r>
              <a:rPr lang="en-IN" sz="1400" b="1" dirty="0"/>
              <a:t>0.869 gap is traceable to specific fields taken and specific paperwork missing; </a:t>
            </a:r>
            <a:r>
              <a:rPr lang="en-IN" sz="1400" dirty="0"/>
              <a:t>not to speed, coverage, or how much data was pulled.</a:t>
            </a:r>
          </a:p>
          <a:p>
            <a:br>
              <a:rPr lang="en-IN" sz="1400" dirty="0"/>
            </a:br>
            <a:endParaRPr lang="en-IN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endParaRPr lang="en-US" sz="125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530355-1EDB-0921-D609-BA70BCCCB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520" y="2760645"/>
            <a:ext cx="9841120" cy="389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06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230000"/>
            <a:ext cx="10881360" cy="4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R. N. R. Ruchitaa, S. Nandhakumar Raj, and M. Vijayalakshmi, "Web Scrapping Tools and Techniques: A Brief Survey," in Proc. 2023 4th Int. Conf. Innovative Trends in Information Technology (ICITIIT), 2023.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W. Huang et al., "AutoScraper: A Progressive Understanding Web Agent for Web Scraper Generation," in Proc. 2024 Conf. Empirical Methods in Natural Language Processing (EMNLP), Miami, FL, USA, 2024, pp. 2371–2389.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Mansour, K. W. Alshaer, and M. Elsaban, "AXE: Low-Cost Cross-Domain Web Structured Information Extraction," arXiv:2602.01838, 2026.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A. Bohra et al., "WebLists: Extracting Structured Information from Complex Interactive Websites Using Executable LLM Agents," arXiv:2504.12682, 2025.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Wang, J. Qiu, W. Zhang, and C. He, "Co-Scraper: Query-Aware DOM Pruning and Reusable Scraper Synthesis for Lightweight Web Data Extraction," arXiv:2606.14821, 2026.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R. Gundelach, M. Mühlhauser, and D. Herrmann, "Detecting Bot Detection: Prevalence, Techniques, and Implications for Web Measurement Research," arXiv:2606.14525, 2025.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"Scrapers Selectively Respect robots.txt Directives: Evidence From a Large-Scale Empirical Study," in Proc. 2025 ACM Internet Measurement Conf. (IMC), 2025.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D. A. Purnawan and K. Surendro, "Building Enterprise Architecture for Hospital Information System," in Proc. 2016 4th Int. Conf. Information and Communication Technology (ICoICT), Bandung, Indonesia, 2016.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"A Critical Review of Health Data Interoperability Standards: FHIR, HL7, and Beyond," 2025.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"Examining the Significance of the Digital Personal Data Protection Act, 2023 in the Context of the Healthcare Industry: A Comprehensive Analysis," Discover Public Health, 2025.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"Challenges and Recommendations for Enhancing Digital Data Protection in the Indian Medical Research and Healthcare Sector," npj Digital Medicine, 2025.</a:t>
            </a:r>
          </a:p>
          <a:p>
            <a:pPr marL="228600" indent="-228600">
              <a:spcAft>
                <a:spcPts val="300"/>
              </a:spcAft>
              <a:buSzPct val="100000"/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M. A. Brown, A. Gruen, G. Maldoff, S. Messing, Z. Sanderson, and M. Zimmer, "Web Scraping for Research: Legal, Ethical, Institutional, and Scientific Considerations," Big Data &amp; Society, 2025.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2152</Words>
  <Application>Microsoft Office PowerPoint</Application>
  <PresentationFormat>Widescreen</PresentationFormat>
  <Paragraphs>194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Avanindra Singh Kushwah</cp:lastModifiedBy>
  <cp:revision>6</cp:revision>
  <dcterms:created xsi:type="dcterms:W3CDTF">2026-08-27T09:57:11Z</dcterms:created>
  <dcterms:modified xsi:type="dcterms:W3CDTF">2026-09-09T04:23:03Z</dcterms:modified>
</cp:coreProperties>
</file>