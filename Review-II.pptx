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8" r:id="rId19"/>
    <p:sldId id="269" r:id="rId20"/>
    <p:sldId id="261" r:id="rId7"/>
    <p:sldId id="262" r:id="rId8"/>
    <p:sldId id="263" r:id="rId9"/>
    <p:sldId id="264" r:id="rId10"/>
    <p:sldId id="270" r:id="rId21"/>
    <p:sldId id="271" r:id="rId22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2012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Insert your architecture / block diagram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results here — graphs, tables, screenshots or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results here — graphs, tables, screenshots or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 — Scanned, Guide-Signed Title Slide (Mandatory)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Review-II, obtain the guide's signature with date on the title slide (next slide).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or photograph the signed title slide clearly.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this slide with the scanned copy, so that it remains Slide 1 of the presentation.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requirement applies to every review of Project-I (2026).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pic>
        <p:nvPicPr>
          <p:cNvPr id="3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65760"/>
            <a:ext cx="2011680" cy="76082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0" y="41148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of Electronics Engineering (SENSE)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0" y="749808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Project-I (2026)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73736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AI-Driven HIS Management Agent with DPDP-Compliant Web Scraping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06324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Name(s):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3474720" y="30632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Avanindra (23BLC1089) · Ananya (23BLC1017)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474720" y="346557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 txBox="1"/>
          <p:nvPr/>
        </p:nvSpPr>
        <p:spPr>
          <a:xfrm>
            <a:off x="822960" y="36576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Guide: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474720" y="365760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Manoj Kumar, SENSE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3474720" y="405993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 txBox="1"/>
          <p:nvPr/>
        </p:nvSpPr>
        <p:spPr>
          <a:xfrm>
            <a:off x="822960" y="425196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 / School: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474720" y="425196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B.Tech — SENSE, VIT Chennai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474720" y="465429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 txBox="1"/>
          <p:nvPr/>
        </p:nvSpPr>
        <p:spPr>
          <a:xfrm>
            <a:off x="822960" y="48463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Date: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474720" y="484632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Review-II  ·  30.09.2026 (Wednesday)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3474720" y="524865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8046720" y="3063240"/>
            <a:ext cx="3657600" cy="2194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 txBox="1"/>
          <p:nvPr/>
        </p:nvSpPr>
        <p:spPr>
          <a:xfrm>
            <a:off x="8229600" y="32461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Guide's Signature with Date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3886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Signature: _____________________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229600" y="44348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Date: _________________________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5760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is mandatory before every review. After signing, scan this slide and keep the scanned copy as Slide 1 of the presentation.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Review-II — 30.09.2026 (40 Marks, 40%)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75% Work Completion &amp; Implementation Progress.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Duration: 12–15 minutes.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contents: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&amp; scanned title slide (Slide 1)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and problem recap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literature review — minimum 15 recent papers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 &amp; architecture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details — modules, algorithms, code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(75%), challenges and remaining work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split-up: Technical depth (15), Implementation quality (15), Results analysis (5), Presentation skills (3), Q&amp;A handling (2).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&amp; Problem Recap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recap: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Information Systems hold identifiers, clinical, contact and financial data of real patients; the techniques used to extract data from them are judged on speed, robustness and coverage — never on DPDP Act 2023 compliance. Compliance stays an assertion, so techniques cannot be compared on it.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DPDP compliance a measured, per-technique property: every extraction scored on the same seven principle-based rules, paired with a reproducible cost measure, and verified against what the extraction actually produces.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whole chain running end to end — a credentialed portal scraped by a real browser, scored, exported to HL7 v2 / FHIR with identifiers pseudonymised and audited — and a rule-based staff assistant gated by the same policy.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Refinements after Review-I feedback: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 time, as asked: a cost profile per technique — fields pulled, fetches, real browser page loads, excess ratio, coverage, wall-clock (deterministic metrics lead; wall-clock is hardware-dependent) — and a record axis: a task about one patient is scored on the records read, not only the fields.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comparison is now ours against a publicly available AI agent (Gemini), briefed with the job, the purpose, the field names — never a value — and what the deployment provides; unaided, told the Act, and handed the purpose policy itself; decisions recorded, replayed, and repeated so determinism is a measured column — every repeat scored. Two harder measures added: manifest veracity (declared vs demonstrable, with four controls demonstrated by the pipeline rather than attested) and trap tasks whose wording invites a violation. The hand-written baseline stands, as the panel agreed most deployed systems sit there.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assistant is rule-based: a fixed function registry, no LLM, no training — answering the Review-I question of how it is trained: it is not. Heterogeneity is answered by discovery: module layers are inferred from field names, never read from labels.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Literature Review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Ruchitaa et al., 2023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Web Scraping Tools and Techniques: A Brief Survey — ICITIIT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Survey / taxonomy of scraping tools and methods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Broad catalogue; no domain-specific (HIS) use and no compliance axis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Huang et al., 2024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AutoScraper: A Progressive Understanding Web Agent — EMNLP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Two-stage LLM agent using HTML hierarchy + cross-page similarity; executability metric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SOTA scraper generation, but evaluated only on executability / coverage — no data protection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Mansour et al., 2026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AXE: Low-Cost Cross-Domain Web Structured Information Extraction — arXiv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DOM-tree pruning + Grounded XPath Resolution feeding a 0.6B LLM; zero-shot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F1 88.1% on SWDE at low cost; no compliance modelling, not applied to credentialed domains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Bohra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WebLists: Structured Extraction from Interactive Sites (BardeenAgent) — arXiv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200-task benchmark; agent converts execution into replayable programs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Recall 31%→66%; regulated / enterprise contexts and privacy risk left unaddressed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Wang et al., 2026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Co-Scraper: Query-Aware DOM Pruning and Reusable Scraper Synthesis — arXiv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Two-stage query-aware pruning + extraction-strategy induction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F1 94.78% SWDE, ~90% reuse; optimises efficiency only — no purpose-limitation notion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Fifteen references over three slides; full IEEE list on the References slide. [1]–[5]: scraping techniques — evaluated on executability, coverage and cost, never on what they should have taken.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 &amp; Architecture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1417320"/>
            <a:ext cx="201168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A · Sources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portal · export · synthetic
(not ours to control)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60320" y="1892808"/>
            <a:ext cx="320040" cy="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2880360" y="1417320"/>
            <a:ext cx="214884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B · Acquisition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one HISDataSource;
browser / files / mock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0" y="1892808"/>
            <a:ext cx="320040" cy="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349240" y="1417320"/>
            <a:ext cx="214884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C · Semantics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field → layer → DPDP
category; infer_layer()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98079" y="1892808"/>
            <a:ext cx="320041" cy="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7818120" y="1417320"/>
            <a:ext cx="233172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D · Extraction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task → technique →
manifest + records (metered)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979408" y="2377440"/>
            <a:ext cx="0" cy="758952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2880360" y="3154680"/>
            <a:ext cx="214884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E · Scoring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7 rules · benchmark
compliance × cost · purpose matrix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49240" y="3154680"/>
            <a:ext cx="214884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F · Export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pseudonymise → HL7 v2 /
FHIR → audit the artefacts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18120" y="3154680"/>
            <a:ext cx="233172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G · Guidance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recognise → gate →
collect → instruct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979408" y="3136392"/>
            <a:ext cx="0" cy="18288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950208" y="2807208"/>
            <a:ext cx="5029200" cy="0"/>
          </a:xfrm>
          <a:prstGeom prst="line">
            <a:avLst/>
          </a:prstGeom>
          <a:ln>
            <a:solidFill>
              <a:srgbClr val="1D2F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950208" y="2807208"/>
            <a:ext cx="0" cy="347472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419088" y="2807208"/>
            <a:ext cx="0" cy="347472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2880360" y="4892040"/>
            <a:ext cx="7269480" cy="868680"/>
          </a:xfrm>
          <a:prstGeom prst="rect">
            <a:avLst/>
          </a:prstGeom>
          <a:solidFill>
            <a:srgbClr val="EEF0F8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H · Policy — one table, three readers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3 non-nested purposes · role = purposes ∩ interop artefacts · 7 principles (PL-01 → DM-01 → SS-01)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3950208" y="4206240"/>
            <a:ext cx="0" cy="68580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6419088" y="4206240"/>
            <a:ext cx="0" cy="68580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8979408" y="4206240"/>
            <a:ext cx="0" cy="68580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8640" y="3154680"/>
            <a:ext cx="210312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00000"/>
                </a:solidFill>
                <a:latin typeface="Calibri"/>
              </a:rPr>
              <a:t>Adapter boundary</a:t>
            </a:r>
          </a:p>
          <a:p>
            <a:r>
              <a:rPr sz="1050" b="0">
                <a:solidFill>
                  <a:srgbClr val="000000"/>
                </a:solidFill>
                <a:latin typeface="Calibri"/>
              </a:rPr>
              <a:t>Nothing downstream of B knows which source it got. A new HIS is a new adapter, not a downstream rewrite.</a:t>
            </a:r>
          </a:p>
          <a:p>
            <a:r>
              <a:rPr sz="1050" b="0">
                <a:solidFill>
                  <a:srgbClr val="000000"/>
                </a:solidFill>
                <a:latin typeface="Calibri"/>
              </a:rPr>
              <a:t/>
            </a:r>
          </a:p>
          <a:p>
            <a:r>
              <a:rPr sz="1050" b="0">
                <a:solidFill>
                  <a:srgbClr val="000000"/>
                </a:solidFill>
                <a:latin typeface="Calibri"/>
              </a:rPr>
              <a:t>Why one project</a:t>
            </a:r>
          </a:p>
          <a:p>
            <a:r>
              <a:rPr sz="1050" b="0">
                <a:solidFill>
                  <a:srgbClr val="000000"/>
                </a:solidFill>
                <a:latin typeface="Calibri"/>
              </a:rPr>
              <a:t>H scores the extraction (E), gates what leaves (F), and gates what a person may be told (G).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08080"/>
                </a:solidFill>
                <a:latin typeface="Calibri"/>
              </a:rPr>
              <a:t>Runs as one command: scripts/run_pipeline.py — portal → discover → benchmark → normalise + audit → purpose → assistant → retain (~2 min).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Details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developed and integrated (src/, 274 tests, CI diffs the regenerated benchmark):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1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compliance/ — models (manifest, valueless records, record scope), policy (3 non-nested purposes), roles (role = purposes ∩ interop artefacts; authorise()), 7 rules, benchmark (compliance × cost × veracity × traps × stability), purpose_matrix, capabilities (register: demonstrated vs attested), audit (the harness logs every run), retention (sidecar + purge), pseudonymise (HMAC tokens), handling (real-data gate).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1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extraction/ — HISDataSource interface (transport observed, where= for one patient); adapters mock / portal (Playwright over TLS; search box) / dataset (CSV + Excel, column map, per-file overrides, day-first dates); techniques compliant / ai_agent (one agent = model × briefing; recorded, replayed, rationed) / unconstrained; metering (fields, fetches, pages, records); tier2 browser + navigation discovery.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1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interop/ — HL7 v2 (ADT, ORM, ORU, DFT) and FHIR R4 (12 resources incl. AuditEvent) shapers; normalise + export audit. agent/ — 13-function registry, session state machine, grounded guidance. tools/mock_portal — the Flask fixture built as a system we do not control. scripts/rehearse_day_one.py — the real-data procedure rehearsed on a hospital-shaped export, with a leak audit.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 implemented: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1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scoring: each principle → 0–1 with findings; weighted aggregate (a sweep shows the ranking survives any weighting). DM-01 on two axes: categories beyond the purpose, and records read beyond the patient's own. Excess ratio = distinct fields pulled ÷ required; coverage = needed fields obtained ÷ needed.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1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Veracity = score after removing declarations the register cannot back; a control counts as demonstrated only when the run produced its evidence (observed TLS, audit event, export audit, retention sidecar). Layer inference: argmax over layers of catalogue-explained field names — the same for a scraped module and an exported file. Role gate: lawful purpose → necessity → access control; the first failure names its rule.</a:t>
            </a:r>
            <a:endParaRPr lang="en-US" sz="1500" dirty="0"/>
          </a:p>
        </p:txBody>
      </p:sp>
      <p:sp>
        <p:nvSpPr>
          <p:cNvPr id="6" name="TextBox 5"/>
          <p:cNvSpPr txBox="1"/>
          <p:nvPr/>
        </p:nvSpPr>
        <p:spPr>
          <a:xfrm>
            <a:off x="640080" y="489204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1D2F82"/>
                </a:solidFill>
                <a:latin typeface="Consolas"/>
              </a:rPr>
              <a:t>def authorise(role, purpose, artefacts):                       # compliance/roles.py</a:t>
            </a:r>
          </a:p>
          <a:p>
            <a:r>
              <a:rPr sz="1050" b="0">
                <a:solidFill>
                  <a:srgbClr val="1D2F82"/>
                </a:solidFill>
                <a:latin typeface="Consolas"/>
              </a:rPr>
              <a:t>    if purpose not in role_policy(role).purposes:  return deny("PL-01")   # lawful purpose for this role?</a:t>
            </a:r>
          </a:p>
          <a:p>
            <a:r>
              <a:rPr sz="1050" b="0">
                <a:solidFill>
                  <a:srgbClr val="1D2F82"/>
                </a:solidFill>
                <a:latin typeface="Consolas"/>
              </a:rPr>
              <a:t>    if categories(artefacts) - policy_for(purpose).allowed_categories:  return deny("DM-01")   # necessary?</a:t>
            </a:r>
          </a:p>
          <a:p>
            <a:r>
              <a:rPr sz="1050" b="0">
                <a:solidFill>
                  <a:srgbClr val="1D2F82"/>
                </a:solidFill>
                <a:latin typeface="Consolas"/>
              </a:rPr>
              <a:t>    if artefacts - role_policy(role).artefacts:    return deny("SS-01")   # does the role handle these?</a:t>
            </a:r>
          </a:p>
          <a:p>
            <a:r>
              <a:rPr sz="1050" b="0">
                <a:solidFill>
                  <a:srgbClr val="1D2F82"/>
                </a:solidFill>
                <a:latin typeface="Consolas"/>
              </a:rPr>
              <a:t>    return permit()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(75%)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23444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000000"/>
                </a:solidFill>
                <a:latin typeface="Calibri"/>
              </a:rPr>
              <a:t>5 techniques (one row per model, at the briefing that hands it the purpose policy), 4 extraction tasks, the same login-gated portal scraped by a real browser (20 records per module, 10 per page); every run scored on the identical seven rules; cost measured as real page loads. The techniques differ only in how they treat personal data.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194560"/>
          <a:ext cx="11091672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920240"/>
                <a:gridCol w="2377440"/>
                <a:gridCol w="4142232"/>
              </a:tblGrid>
              <a:tr h="58293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Technique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Compliance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Cost (excess · coverage · pages · traps)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Behaviour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compliance-aware (ours)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1.000  ·  7/7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1.00 · 1.00 · 32  ·  traps held 1/1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Pulls what the purpose makes necessary; full manifest; identifiers pseudonymised on export.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ai agent: gemini-3.1-flash-lite (told the policy)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0.990  ·  6/7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1.83 · 0.83 · 35  ·  traps held 0/1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A public model decides the pull and the manifest from the job, purpose, field names and -- in this briefing -- the purpose policy itself; recorded and replayed.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unconstrained 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0.114  ·  0/7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7.56 · 1.00 · 440  ·  traps held 0/1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Every field of every module; no purpose, no manifest; declares only the transport it was observed 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7091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000000"/>
                </a:solidFill>
                <a:latin typeface="Calibri"/>
              </a:rPr>
              <a:t>Reading the table. The baseline loads about five times the pages for the same coverage; its surplus is exactly the overreach DM-01 penalises, so compliance and cost move together rather than trading off.</a:t>
            </a:r>
          </a:p>
          <a:p>
            <a:r>
              <a:rPr sz="1200" b="0">
                <a:solidFill>
                  <a:srgbClr val="000000"/>
                </a:solidFill>
                <a:latin typeface="Calibri"/>
              </a:rPr>
              <a:t>The AI agent is a real public model, briefed with field names — never a value — and handed the purpose policy itself; it cites the register correctly, so the gap is not paperwork. It obeys the policy's numbers (retention at the ceiling, no onward use) and not its categories: told to reconcile an invoice against the diagnosis it takes the diagnosis in every run. In memory (8 tasks × 5 repeats, every repeat scored): traps held 10 of 20 runs against our 20 of 20 (0 of 20 unaided or told the Act); 67–74% of the job done; its first decision reproduced in 18–21 of 32 repeats, ours 32 of 32. Ours reads the policy, not the prose, and repeats itself. Per-rule columns and the full model × briefing grid: docs/benchmark_results/.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23444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000000"/>
                </a:solidFill>
                <a:latin typeface="Calibri"/>
              </a:rPr>
              <a:t>The same extraction judged under every purpose — records, manifest and rules identical; only what the data was for changes. And the export audited, not trusted: the manifest claims pseudonymisation; we searched what actually left for the raw identifiers.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194560"/>
          <a:ext cx="11091672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2011680"/>
                <a:gridCol w="2651760"/>
                <a:gridCol w="2221992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Care pull (MRN, DOB, sex, diagnosis, medication, allergy)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under care_coordination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under billing_settlement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under patient_registration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compliance score · rules passed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1.000  ·  7 / 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0.833  ·  5 / 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0.881  ·  5 / 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lawful for this purpose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out of scope: clinical, quasi-identifier; notice does not cover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out of scope: clinical; notice does not cover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749039"/>
          <a:ext cx="11091672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3291840"/>
                <a:gridCol w="3593592"/>
              </a:tblGrid>
              <a:tr h="3962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Export audit (HL7 v2 + FHIR), one patient's summary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Pseudonymisation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Raw identifiers found in the export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compliance-aware (ours) — reads that patient through the search box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declared → applied (HMAC tokens, PSN-…)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none  ·  6 artefacts checked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unconstrained (baseline) — reads every module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not declared → raw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60 of 60  ·  340 artefacts checked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02920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00000"/>
                </a:solidFill>
                <a:latin typeface="Calibri"/>
              </a:rPr>
              <a:t>Care may see clinical data and not billing data; billing may see billing data and not clinical data. Neither purpose is stricter — "out of scope" means not necessary for this purpose. Tokens are keyed hashes: stable within one export, unlinkable across exports, not reversible.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Storage limitation is done, not declared: every export carries a delete-after sidecar (30 d for care), the purge erases the files on the day and writes the audit event; the run itself was logged by the harness, not by the technique — the log, the observed TLS, the export audit and the sidecar are the four controls the tables count as demonstrated.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&amp; Remaining Work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faced and solutions: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live HIS access — built a login-gated mock portal as a system we do not control (form login, session cookie, paginated HTML, robots.txt), so the browser layer is real and transfers as selectors + aliases.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cost honestly — wall-clock is hardware-dependent, so deterministic metrics lead (fields, page loads, excess ratio) and coverage guards against pulling nothing.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Trusting our own claims — the manifest is scored against what the run produced (export audit, observed transport, harness-written audit log, retention sidecar), not against the declaration; and the real-data procedure was rehearsed on a hospital-shaped export before any real data existed, which found four defects.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models on free tiers — the flagship allows 20 requests a day, so the recorder is paced, budgeted per day and breadth-first; a model enters the tables after one pass and its stability denominator grows with its samples. The model never sees a patient value, so the same recordings replay on the real data.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work (ledger at 98%, PLAN.md §5):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hospital dataset, expected before this review: one column map, the same pipeline; its results slide is rebuilt from that run. The second model's recording completes over its daily allowance. Project report: eight chapters drafted on the real numbers (section references verified against the Gazette text); second pass for length. Manuscript compressed from chapters 3–7.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for completion by Review-III (28.10.2026):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1: real-data results beside the synthetic ones; second model complete. Weeks 2–3: report second pass, appendices, weight-sensitivity and per-model discussion. Week 4: manuscript, final tables, rehearsal.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R. N. R. Ruchitaa, S. Nandhakumar Raj, and M. Vijayalakshmi, "Web Scrapping Tools and Techniques: A Brief Survey," in Proc. 2023 4th Int. Conf. Innovative Trends in Information Technology (ICITIIT), 2023.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W. Huang et al., "AutoScraper: A Progressive Understanding Web Agent for Web Scraper Generation," in Proc. 2024 Conf. Empirical Methods in Natural Language Processing (EMNLP), Miami, FL, USA, 2024, pp. 2371–2389.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A. Mansour, K. W. Alshaer, and M. Elsaban, "AXE: Low-Cost Cross-Domain Web Structured Information Extraction," arXiv:2602.01838, 2026.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A. Bohra et al., "WebLists: Extracting Structured Information from Complex Interactive Websites Using Executable LLM Agents," arXiv:2504.12682, 2025.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S. Wang, J. Qiu, W. Zhang, and C. He, "Co-Scraper: Query-Aware DOM Pruning and Reusable Scraper Synthesis for Lightweight Web Data Extraction," arXiv:2606.14821, 2026.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R. Gundelach, M. Mühlhauser, and D. Herrmann, "Detecting Bot Detection: Prevalence, Techniques, and Implications for Web Measurement Research," arXiv:2606.14525, 2025.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T. Kim, K. Bock, C. Luo, A. Liswood, C. Poroslay, and E. Wenger, "Scrapers Selectively Respect robots.txt Directives: Evidence From a Large-Scale Empirical Study," in Proc. 2025 ACM Internet Measurement Conf. (IMC), Madison, WI, USA, 2025, pp. 541–557, doi:10.1145/3730567.3764471.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 D. A. Purnawan and K. Surendro, "Building Enterprise Architecture for Hospital Information System," in Proc. 2016 4th Int. Conf. Information and Communication Technology (ICoICT), Bandung, Indonesia, 2016.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[9] C. N. Vorisek, M. Lehne, S. A. I. Klopfenstein, P. J. Mayer, A. Bartschke, T. Haese, and S. Thun, "Fast Healthcare Interoperability Resources (FHIR) for Interoperability in Health Research: Systematic Review," JMIR Medical Informatics, vol. 10, no. 7, art. e35724, 2022, doi:10.2196/35724.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[10] V. Khanna and A. Kotwal, "Examining the Significance of the Digital Personal Data Protection Act, 2023 in the Context of the Healthcare Industry: A Comprehensive Analysis," Discover Public Health, vol. 22, art. 381, 2025, doi:10.1186/s12982-025-00757-6.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 A. Sood, D. Mishra, V. Surya, H. Singh, R. Sundaresan, D. Pal, R. Dharmaraju, R. Satish, S. Mishra, N. A. Chavan, S. Mondal, P. Duggal, and V. K. Iyer, "Challenges and Recommendations for Enhancing Digital Data Protection in the Indian Medical Research and Healthcare Sector," npj Digital Medicine, vol. 8, art. 48, 2025, doi:10.1038/s41746-025-01448-x.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[12] M. A. Brown, A. Gruen, G. Maldoff, S. Messing, Z. Sanderson, and M. Zimmer, "Web Scraping for Research: Legal, Ethical, Institutional, and Scientific Considerations," Big Data &amp; Society, 2025.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[13] The Digital Personal Data Protection Act, 2023, Act No. 22 of 2023, The Gazette of India, 11 Aug. 2023.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[14] C. V. Cook, "Tokenization techniques for privacy-preserving healthcare data: tokenization nuts and bolts," Frontiers in Drug Safety and Regulation, vol. 5, art. 1599217, 2025, doi:10.3389/fdsfr.2025.1599217.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[15] M. A. de Carvalho Junior and P. Bandiera-Paiva, "Health Information System Role-Based Access Control Current Security Trends and Challenges," Journal of Healthcare Engineering, vol. 2018, art. 6510249, 2018, doi:10.1155/2018/6510249.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[16] A. Rule, M. F. Chiang, and M. R. Hribar, "Using electronic health record audit logs to study clinical activity: a systematic review of aims, measures, and methods," Journal of the American Medical Informatics Association, vol. 27, no. 3, pp. 480–490, 2020, doi:10.1093/jamia/ocz196.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8064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 format. [1]–[12] and [14]–[16] are cited on the literature slides; [13] on the problem, methodology and results slides.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pic>
        <p:nvPicPr>
          <p:cNvPr id="3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743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7490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Project-I (2026)  ·  SENSE  ·  VIT Chennai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Literature Review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Gundelach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Detecting Bot Detection: Prevalence, Techniques, Implications — arXiv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Systematic review (2020–25) of bot-detection at top security / web venues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Maps the detection landscape; authenticated / credentialed portal scraping under-studied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Kim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Scrapers Selectively Respect robots.txt Directives — ACM IMC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Internet-scale measurement of robots.txt compliance in the wild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Compliance observed after the fact, never designed into the technique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Purnawan &amp; Surendro, 2016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Building Enterprise Architecture for Hospital Information System — ICoICT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Enterprise-architecture modelling of HIS structure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Useful layer model; predates LLM extraction, no data-egress / compliance view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Vorisek et al., 2022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FHIR for Interoperability in Health Research: Systematic Review — JMIR Med. Inform.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49 studies on FHIR use cases, implementation, goals and limitations in research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Interoperability ≠ compliant extraction; standards are silent on lawful scraping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Khanna &amp; Kotwal,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Significance of the DPDP Act 2023 for the Healthcare Industry — Discover Public Health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Doctrinal analysis of DPDP obligations for healthcare entities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Legal analysis only; no technical or measurable operationalisation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[6]–[7]: the web-measurement view — compliance observed after the fact. [8]–[9]: HIS structure and interoperability standards, silent on lawful extraction. [10]: the Act read for healthcare, doctrinally.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Literature Review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Sood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Digital Data Protection in Indian Medical Research and Healthcare — npj Digital Medicine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Synthesis of challenges and recommendations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Recommendations not translated into checkable controls on data-collection pipelines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Brown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Web Scraping for Research: Legal, Ethical, Institutional and Scientific Considerations — Big Data &amp; Society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Multi-dimensional qualitative framework (contract, CFAA, IP, privacy, IRB, validity)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A checklist, not a scored per-technique benchmark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Cook,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Tokenization Techniques for Privacy-Preserving Healthcare Data — Frontiers in Drug Safety and Regulation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Deterministic vs referential (keyed, salted) tokenisation of health identifiers; linkage vs re-identification risk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Mechanism only; no check that an export actually carries tokens — our audit verifies it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de Carvalho Jr. &amp; Bandiera-Paiva, 2018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HIS Role-Based Access Control: Current Security Trends and Challenges — J. Healthcare Engineering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Industry-focused review of RBAC in health information systems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Static role lists both over- and under-grant; no derivation of scope from purpose — ours derives it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Rule, Chiang &amp; Hribar, 2020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Using EHR Audit Logs to Study Clinical Activity: A Systematic Review — JAMIA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85 studies using audit logs as the record of who did what in the EHR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Logs used for workflow research, never to demonstrate compliance; our fifth layer models them for that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[11]–[12]: recommendations and checklists, not checkable controls. [14]–[16]: the three mechanisms we build on — tokenisation, RBAC, audit logs — each described, none used to score a technique. [13] is the Act.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(contd.) — Discovery &amp; Assistant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234440"/>
            <a:ext cx="108813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000000"/>
                </a:solidFill>
                <a:latin typeface="Calibri"/>
              </a:rPr>
              <a:t>The scraper is never told the portal's layout. It crawls from the home page and infers each module's HIS layer from the field names it finds — the URL says "registration", the scraper concludes patient administration. With display labels instead of field names it cannot classify the module; with a label→field map it is back at 100% and nothing downstream changes. The same inference classifies an exported spreadsheet.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377440"/>
          <a:ext cx="11091672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11680"/>
                <a:gridCol w="914400"/>
                <a:gridCol w="3291840"/>
                <a:gridCol w="1764792"/>
              </a:tblGrid>
              <a:tr h="2895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Module (as the portal names it)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Path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Pages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Inferred HIS layer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Confidence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Patient Registration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/m/registration/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patient_administration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Clinical Records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/m/clinical/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clinical_ehr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Departmental Orders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/m/departments/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ancillary_departmental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Billing &amp; Accounts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/m/billing/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administrative_financial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Audit Log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/m/integration/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infrastructure_integration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29768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00000"/>
                </a:solidFill>
                <a:latin typeface="Calibri"/>
              </a:rPr>
              <a:t>reception &gt; what is the patient's diagnosis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assistant : I can't walk you through how to look up a patient's diagnosis as reception.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            reception has no lawful purpose to act under 'care_coordination'; its purposes are billing_settlement, patient_registration.   [PL-01 — DPDP Act 2023 - purpose limitation]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            This is something nurse can do; please hand it to them.        (declined before asking for any detail)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The refusal comes from the same policy table that scored the benchmark. A nurse asking the same question is walked through it, each step stamped with the page the crawler found: [clinical_ehr / Condition / /m/clinical/].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(contd.) — Real Data, Rehearsed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234440"/>
            <a:ext cx="10881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000000"/>
                </a:solidFill>
                <a:latin typeface="Calibri"/>
              </a:rPr>
              <a:t>The hospital's export was not in when this deck was built, so the day-one procedure was run on an export shaped like one: the hospital's own column names, a column we do not model, an Excel file among the CSVs, dd/mm/yyyy dates, one table split across two files — and no synthetic manifest, so the handling gate treats it as real (refused without provenance under data/, git-ignored). check_source.py wrote the mapping template, a person filled it, run_pipeline.py --dataset ran the same techniques and recordings unchanged.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514600"/>
          <a:ext cx="11091672" cy="1517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828800"/>
                <a:gridCol w="1097280"/>
                <a:gridCol w="1097280"/>
                <a:gridCol w="1828800"/>
                <a:gridCol w="1307592"/>
              </a:tblGrid>
              <a:tr h="37947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Technique (at 'told the policy')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Compliance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Coverage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Excess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Records read ÷ needed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Traps held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compliance-aware (ours)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1.000  ·  7/7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1.00×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 /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ai agent: gemini-3.1-flash-lite (told the policy)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0.990  ·  6/7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1.25×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 /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unconstrained 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0.114  ·  0/7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7.56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100.00×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 /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169663"/>
            <a:ext cx="10881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000000"/>
                </a:solidFill>
                <a:latin typeface="Calibri"/>
              </a:rPr>
              <a:t>The rehearsal found four defects before any real data existed — a header meaning different fields in different files, a split table read half, day-first dates reaching HL7 unparsed, .xlsx unreadable — and each is now fixed and tested. Then everything printed or written was searched for one patient's record number, name and phone: nothing. A recording is a property of the model, not of a source, so no agent is re-recorded for the real data; the day it arrives this slide is rebuilt from its run and nothing else changes.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7607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08080"/>
                </a:solidFill>
                <a:latin typeface="Calibri"/>
              </a:rPr>
              <a:t>benchmark-dataset.json, generated 2026-09-21; four tasks; the baseline's records-read column is every patient's records for one patient's task.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515</Words>
  <Application>Microsoft Macintosh PowerPoint</Application>
  <PresentationFormat>Widescreen</PresentationFormat>
  <Paragraphs>93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mark kandan</cp:lastModifiedBy>
  <cp:revision>1</cp:revision>
  <dcterms:created xsi:type="dcterms:W3CDTF">2026-08-27T09:57:11Z</dcterms:created>
  <dcterms:modified xsi:type="dcterms:W3CDTF">2026-08-27T10:07:40Z</dcterms:modified>
</cp:coreProperties>
</file>