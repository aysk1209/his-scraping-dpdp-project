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61" r:id="rId7"/>
    <p:sldId id="262" r:id="rId8"/>
    <p:sldId id="272" r:id="rId23"/>
    <p:sldId id="263" r:id="rId9"/>
    <p:sldId id="264" r:id="rId10"/>
    <p:sldId id="270" r:id="rId21"/>
    <p:sldId id="271" r:id="rId22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·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 — and a record axis: a task about one patient is scored on the records read, not only the fields.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is now ours against a publicly available AI agent (Gemini), briefed with the job, the purpose, the field names — never a value — and what the deployment provides; unaided, told the Act, and handed the purpose policy itself; decisions recorded, replayed, and repeated so determinism is a measured column — every repeat scored. Two harder measures added: manifest veracity (declared vs demonstrable, with four controls demonstrated by the pipeline rather than attested) and trap tasks whose wording invites a violation.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references over three slides; full IEEE list on the References slide. [1]–[5]: scraping techniques — evaluated on executability, coverage and cost, never on what they should have taken.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→ retain (~2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300 tests, CI diffs the regenerated benchmark):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records, record scope), policy (3 non-nested purposes), roles (role = purposes ∩ interop artefacts; authorise()), 7 rules, benchmark (compliance × cost × veracity × traps × stability), purpose_matrix, capabilities (register: demonstrated vs attested), audit (the harness logs every run), retention (sidecar + purge),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 (transport observed, where= for one patient); adapters mock / portal (Playwright over TLS; search box) / dataset (CSV + Excel, column map, per-file overrides, day-first dates, values kept as text, per-concept files stacked); techniques compliant / ai_agent (one agent = model × briefing; recorded, replayed, rationed) / unconstrained; metering (fields, fetches, pages, records);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(12 resources incl. AuditEvent) shapers; normalise + export audit. agent/ — 13-function registry, session state machine, grounded guidance. tools/mock_portal — the Flask fixture built as a system we do not control. scripts/rehearse_day_one.py — the real-data procedure rehearsed on a hospital-shaped export, with a leak audit. tools/build_review_pages.py — four offline demo pages built from real runs.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 (a sweep shows the ranking survives any weighting). DM-01 on two axes: categories beyond the purpose, and records read beyond the patient's own. Excess ratio = distinct fields pulled ÷ required; coverage = needed fields obtained ÷ needed.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Veracity = score after removing declarations the register cannot back; a control counts as demonstrated only when the run produced its evidence (observed TLS, audit event, export audit, retention sidecar). Layer inference: argmax over layers of catalogue-explained field names — the same for a scraped module and an exported file. Role gate: lawful purpose → necessity → access control; the first failure names its rule.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5 techniques (one row per model, at the briefing that hands it the purpose policy), 4 extraction tasks, the same login-gated portal scraped by a real browser (20 records per module, 10 per page);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58293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 · traps)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 · 1.00 · 32  ·  traps held 1/1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0.990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1.83 · 0.83 · 35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A public model decides the pull and the manifest from the job, purpose, field names and -- in this briefing -- the purpose policy itself; recorded and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0.114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7.56 · 1.00 · 440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manifest; declares only the transport it was observed 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about five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AI agent is a real public model, briefed with field names — never a value — and handed the purpose policy itself; it cites the register correctly, so the gap is not paperwork. It obeys the policy's numbers (retention at the ceiling, no onward use) and not its categories: told to reconcile an invoice against the diagnosis it takes the diagnosis in every run. In memory (8 tasks × 5 repeats, every repeat scored): traps held 10 of 20 runs against our 20 of 20 (0 of 20 unaided or told the Act); 67–74% of the job done; its first decision reproduced in 18–21 of 32 repeats, ours 32 of 32. Ours reads the policy, not the prose, and repeats itself. Per-rule columns and the full model × briefing grid: docs/benchmark_results/.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749039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FHIR), one patient's summary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 — reads that patient through the search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none  ·  6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 — reads every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 of 60  ·  340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02920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Storage limitation is done, not declared: every export carries a delete-after sidecar (30 d for care), the purge erases the files on the day and writes the audit event; the run itself was logged by the harness, not by the technique — the log, the observed TLS, the export audit and the sidecar are the four controls the tables count as demonstrated.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our own claims — the manifest is scored against what the run produced (export audit, observed transport, harness-written audit log, retention sidecar), not against the declaration; and the real-data procedure was rehearsed on a hospital-shaped export before any real data existed (four defects found), then run on a public export we had never seen (five more) — each fixed and pinned by a test.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models on free tiers — the recorder is paced, budgeted per day and breadth-first, and a model enters the tables after one pass; the flagship of the family still served only one or two calls a day in practice, so it was dropped rather than paid for. The model never sees a patient value, so the recordings replay on the real data unchanged.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(ledger at 98%, PLAN.md §5):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hospital dataset, expected before this review: one column map, the same pipeline; its results slide is rebuilt from that run. Project report: eight chapters drafted on the real numbers (section references verified against the Gazette text); second pass for length. Manuscript compressed from chapters 3–7.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1: real-data results beside the synthetic ones. Weeks 2–3: report second pass, appendices, weight-sensitivity and per-model discussion. Week 4: manuscript, final tables,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T. Kim, K. Bock, C. Luo, A. Liswood, C. Poroslay, and E. Wenger, "Scrapers Selectively Respect robots.txt Directives: Evidence From a Large-Scale Empirical Study," in Proc. 2025 ACM Internet Measurement Conf. (IMC), Madison, WI, USA, 2025, pp. 541–557, doi:10.1145/3730567.3764471.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C. N. Vorisek, M. Lehne, S. A. I. Klopfenstein, P. J. Mayer, A. Bartschke, T. Haese, and S. Thun, "Fast Healthcare Interoperability Resources (FHIR) for Interoperability in Health Research: Systematic Review," JMIR Medical Informatics, vol. 10, no. 7, art. e35724, 2022, doi:10.2196/35724.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V. Khanna and A. Kotwal, "Examining the Significance of the Digital Personal Data Protection Act, 2023 in the Context of the Healthcare Industry: A Comprehensive Analysis," Discover Public Health, vol. 22, art. 381, 2025, doi:10.1186/s12982-025-00757-6.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A. Sood, D. Mishra, V. Surya, H. Singh, R. Sundaresan, D. Pal, R. Dharmaraju, R. Satish, S. Mishra, N. A. Chavan, S. Mondal, P. Duggal, and V. K. Iyer, "Challenges and Recommendations for Enhancing Digital Data Protection in the Indian Medical Research and Healthcare Sector," npj Digital Medicine, vol. 8, art. 48, 2025, doi:10.1038/s41746-025-01448-x.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C. V. Cook, "Tokenization techniques for privacy-preserving healthcare data: tokenization nuts and bolts," Frontiers in Drug Safety and Regulation, vol. 5, art. 1599217, 2025, doi:10.3389/fdsfr.2025.1599217.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A. de Carvalho Junior and P. Bandiera-Paiva, "Health Information System Role-Based Access Control Current Security Trends and Challenges," Journal of Healthcare Engineering, vol. 2018, art. 6510249, 2018, doi:10.1155/2018/6510249.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A. Rule, M. F. Chiang, and M. R. Hribar, "Using electronic health record audit logs to study clinical activity: a systematic review of aims, measures, and methods," Journal of the American Medical Informatics Association, vol. 27, no. 3, pp. 480–490, 2020, doi:10.1093/jamia/ocz196.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and [14]–[16]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Kim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ACM IMC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Vorisek et al., 2022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FHIR for Interoperability in Health Research: Systematic Review — JMIR Med. Inform.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49 studies on FHIR use cases, implementation, goals and limitations in research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Khanna &amp; Kotwal,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 — Discover Public Health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[6]–[7]: the web-measurement view — compliance observed after the fact. [8]–[9]: HIS structure and interoperability standards, silent on lawful extraction. [10]: the Act read for healthcare, doctrinally.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Sood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 — npj Digital Medicine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Cook,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Tokenization Techniques for Privacy-Preserving Healthcare Data — Frontiers in Drug Safety and Regulation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Deterministic vs referential (keyed, salted) tokenisation of health identifiers; linkage vs re-identification risk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Mechanism only; no check that an export actually carries tokens — our audit verifies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 Carvalho Jr. &amp; Bandiera-Paiva, 2018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HIS Role-Based Access Control: Current Security Trends and Challenges — J. Healthcare Engineering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Industry-focused review of RBAC in health information systems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Static role lists both over- and under-grant; no derivation of scope from purpose — ours derives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Rule, Chiang &amp; Hribar, 2020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Using EHR Audit Logs to Study Clinical Activity: A Systematic Review — JAMIA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85 studies using audit logs as the record of who did what in the EHR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Logs used for workflow research, never to demonstrate compliance; our fifth layer models them for that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[11]–[12]: recommendations and checklists, not checkable controls. [14]–[16]: the three mechanisms we build on — tokenisation, RBAC, audit logs — each described, none used to score a technique. [13] is the Act.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Real Data, Rehearsed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The hospital's export was not in when this deck was built, so the day-one procedure was run on an export shaped like one: the hospital's own column names, a column we do not model, an Excel file among the CSVs, dd/mm/yyyy dates, one table split across two files — and no synthetic manifest, so the handling gate treats it as real (refused without provenance under data/, git-ignored). check_source.py wrote the mapping template, a person filled it, run_pipeline.py --dataset ran the same techniques and recordings unchanged.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514600"/>
          <a:ext cx="11091672" cy="1517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1097280"/>
                <a:gridCol w="1097280"/>
                <a:gridCol w="1828800"/>
                <a:gridCol w="1307592"/>
              </a:tblGrid>
              <a:tr h="3794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 (at 'told the policy')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Excess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Records read ÷ needed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Traps held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0.990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1.25×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0.114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100.00×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69663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The rehearsal found four defects before any real data existed — a header meaning different fields in different files, a split table read half, day-first dates reaching HL7 unparsed, .xlsx unreadable — and each is now fixed and tested. Then everything printed or written was searched for one patient's record number, name and phone: nothing. A public export we had never seen (Synthea: 18 files, one per clinical concept) found five more — identifiers read as numbers, a blanked column counted against a file, an empty source still benchmarked, one table kept per layer, a coverage ceiling set by the wrong technique — all fixed and tested. No agent is re-recorded for the real data: the day it arrives this slide is rebuilt from its run and nothing else changes.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08080"/>
                </a:solidFill>
                <a:latin typeface="Calibri"/>
              </a:rPr>
              <a:t>benchmark-dataset.json, generated 2026-09-23; four tasks; the baseline's records-read column is every patient's records for one patient's task.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 — the Interactive Pages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portal-craw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43049"/>
            <a:ext cx="5440680" cy="1520190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3099815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1 · The portal run</a:t>
            </a:r>
            <a:r>
              <a:rPr sz="1000"/>
              <a:t>  —  Every page each technique loaded, replayed on a map of the portal: ours 32, the AI agent 35, the baseline 440 — each total checked against the meter.</a:t>
            </a:r>
            <a:r>
              <a:rPr sz="900">
                <a:solidFill>
                  <a:srgbClr val="808080"/>
                </a:solidFill>
              </a:rPr>
              <a:t>  [portal-run.html]</a:t>
            </a:r>
          </a:p>
        </p:txBody>
      </p:sp>
      <p:pic>
        <p:nvPicPr>
          <p:cNvPr id="7" name="Picture 6" descr="dataset-pat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1536" y="1188719"/>
            <a:ext cx="4136871" cy="1874519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199632" y="3099815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2 · An export we never saw</a:t>
            </a:r>
            <a:r>
              <a:rPr sz="1000"/>
              <a:t>  —  Synthea's public sample, one patient's bill: the agent takes the diagnosis; ours takes three fields; the baseline reads 180,570 records.</a:t>
            </a:r>
            <a:r>
              <a:rPr sz="900">
                <a:solidFill>
                  <a:srgbClr val="808080"/>
                </a:solidFill>
              </a:rPr>
              <a:t>  [dataset-walkthrough.html]</a:t>
            </a:r>
          </a:p>
        </p:txBody>
      </p:sp>
      <p:pic>
        <p:nvPicPr>
          <p:cNvPr id="9" name="Picture 8" descr="assistant-refus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990" y="3675888"/>
            <a:ext cx="5085979" cy="1874519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86984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3 · Ask the assistant</a:t>
            </a:r>
            <a:r>
              <a:rPr sz="1000"/>
              <a:t>  —  The panel types; reception asking for a diagnosis is refused before any detail is asked, with the three checks shown. Verified against the Python assistant on load.</a:t>
            </a:r>
            <a:r>
              <a:rPr sz="900">
                <a:solidFill>
                  <a:srgbClr val="808080"/>
                </a:solidFill>
              </a:rPr>
              <a:t>  [assistant.html]</a:t>
            </a:r>
          </a:p>
        </p:txBody>
      </p:sp>
      <p:pic>
        <p:nvPicPr>
          <p:cNvPr id="11" name="Picture 10" descr="rules-vs-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5452" y="3675888"/>
            <a:ext cx="3749039" cy="1874519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199632" y="5586984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4 · Rules vs just AI</a:t>
            </a:r>
            <a:r>
              <a:rPr sz="1000"/>
              <a:t>  —  Eight tasks, five repeats, every repeat scored: close on the score, apart on traps, coverage, minimisation and repeatability.</a:t>
            </a:r>
            <a:r>
              <a:rPr sz="900">
                <a:solidFill>
                  <a:srgbClr val="808080"/>
                </a:solidFill>
              </a:rPr>
              <a:t>  [rules-vs-just-ai.html]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alibri"/>
              </a:rPr>
              <a:t>Open docs/review/index.html — every page is offline, built from a real run of the pipeline (tools/build_review_pages.py), and shows no raw patient identifier.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