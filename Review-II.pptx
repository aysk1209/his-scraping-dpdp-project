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8" r:id="rId4"/>
    <p:sldId id="259" r:id="rId5"/>
    <p:sldId id="260" r:id="rId6"/>
    <p:sldId id="268" r:id="rId19"/>
    <p:sldId id="269" r:id="rId20"/>
    <p:sldId id="261" r:id="rId7"/>
    <p:sldId id="262" r:id="rId8"/>
    <p:sldId id="263" r:id="rId9"/>
    <p:sldId id="264" r:id="rId10"/>
    <p:sldId id="270" r:id="rId21"/>
    <p:sldId id="265" r:id="rId11"/>
    <p:sldId id="266" r:id="rId12"/>
    <p:sldId id="267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4" d="100"/>
          <a:sy n="114" d="100"/>
        </p:scale>
        <p:origin x="504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92012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Insert your architecture / block diagram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your results here — graphs, tables, screenshots or outputs.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1 — Scanned, Guide-Signed Title Slide (Mandatory)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5544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the Review-II, obtain the guide's signature with date on the title slide (next slide).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or photograph the signed title slide clearly.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this slide with the scanned copy, so that it remains Slide 1 of the presentation.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requirement applies to every review of Project-I (2026).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5760"/>
            <a:ext cx="2011680" cy="760828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0" y="411480"/>
            <a:ext cx="6217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School of Electronics Engineering (SENSE)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5486400" y="749808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73736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AI-Driven HIS Management Agent with DPDP-Compliant Web Scraping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306324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Student Name(s):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474720" y="306324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Avanindra (23BLC1089) · Ananya (23BLC1017)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474720" y="346557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 txBox="1"/>
          <p:nvPr/>
        </p:nvSpPr>
        <p:spPr>
          <a:xfrm>
            <a:off x="822960" y="365760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Guide: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3474720" y="365760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Manoj Kumar, SENSE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474720" y="405993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 txBox="1"/>
          <p:nvPr/>
        </p:nvSpPr>
        <p:spPr>
          <a:xfrm>
            <a:off x="822960" y="425196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/ School:</a:t>
            </a:r>
            <a:endParaRPr lang="en-US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3474720" y="425196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B.Tech — SENSE, VIT Chennai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3474720" y="465429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 txBox="1"/>
          <p:nvPr/>
        </p:nvSpPr>
        <p:spPr>
          <a:xfrm>
            <a:off x="822960" y="484632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&amp; Date: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3474720" y="4846320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 ·  30.09.2026 (Wednesday)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3474720" y="5248656"/>
            <a:ext cx="4023360" cy="0"/>
          </a:xfrm>
          <a:prstGeom prst="line">
            <a:avLst/>
          </a:prstGeom>
          <a:noFill/>
          <a:ln w="12700">
            <a:solidFill>
              <a:srgbClr val="BFBFB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8046720" y="3063240"/>
            <a:ext cx="3657600" cy="2194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 txBox="1"/>
          <p:nvPr/>
        </p:nvSpPr>
        <p:spPr>
          <a:xfrm>
            <a:off x="8229600" y="324612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Guide's Signature with Date</a:t>
            </a:r>
            <a:endParaRPr lang="en-US" sz="1400" dirty="0"/>
          </a:p>
        </p:txBody>
      </p:sp>
      <p:sp>
        <p:nvSpPr>
          <p:cNvPr id="21" name="Text 18"/>
          <p:cNvSpPr txBox="1"/>
          <p:nvPr/>
        </p:nvSpPr>
        <p:spPr>
          <a:xfrm>
            <a:off x="8229600" y="388620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Signature: _____________________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8229600" y="4434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_________________________</a:t>
            </a:r>
            <a:endParaRPr lang="en-US" sz="1300" dirty="0"/>
          </a:p>
        </p:txBody>
      </p:sp>
      <p:sp>
        <p:nvSpPr>
          <p:cNvPr id="23" name="Text 20"/>
          <p:cNvSpPr txBox="1"/>
          <p:nvPr/>
        </p:nvSpPr>
        <p:spPr>
          <a:xfrm>
            <a:off x="822960" y="5760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 is mandatory before every review. After signing, scan this slide and keep the scanned copy as Slide 1 of the presentation.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Review-II — 30.09.2026 (40 Marks, 40%)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Focus: 75% Work Completion &amp; Implementation Progress.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Duration: 12–15 minutes.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 contents: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&amp; scanned title slide (Slide 1)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and problem recap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— minimum 15 recent papers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 — modules, algorithms, code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(75%), challenges and remaining work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 split-up: Technical depth (15), Implementation quality (15), Results analysis (5), Presentation skills (3), Q&amp;A handling (2).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&amp; Problem Recap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recap: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Hospital Information Systems hold identifiers, clinical, contact and financial data of real patients; the techniques used to extract data from them are judged on speed, robustness and coverage — never on DPDP Act 2023 compliance. Compliance stays an assertion, so techniques cannot be compared on it.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DPDP compliance a measured, per-technique property: every extraction scored on the same seven principle-based rules, paired with a reproducible cost measure, and verified against what the extraction actually produces.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whole chain running end to end — a credentialed portal scraped by a real browser, scored, exported to HL7 v2 / FHIR with identifiers pseudonymised and audited — and a rule-based staff assistant gated by the same policy.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Refinements after Review-I feedback: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Processing time, as asked: a cost profile per technique — fields pulled, fetches, real browser page loads, excess ratio, coverage, wall-clock (deterministic metrics lead; wall-clock is hardware-dependent).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middle technique is now the morality model — privacy judged by instinct from a field's name, no concept of purpose — deliberately not DPDP-compliant; the hand-written baseline stands, as the panel agreed most deployed systems sit there.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assistant is rule-based: a fixed function registry, no LLM, no training — answering the Review-I question of how it is trained: it is not. Heterogeneity is answered by discovery: module layers are inferred from field names, never read from labels.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Ruchitaa et al., 2023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Tools and Techniques: A Brief Survey — ICITIIT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Survey / taxonomy of scraping tools and methods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Broad catalogue; no domain-specific (HIS) use and no compliance axis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Huang et al., 2024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AutoScraper: A Progressive Understanding Web Agent — EMNLP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LLM agent using HTML hierarchy + cross-page similarity; executability metric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SOTA scraper generation, but evaluated only on executability / coverage — no data protection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Mansour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AXE: Low-Cost Cross-Domain Web Structured Information Extraction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DOM-tree pruning + Grounded XPath Resolution feeding a 0.6B LLM; zero-shot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88.1% on SWDE at low cost; no compliance modelling, not applied to credentialed domains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Bohra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WebLists: Structured Extraction from Interactive Sites (BardeenAgent)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200-task benchmark; agent converts execution into replayable programs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Recall 31%→66%; regulated / enterprise contexts and privacy risk left unaddressed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Wang et al., 2026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Co-Scraper: Query-Aware DOM Pruning and Reusable Scraper Synthesis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Two-stage query-aware pruning + extraction-strategy induction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F1 94.78% SWDE, ~90% reuse; optimises efficiency only — no purpose-limitation notion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Fifteen references over three slides; full IEEE list on the References slide. [1]–[5]: scraping techniques — evaluated on executability, coverage and cost, never on what they should have taken.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Design &amp; Architecture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548640" y="1417320"/>
            <a:ext cx="201168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A · Sources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portal · export · synthetic
(not ours to control)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6032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288036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B · Acquisition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one HISDataSource;
browser / files / mock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029200" y="1892808"/>
            <a:ext cx="320040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349240" y="1417320"/>
            <a:ext cx="21488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C · Semantics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field → layer → DPDP
category; infer_layer()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498079" y="1892808"/>
            <a:ext cx="320041" cy="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7818120" y="1417320"/>
            <a:ext cx="233172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D · Extraction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task → technique →
manifest + records (metered)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979408" y="2377440"/>
            <a:ext cx="0" cy="75895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288036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E · Scoring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7 rules · benchmark
compliance × cost · purpose matrix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49240" y="3154680"/>
            <a:ext cx="214884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F · Export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pseudonymise → HL7 v2 /
FHIR → audit the artefacts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18120" y="3154680"/>
            <a:ext cx="2331720" cy="1051560"/>
          </a:xfrm>
          <a:prstGeom prst="rect">
            <a:avLst/>
          </a:prstGeom>
          <a:solidFill>
            <a:srgbClr val="FFFFFF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G · Guidance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recognise → gate →
collect → instruct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979408" y="3136392"/>
            <a:ext cx="0" cy="18288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950208" y="2807208"/>
            <a:ext cx="5029200" cy="0"/>
          </a:xfrm>
          <a:prstGeom prst="line">
            <a:avLst/>
          </a:prstGeom>
          <a:ln>
            <a:solidFill>
              <a:srgbClr val="1D2F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95020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419088" y="2807208"/>
            <a:ext cx="0" cy="347472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ctangle 19"/>
          <p:cNvSpPr/>
          <p:nvPr/>
        </p:nvSpPr>
        <p:spPr>
          <a:xfrm>
            <a:off x="2880360" y="4892040"/>
            <a:ext cx="7269480" cy="868680"/>
          </a:xfrm>
          <a:prstGeom prst="rect">
            <a:avLst/>
          </a:prstGeom>
          <a:solidFill>
            <a:srgbClr val="EEF0F8"/>
          </a:solidFill>
          <a:ln w="15875">
            <a:solidFill>
              <a:srgbClr val="1D2F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36576" bIns="36576"/>
          <a:lstStyle/>
          <a:p>
            <a:pPr algn="ctr"/>
            <a:r>
              <a:rPr sz="1150" b="1">
                <a:solidFill>
                  <a:srgbClr val="1D2F82"/>
                </a:solidFill>
                <a:latin typeface="Calibri"/>
              </a:rPr>
              <a:t>H · Policy — one table, three readers</a:t>
            </a:r>
          </a:p>
          <a:p>
            <a:pPr algn="ctr"/>
            <a:r>
              <a:rPr sz="900">
                <a:solidFill>
                  <a:srgbClr val="000000"/>
                </a:solidFill>
                <a:latin typeface="Calibri"/>
              </a:rPr>
              <a:t>3 non-nested purposes · role = purposes ∩ interop artefacts · 7 principles (PL-01 → DM-01 → SS-01)</a:t>
            </a:r>
          </a:p>
        </p:txBody>
      </p:sp>
      <p:cxnSp>
        <p:nvCxnSpPr>
          <p:cNvPr id="21" name="Connector 20"/>
          <p:cNvCxnSpPr/>
          <p:nvPr/>
        </p:nvCxnSpPr>
        <p:spPr>
          <a:xfrm flipV="1">
            <a:off x="39502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641908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8979408" y="4206240"/>
            <a:ext cx="0" cy="685800"/>
          </a:xfrm>
          <a:prstGeom prst="line">
            <a:avLst/>
          </a:prstGeom>
          <a:ln w="19050">
            <a:solidFill>
              <a:srgbClr val="1D2F8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48640" y="3154680"/>
            <a:ext cx="210312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00000"/>
                </a:solidFill>
                <a:latin typeface="Calibri"/>
              </a:rPr>
              <a:t>Adapter boundary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Nothing downstream of B knows which source it got. A new HIS is a new adapter, not a downstream rewrite.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/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Why one project</a:t>
            </a:r>
          </a:p>
          <a:p>
            <a:r>
              <a:rPr sz="1050" b="0">
                <a:solidFill>
                  <a:srgbClr val="000000"/>
                </a:solidFill>
                <a:latin typeface="Calibri"/>
              </a:rPr>
              <a:t>H scores the extraction (E), gates what leaves (F), and gates what a person may be told (G).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89788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08080"/>
                </a:solidFill>
                <a:latin typeface="Calibri"/>
              </a:rPr>
              <a:t>Runs as one command: scripts/run_pipeline.py — portal → discover → benchmark → normalise + audit → purpose → assistant (~1½ min).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Details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 developed and integrated (src/, 224 tests):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compliance/ — models (manifest, valueless records), policy (3 purposes), roles (role = purposes ∩ interop artefacts; authorise()), 7 rules, checkers, benchmark (compliance × cost), purpose_matrix, pseudonymise (HMAC tokens), handling (real-data gate).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extraction/ — HISDataSource interface; adapters mock / portal (Playwright) / dataset (pandas, column map); techniques compliant / morality / unconstrained; metering; tier2 browser + navigation discovery.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interop/ — HL7 v2 (ADT, ORM, ORU, DFT) and FHIR R4 (10 resources incl. AuditEvent) shapers; normalise + export audit. agent/ — 13-function registry, session state machine, grounded guidance. tools/mock_portal — the Flask fixture built as a system we do not control.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Algorithms implemented: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scoring: each principle → 0–1 with findings; weighted aggregate. Excess ratio = distinct fields pulled ÷ fields the purpose requires; coverage = needed fields obtained ÷ needed (micro-averaged).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0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inference: argmax over layers of catalogue-explained field names, with confidence — applied identically to a scraped module and an exported file. Role gate: lawful purpose → necessity → access control, first failure names its rule. Pseudonymisation: HMAC-SHA256 keyed per export; audit = search of emitted artefacts for raw identifier values.</a:t>
            </a:r>
            <a:endParaRPr lang="en-US" sz="1500" dirty="0"/>
          </a:p>
        </p:txBody>
      </p:sp>
      <p:sp>
        <p:nvSpPr>
          <p:cNvPr id="6" name="TextBox 5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1D2F82"/>
                </a:solidFill>
                <a:latin typeface="Consolas"/>
              </a:rPr>
              <a:t>def authorise(role, purpose, artefacts):                       # compliance/roles.py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purpose not in role_policy(role).purposes:  return deny("PL-01")   # lawful purpose for this role?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categories(artefacts) - policy_for(purpose).allowed_categories:  return deny("DM-01")   # necessary?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if artefacts - role_policy(role).artefacts:    return deny("SS-01")   # does the role handle these?</a:t>
            </a:r>
          </a:p>
          <a:p>
            <a:r>
              <a:rPr sz="1050" b="0">
                <a:solidFill>
                  <a:srgbClr val="1D2F82"/>
                </a:solidFill>
                <a:latin typeface="Consolas"/>
              </a:rPr>
              <a:t>    return permit()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(75%)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Three techniques, three extraction tasks, the same login-gated portal scraped by a real browser (20 records per module, 10 per page); every run scored on the identical seven rules; cost measured as real page loads. The techniques differ only in how they treat personal data.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1920240"/>
                <a:gridCol w="2377440"/>
                <a:gridCol w="4142232"/>
              </a:tblGrid>
              <a:tr h="58293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Technique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Compliance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Cost (excess · coverage · pages)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Behaviour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1.000  ·  7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1.00 · 1.00 · 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Pulls what the purpose makes necessary; full manifest; identifiers pseudonymised on export.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morality (privacy by instinct)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0.484  ·  2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0.85 · 0.85 · 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Refuses what feels private (names, contact, money) whatever the purpose; takes MRN and DOB freely; consent assumed, no notice, no retention.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0.135  ·  0 / 7 rules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7.15 · 1.00 · 330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Every field of every module; no purpose, no manifest, TLS only.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Reading the table. The baseline loads about five times the pages for the same coverage; its surplus is exactly the overreach DM-01 penalises, so compliance and cost move together rather than trading off.</a:t>
            </a:r>
          </a:p>
          <a:p>
            <a:r>
              <a:rPr sz="1200" b="0">
                <a:solidFill>
                  <a:srgbClr val="000000"/>
                </a:solidFill>
                <a:latin typeface="Calibri"/>
              </a:rPr>
              <a:t>The morality model is the cheapest — and the cheapness is its failure: coverage 0.85 because it refused a name and a phone number an appointment reminder lawfully needs under the registration purpose. Privacy by instinct fails in both directions; only a purpose-bound technique gets both right. Per-rule columns (DM, LB, SL, SS, PL, NT, AC) are in docs/benchmark_results/benchmark-portal.md.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000000"/>
                </a:solidFill>
                <a:latin typeface="Calibri"/>
              </a:rPr>
              <a:t>The same extraction judged under every purpose — records, manifest and rules identical; only what the data was for changes. And the export audited, not trusted: the manifest claims pseudonymisation; we searched what actually left for the raw identifiers.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194560"/>
          <a:ext cx="11091672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2011680"/>
                <a:gridCol w="2651760"/>
                <a:gridCol w="2221992"/>
              </a:tblGrid>
              <a:tr h="45720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Care pull (MRN, DOB, sex, diagnosis, medication, allergy)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care_coordination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billing_settlement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under patient_registration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 score · rules passed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1.000  ·  7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0.833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0.881  ·  5 / 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lawful for this purpose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clinical, quasi-identifier;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out of scope: clinical; notice does not cover 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3840480"/>
          <a:ext cx="11091672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40"/>
                <a:gridCol w="3291840"/>
                <a:gridCol w="3593592"/>
              </a:tblGrid>
              <a:tr h="3962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Export audit (HL7 v2 + FHIR)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Pseudonymisation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Raw identifiers found in the export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compliance-aware (ours)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declared → applied (HMAC tokens, PSN-…)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0 of 120  ·  180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unconstrained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not declared → raw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120 of 120  ·  510 artefacts checked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212080"/>
            <a:ext cx="10881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000000"/>
                </a:solidFill>
                <a:latin typeface="Calibri"/>
              </a:rPr>
              <a:t>Care may see clinical data and not billing data; billing may see billing data and not clinical data. Neither purpose is stricter — "out of scope" means not necessary for this purpose. Tokens are keyed hashes: stable within one export, unlinkable across exports, not reversible.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&amp; Remaining Work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 faced and solutions: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live HIS access — built a login-gated mock portal as a system we do not control (form login, session cookie, paginated HTML, robots.txt), so the browser layer is real and transfers as selectors + aliases.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Measuring cost honestly — wall-clock is hardware-dependent, so deterministic metrics lead (fields, page loads, excess ratio) and coverage guards against pulling nothing.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Trusting the manifest — pseudonymisation is now applied at export and audited against the emitted artefacts rather than taken from the declaration. Real data handling — the PLAN §4 checklist is enforced in code: a non-synthetic export is refused without provenance, de-identification statement and ignore rule.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Remaining work (25%):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report: all eight chapters drafted; second pass for length, and the section mapping to be verified against the Gazette text before citations enter it. Manuscript compressed from chapters 3–7. Real hospital dataset → one column map, then the same pipeline; results reported beside the synthetic ones.</a:t>
            </a:r>
            <a:endParaRPr lang="en-US" sz="15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500" dirty="0" b="1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Timeline for completion by Review-III (28.10.2026):</a:t>
            </a:r>
            <a:endParaRPr lang="en-US" sz="1500" dirty="0"/>
          </a:p>
          <a:p>
            <a:pPr marL="355600" lvl="1" indent="-177800">
              <a:spcAft>
                <a:spcPts val="400"/>
              </a:spcAft>
              <a:buSzPct val="100000"/>
              <a:buChar char="•"/>
            </a:pPr>
            <a:r>
              <a:rPr lang="en-US" sz="1250" dirty="0" b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Weeks 1–2: report chapters 3–4 (framework, techniques and cost) and 7 on synthetic data. Weeks 2–3: chapters 5–6, appendices; real-data integration the day the export lands. Week 4: manuscript compression, final results tables, rehearsal.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" y="1325880"/>
            <a:ext cx="10881360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[1] R. N. R. Ruchitaa, S. Nandhakumar Raj, and M. Vijayalakshmi, "Web Scrapping Tools and Techniques: A Brief Survey," in Proc. 2023 4th Int. Conf. Innovative Trends in Information Technology (ICITIIT),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W. Huang et al., "AutoScraper: A Progressive Understanding Web Agent for Web Scraper Generation," in Proc. 2024 Conf. Empirical Methods in Natural Language Processing (EMNLP), Miami, FL, USA, 2024, pp. 2371–2389.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A. Mansour, K. W. Alshaer, and M. Elsaban, "AXE: Low-Cost Cross-Domain Web Structured Information Extraction," arXiv:2602.01838,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A. Bohra et al., "WebLists: Extracting Structured Information from Complex Interactive Websites Using Executable LLM Agents," arXiv:2504.12682,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S. Wang, J. Qiu, W. Zhang, and C. He, "Co-Scraper: Query-Aware DOM Pruning and Reusable Scraper Synthesis for Lightweight Web Data Extraction," arXiv:2606.14821, 2026.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R. Gundelach, M. Mühlhauser, and D. Herrmann, "Detecting Bot Detection: Prevalence, Techniques, and Implications for Web Measurement Research," arXiv:2606.14525,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T. Kim, K. Bock, C. Luo, A. Liswood, C. Poroslay, and E. Wenger, "Scrapers Selectively Respect robots.txt Directives: Evidence From a Large-Scale Empirical Study," in Proc. 2025 ACM Internet Measurement Conf. (IMC), Madison, WI, USA, 2025, pp. 541–557, doi:10.1145/3730567.3764471.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[8] D. A. Purnawan and K. Surendro, "Building Enterprise Architecture for Hospital Information System," in Proc. 2016 4th Int. Conf. Information and Communication Technology (ICoICT), Bandung, Indonesia, 2016.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[9] C. N. Vorisek, M. Lehne, S. A. I. Klopfenstein, P. J. Mayer, A. Bartschke, T. Haese, and S. Thun, "Fast Healthcare Interoperability Resources (FHIR) for Interoperability in Health Research: Systematic Review," JMIR Medical Informatics, vol. 10, no. 7, art. e35724, 2022, doi:10.2196/35724.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[10] V. Khanna and A. Kotwal, "Examining the Significance of the Digital Personal Data Protection Act, 2023 in the Context of the Healthcare Industry: A Comprehensive Analysis," Discover Public Health, vol. 22, art. 381, 2025, doi:10.1186/s12982-025-00757-6.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 A. Sood, D. Mishra, V. Surya, H. Singh, R. Sundaresan, D. Pal, R. Dharmaraju, R. Satish, S. Mishra, N. A. Chavan, S. Mondal, P. Duggal, and V. K. Iyer, "Challenges and Recommendations for Enhancing Digital Data Protection in the Indian Medical Research and Healthcare Sector," npj Digital Medicine, vol. 8, art. 48, 2025, doi:10.1038/s41746-025-01448-x.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[12] M. A. Brown, A. Gruen, G. Maldoff, S. Messing, Z. Sanderson, and M. Zimmer, "Web Scraping for Research: Legal, Ethical, Institutional, and Scientific Considerations," Big Data &amp; Society, 2025.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[13] The Digital Personal Data Protection Act, 2023, Act No. 22 of 2023, The Gazette of India, 11 Aug. 2023.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[14] C. V. Cook, "Tokenization techniques for privacy-preserving healthcare data: tokenization nuts and bolts," Frontiers in Drug Safety and Regulation, vol. 5, art. 1599217, 2025, doi:10.3389/fdsfr.2025.1599217.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[15] M. A. de Carvalho Junior and P. Bandiera-Paiva, "Health Information System Role-Based Access Control Current Security Trends and Challenges," Journal of Healthcare Engineering, vol. 2018, art. 6510249, 2018, doi:10.1155/2018/6510249.</a:t>
            </a:r>
            <a:endParaRPr lang="en-US" sz="160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[16] A. Rule, M. F. Chiang, and M. R. Hribar, "Using electronic health record audit logs to study clinical activity: a systematic review of aims, measures, and methods," Journal of the American Medical Informatics Association, vol. 27, no. 3, pp. 480–490, 2020, doi:10.1093/jamia/ocz196.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8064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IEEE format. [1]–[12] and [14]–[16] are cited on the literature slides; [13] on the problem, methodology and results slides.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pic>
        <p:nvPicPr>
          <p:cNvPr id="3" name="Image 0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48640" y="2743200"/>
            <a:ext cx="110916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37490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Project-I (2026)  ·  SENSE  ·  VIT Chennai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Gundelach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Detecting Bot Detection: Prevalence, Techniques, Implications — arXiv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Systematic review (2020–25) of bot-detection at top security / web venues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Maps the detection landscape; authenticated / credentialed portal scraping under-studied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Kim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Scrapers Selectively Respect robots.txt Directives — ACM IMC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Internet-scale measurement of robots.txt compliance in the wild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Compliance observed after the fact, never designed into the technique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Purnawan &amp; Surendro, 2016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Building Enterprise Architecture for Hospital Information System — ICoICT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Enterprise-architecture modelling of HIS structure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Useful layer model; predates LLM extraction, no data-egress / compliance view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Vorisek et al., 2022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FHIR for Interoperability in Health Research: Systematic Review — JMIR Med. Inform.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49 studies on FHIR use cases, implementation, goals and limitations in research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Interoperability ≠ compliant extraction; standards are silent on lawful scraping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Khanna &amp; Kotwal,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Significance of the DPDP Act 2023 for the Healthcare Industry — Discover Public Health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Doctrinal analysis of DPDP obligations for healthcare entities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Legal analysis only; no technical or measurable operationalisation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[6]–[7]: the web-measurement view — compliance observed after the fact. [8]–[9]: HIS structure and interoperability standards, silent on lawful extraction. [10]: the Act read for healthcare, doctrinally.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Detailed Literature Review (contd.)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916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No.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Author(s) &amp; Year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 / Source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Method / Approach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Findings &amp; Research Gap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2F8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Sood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Digital Data Protection in Indian Medical Research and Healthcare — npj Digital Medicine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Synthesis of challenges and recommendations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Recommendations not translated into checkable controls on data-collection pipelines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Brown et al.,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Web Scraping for Research: Legal, Ethical, Institutional and Scientific Considerations — Big Data &amp; Society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Multi-dimensional qualitative framework (contract, CFAA, IP, privacy, IRB, validity)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A checklist, not a scored per-technique benchmark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Cook, 2025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Tokenization Techniques for Privacy-Preserving Healthcare Data — Frontiers in Drug Safety and Regulation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Deterministic vs referential (keyed, salted) tokenisation of health identifiers; linkage vs re-identification risk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Mechanism only; no check that an export actually carries tokens — our audit verifies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de Carvalho Jr. &amp; Bandiera-Paiva, 2018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HIS Role-Based Access Control: Current Security Trends and Challenges — J. Healthcare Engineering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Industry-focused review of RBAC in health information systems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Static role lists both over- and under-grant; no derivation of scope from purpose — ours derives it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Rule, Chiang &amp; Hribar, 2020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Using EHR Audit Logs to Study Clinical Activity: A Systematic Review — JAMIA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85 studies using audit logs as the record of who did what in the EHR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150"/>
                        <a:t>Logs used for workflow research, never to demonstrate compliance; our fifth layer models them for that</a:t>
                      </a: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/>
                  </a:txBody>
                  <a:tcPr marL="54864" marR="54864" marT="54864" marB="54864" anchor="ctr">
                    <a:lnL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BFB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548640" y="55778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[11]–[12]: recommendations and checklists, not checkable controls. [14]–[16]: the three mechanisms we build on — tokenisation, RBAC, audit logs — each described, none used to score a technique. [13] is the Act.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1146017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808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"/>
            <a:ext cx="9601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D2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&amp; Analysis (contd.) — Discovery &amp; Assistant</a:t>
            </a:r>
            <a:endParaRPr lang="en-US" sz="2800" dirty="0"/>
          </a:p>
        </p:txBody>
      </p:sp>
      <p:pic>
        <p:nvPicPr>
          <p:cNvPr id="4" name="Image 0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320040"/>
            <a:ext cx="1371600" cy="5187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234440"/>
            <a:ext cx="1088136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000000"/>
                </a:solidFill>
                <a:latin typeface="Calibri"/>
              </a:rPr>
              <a:t>The scraper is never told the portal's layout. It crawls from the home page and infers each module's HIS layer from the field names it finds — the URL says "registration", the scraper concludes patient administration. With display labels instead of field names it cannot classify the module; with a label→field map it is back at 100% and nothing downstream changes. The same inference classifies an exported spreadsheet.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2377440"/>
          <a:ext cx="11091672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2011680"/>
                <a:gridCol w="914400"/>
                <a:gridCol w="3291840"/>
                <a:gridCol w="1764792"/>
              </a:tblGrid>
              <a:tr h="2895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Module (as the portal names it)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Path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Pages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Inferred HIS layer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Confidence</a:t>
                      </a:r>
                    </a:p>
                  </a:txBody>
                  <a:tcPr>
                    <a:solidFill>
                      <a:srgbClr val="1D2F82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 Registration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/m/registration/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patient_administration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 Records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/m/clinical/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clinical_ehr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Departmental Orders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/m/departments/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ancillary_departmental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Billing &amp;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/m/billing/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administrative_financial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89560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Audit 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/m/integration/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infrastructure_integration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297680"/>
            <a:ext cx="108813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000000"/>
                </a:solidFill>
                <a:latin typeface="Calibri"/>
              </a:rPr>
              <a:t>reception &gt; what is the patient's diagnosis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assistant : I can't walk you through how to look up a patient's diagnosis as reception.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reception has no lawful purpose to act under 'care_coordination'; its purposes are billing_settlement, patient_registration.   [PL-01 — DPDP Act 2023 - purpose limitation]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            This is something nurse can do; please hand it to them.        (declined before asking for any detail)</a:t>
            </a:r>
          </a:p>
          <a:p>
            <a:r>
              <a:rPr sz="1100" b="0">
                <a:solidFill>
                  <a:srgbClr val="000000"/>
                </a:solidFill>
                <a:latin typeface="Calibri"/>
              </a:rPr>
              <a:t>The refusal comes from the same policy table that scored the benchmark. A nurse asking the same question is walked through it, each step stamped with the page the crawler found: [clinical_ehr / Condition / /m/clinical/].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515</Words>
  <Application>Microsoft Macintosh PowerPoint</Application>
  <PresentationFormat>Widescreen</PresentationFormat>
  <Paragraphs>93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mark kandan</cp:lastModifiedBy>
  <cp:revision>1</cp:revision>
  <dcterms:created xsi:type="dcterms:W3CDTF">2026-08-27T09:57:11Z</dcterms:created>
  <dcterms:modified xsi:type="dcterms:W3CDTF">2026-08-27T10:07:40Z</dcterms:modified>
</cp:coreProperties>
</file>