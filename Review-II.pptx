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8" r:id="rId3"/>
    <p:sldId id="259" r:id="rId4"/>
    <p:sldId id="260" r:id="rId5"/>
    <p:sldId id="268" r:id="rId6"/>
    <p:sldId id="269" r:id="rId7"/>
    <p:sldId id="261" r:id="rId8"/>
    <p:sldId id="262" r:id="rId9"/>
    <p:sldId id="273" r:id="rId10"/>
    <p:sldId id="263" r:id="rId11"/>
    <p:sldId id="264" r:id="rId12"/>
    <p:sldId id="270" r:id="rId13"/>
    <p:sldId id="271" r:id="rId14"/>
    <p:sldId id="272" r:id="rId15"/>
    <p:sldId id="265" r:id="rId16"/>
    <p:sldId id="266" r:id="rId17"/>
    <p:sldId id="26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01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your architecture / block diagram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your results here — graphs, tables, screenshots or outputs.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your results here — graphs, tables, screenshots or outputs.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pic>
        <p:nvPicPr>
          <p:cNvPr id="34" name="Picture 33">
            <a:extLst>
              <a:ext uri="{FF2B5EF4-FFF2-40B4-BE49-F238E27FC236}">
                <a16:creationId xmlns:a16="http://schemas.microsoft.com/office/drawing/2014/main" id="{882906A6-B277-06F7-A409-78B4579872B3}"/>
              </a:ext>
            </a:extLst>
          </p:cNvPr>
          <p:cNvPicPr>
            <a:picLocks noChangeAspect="1"/>
          </p:cNvPicPr>
          <p:nvPr/>
        </p:nvPicPr>
        <p:blipFill>
          <a:blip r:embed="rId3"/>
          <a:srcRect l="18946" t="27482" r="14931" b="1129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Review-II — 30.09.2026 (40 Marks, 40%)</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75% Work Completion &amp; Implementation Progress.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12–15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Introduction and problem recap</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Detailed literature review — minimum 15 recent papers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System design &amp; architecture</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Implementation details — modules, algorithms, code</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Results &amp; analysis (75%), challenges and remaining work</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Technical depth (15), Implementation quality (15), Results analysis (5), Presentation skills (3), Q&amp;A handling (2).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Introduction &amp; Problem Recap</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Problem recap:</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Hospital Information Systems hold identifiers, clinical, contact and financial data of real patients; the techniques used to extract data from them are judged on speed, robustness and coverage — never on DPDP Act 2023 compliance. Compliance stays an assertion, so techniques cannot be compared on it.</a:t>
            </a:r>
            <a:endParaRPr lang="en-US" sz="1500" dirty="0"/>
          </a:p>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Objectives:</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Make DPDP compliance a measured, per-technique property: every extraction scored on the same seven principle-based rules, paired with a reproducible cost measure, and verified against what the extraction actually produces.</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Show the whole chain running end to end — a credentialed portal scraped by a real browser, scored, exported to HL7 v2 / FHIR with identifiers pseudonymised and audited — and a rule-based staff assistant gated by the same policy.</a:t>
            </a:r>
            <a:endParaRPr lang="en-US" sz="1500" dirty="0"/>
          </a:p>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Refinements after Review-I feedback:</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Processing time, as asked: a cost profile per technique — fields pulled, fetches, real browser page loads, excess ratio, coverage, wall-clock (deterministic metrics lead; wall-clock is hardware-dependent) — and a record axis: a task about one patient is scored on the records read, not only the fields.</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The comparison is now ours against publicly available AI models (claude-haiku-4-5, claude-sonnet-5, gemini-3.1-flash-lite), briefed with the job, the purpose, the field names — never a value — and what the deployment provides; unaided, told the Act, and handed the purpose policy itself; decisions recorded, replayed, and repeated so determinism is a measured column — every repeat scored. Two harder measures added: manifest veracity (declared vs demonstrable, with four controls demonstrated by the pipeline rather than attested) and trap tasks whose wording invites a violation. The hand-written baseline stands, as the panel agreed most deployed systems sit there.</a:t>
            </a:r>
            <a:endParaRPr lang="en-US" sz="1500" dirty="0"/>
          </a:p>
          <a:p>
            <a:pPr marL="355600" lvl="1" indent="-177800">
              <a:spcAft>
                <a:spcPts val="400"/>
              </a:spcAft>
              <a:buSzPct val="100000"/>
              <a:buChar char="•"/>
            </a:pPr>
            <a:r>
              <a:rPr lang="en-US" sz="1250" b="0" dirty="0">
                <a:solidFill>
                  <a:srgbClr val="000000"/>
                </a:solidFill>
                <a:latin typeface="Calibri" pitchFamily="34" charset="0"/>
                <a:ea typeface="Calibri" pitchFamily="34" charset="-122"/>
                <a:cs typeface="Calibri" pitchFamily="34" charset="-120"/>
              </a:rPr>
              <a:t>The assistant is rule-based: a fixed function registry, no LLM, no training — answering the Review-I question of how it is trained: it is not. Heterogeneity is answered by discovery: module layers are inferred from field names, never read from labels.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Detailed Literature Review</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105656"/>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 / Approach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Findings &amp; Research Gap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Ruchitaa et al., 2023</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Web Scraping Tools and Techniques: A Brief Survey — ICITIIT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Survey / taxonomy of scraping tools and methods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Broad catalogue; no domain-specific (HIS) use and no compliance axis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Huang et al., 2024</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AutoScraper: A Progressive Understanding Web Agent — EMNLP</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Two-stage LLM agent using HTML hierarchy + cross-page similarity; executability metric</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SOTA scraper generation, but evaluated only on executability / coverage — no data protection</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Mansour et al., 2026</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AXE: Low-Cost Cross-Domain Web Structured Information Extraction — arXiv</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DOM-tree pruning + Grounded XPath Resolution feeding a 0.6B LLM; zero-shot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F1 88.1% on SWDE at low cost; no compliance modelling, not applied to credentialed domains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Bohra et 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WebLists: Structured Extraction from Interactive Sites (BardeenAgent) — arXiv</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200-task benchmark; agent converts execution into replayable programs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Recall 31%→66%; regulated / enterprise contexts and privacy risk left unaddressed</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Wang et al., 2026</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Co-Scraper: Query-Aware DOM Pruning and Reusable Scraper Synthesis — arXiv</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Two-stage query-aware pruning + extraction-strategy induction</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F1 94.78% SWDE, ~90% reuse; optimises efficiency only — no purpose-limitation notion</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577840"/>
            <a:ext cx="11064240" cy="365760"/>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Fifteen references over three slides; full IEEE list on the References slide. [1]–[5]: scraping techniques — evaluated on executability, coverage and cost, never on what they should have taken.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Detailed Literature Review (contd.)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105656"/>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 / Approach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Findings &amp; Research Gap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Gundelach et 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Detecting Bot Detection: Prevalence, Techniques, Implications — arXiv</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Systematic review (2020–25) of bot-detection at top security / web venues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Maps the detection landscape; authenticated / credentialed portal scraping under-studied</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Kim et 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Scrapers Selectively Respect robots.txt Directives — ACM IMC</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Internet-scale measurement of robots.txt compliance in the wild</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Compliance observed after the fact, never designed into the technique</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Purnawan &amp; Surendro, 2016</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Building Enterprise Architecture for Hospital Information System — ICoICT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Enterprise-architecture modelling of HIS structure</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Useful layer model; predates LLM extraction, no data-egress / compliance view</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Vorisek et al., 2022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FHIR for Interoperability in Health Research: Systematic Review — JMIR Med. Inform.</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49 studies on FHIR use cases, implementation, goals and limitations in research</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Interoperability ≠ compliant extraction; standards are silent on lawful scraping</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Khanna &amp; Kotwal,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Significance of the DPDP Act 2023 for the Healthcare Industry — Discover Public Health</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Doctrinal analysis of DPDP obligations for healthcare entities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Legal analysis only; no technical or measurable operationalisation</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577840"/>
            <a:ext cx="11064240" cy="365760"/>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[6]–[7]: the web-measurement view — compliance observed after the fact. [8]–[9]: HIS structure and interoperability standards, silent on lawful extraction. [10]: the Act read for healthcare, doctrinally.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Detailed Literature Review (contd.)</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418076"/>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 / Approach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Findings &amp; Research Gap</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Sood et 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Digital Data Protection in Indian Medical Research and Healthcare — npj Digital Medicine</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Synthesis of challenges and recommendations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Recommendations not translated into checkable controls on data-collection pipelines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Brown et al.,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Web Scraping for Research: Legal, Ethical, Institutional and Scientific Considerations — Big Data &amp; Society</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Multi-dimensional qualitative framework (contract, CFAA, IP, privacy, IRB, validity)</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A checklist, not a scored per-technique benchmark</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Cook, 2025</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Tokenization Techniques for Privacy-Preserving Healthcare Data — Frontiers in Drug Safety and Regulation</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Deterministic vs referential (keyed, salted) tokenisation of health identifiers; linkage vs re-identification risk</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Mechanism only; no check that an export actually carries tokens — our audit verifies it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de Carvalho Jr. &amp; Bandiera-Paiva, 2018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HIS Role-Based Access Control: Current Security Trends and Challenges — J. Healthcare Engineering</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Industry-focused review of RBAC in health information systems</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Static role lists both over- and under-grant; no derivation of scope from purpose — ours derives it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Rule, Chiang &amp; Hribar, 2020</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Using EHR Audit Logs to Study Clinical Activity: A Systematic Review — JAMIA</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85 studies using audit logs as the record of who did what in the EHR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r>
                        <a:rPr sz="1150"/>
                        <a:t>Logs used for workflow research, never to demonstrate compliance; our fifth layer models them for that</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577840"/>
            <a:ext cx="11064240" cy="365760"/>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[11]–[12]: recommendations and checklists, not checkable controls. [14]–[16]: the three mechanisms we build on — tokenisation, RBAC, audit logs — each described, none used to score a technique. [13] is the Act.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Design &amp; Architecture</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Rectangle 4"/>
          <p:cNvSpPr/>
          <p:nvPr/>
        </p:nvSpPr>
        <p:spPr>
          <a:xfrm>
            <a:off x="548640" y="1417320"/>
            <a:ext cx="2011680" cy="96012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A · Sources</a:t>
            </a:r>
          </a:p>
          <a:p>
            <a:pPr algn="ctr"/>
            <a:r>
              <a:rPr sz="900">
                <a:solidFill>
                  <a:srgbClr val="000000"/>
                </a:solidFill>
                <a:latin typeface="Calibri"/>
              </a:rPr>
              <a:t>portal · export · synthetic
(not ours to control)</a:t>
            </a:r>
          </a:p>
        </p:txBody>
      </p:sp>
      <p:cxnSp>
        <p:nvCxnSpPr>
          <p:cNvPr id="6" name="Connector 5"/>
          <p:cNvCxnSpPr/>
          <p:nvPr/>
        </p:nvCxnSpPr>
        <p:spPr>
          <a:xfrm>
            <a:off x="2560320" y="1892808"/>
            <a:ext cx="320040" cy="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880360" y="1417320"/>
            <a:ext cx="2148840" cy="96012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B · Acquisition</a:t>
            </a:r>
          </a:p>
          <a:p>
            <a:pPr algn="ctr"/>
            <a:r>
              <a:rPr sz="900">
                <a:solidFill>
                  <a:srgbClr val="000000"/>
                </a:solidFill>
                <a:latin typeface="Calibri"/>
              </a:rPr>
              <a:t>one HISDataSource;
browser / files / mock</a:t>
            </a:r>
          </a:p>
        </p:txBody>
      </p:sp>
      <p:cxnSp>
        <p:nvCxnSpPr>
          <p:cNvPr id="8" name="Connector 7"/>
          <p:cNvCxnSpPr/>
          <p:nvPr/>
        </p:nvCxnSpPr>
        <p:spPr>
          <a:xfrm>
            <a:off x="5029200" y="1892808"/>
            <a:ext cx="320040" cy="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349240" y="1417320"/>
            <a:ext cx="2148840" cy="96012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C · Semantics</a:t>
            </a:r>
          </a:p>
          <a:p>
            <a:pPr algn="ctr"/>
            <a:r>
              <a:rPr sz="900">
                <a:solidFill>
                  <a:srgbClr val="000000"/>
                </a:solidFill>
                <a:latin typeface="Calibri"/>
              </a:rPr>
              <a:t>field → layer → DPDP
category; infer_layer()</a:t>
            </a:r>
          </a:p>
        </p:txBody>
      </p:sp>
      <p:cxnSp>
        <p:nvCxnSpPr>
          <p:cNvPr id="10" name="Connector 9"/>
          <p:cNvCxnSpPr/>
          <p:nvPr/>
        </p:nvCxnSpPr>
        <p:spPr>
          <a:xfrm>
            <a:off x="7498079" y="1892808"/>
            <a:ext cx="320041" cy="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818120" y="1417320"/>
            <a:ext cx="2331720" cy="96012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D · Extraction</a:t>
            </a:r>
          </a:p>
          <a:p>
            <a:pPr algn="ctr"/>
            <a:r>
              <a:rPr sz="900">
                <a:solidFill>
                  <a:srgbClr val="000000"/>
                </a:solidFill>
                <a:latin typeface="Calibri"/>
              </a:rPr>
              <a:t>task → technique →
manifest + records (metered)</a:t>
            </a:r>
          </a:p>
        </p:txBody>
      </p:sp>
      <p:cxnSp>
        <p:nvCxnSpPr>
          <p:cNvPr id="12" name="Connector 11"/>
          <p:cNvCxnSpPr/>
          <p:nvPr/>
        </p:nvCxnSpPr>
        <p:spPr>
          <a:xfrm>
            <a:off x="8979408" y="2377440"/>
            <a:ext cx="0" cy="758952"/>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880360" y="3154680"/>
            <a:ext cx="2148840" cy="105156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E · Scoring</a:t>
            </a:r>
          </a:p>
          <a:p>
            <a:pPr algn="ctr"/>
            <a:r>
              <a:rPr sz="900">
                <a:solidFill>
                  <a:srgbClr val="000000"/>
                </a:solidFill>
                <a:latin typeface="Calibri"/>
              </a:rPr>
              <a:t>7 rules · benchmark
compliance × cost · purpose matrix</a:t>
            </a:r>
          </a:p>
        </p:txBody>
      </p:sp>
      <p:sp>
        <p:nvSpPr>
          <p:cNvPr id="14" name="Rectangle 13"/>
          <p:cNvSpPr/>
          <p:nvPr/>
        </p:nvSpPr>
        <p:spPr>
          <a:xfrm>
            <a:off x="5349240" y="3154680"/>
            <a:ext cx="2148840" cy="105156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F · Export</a:t>
            </a:r>
          </a:p>
          <a:p>
            <a:pPr algn="ctr"/>
            <a:r>
              <a:rPr sz="900">
                <a:solidFill>
                  <a:srgbClr val="000000"/>
                </a:solidFill>
                <a:latin typeface="Calibri"/>
              </a:rPr>
              <a:t>pseudonymise → HL7 v2 /
FHIR → audit the artefacts</a:t>
            </a:r>
          </a:p>
        </p:txBody>
      </p:sp>
      <p:sp>
        <p:nvSpPr>
          <p:cNvPr id="15" name="Rectangle 14"/>
          <p:cNvSpPr/>
          <p:nvPr/>
        </p:nvSpPr>
        <p:spPr>
          <a:xfrm>
            <a:off x="7818120" y="3154680"/>
            <a:ext cx="2331720" cy="1051560"/>
          </a:xfrm>
          <a:prstGeom prst="rect">
            <a:avLst/>
          </a:prstGeom>
          <a:solidFill>
            <a:srgbClr val="FFFFFF"/>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G · Guidance</a:t>
            </a:r>
          </a:p>
          <a:p>
            <a:pPr algn="ctr"/>
            <a:r>
              <a:rPr sz="900">
                <a:solidFill>
                  <a:srgbClr val="000000"/>
                </a:solidFill>
                <a:latin typeface="Calibri"/>
              </a:rPr>
              <a:t>recognise → gate →
collect → instruct</a:t>
            </a:r>
          </a:p>
        </p:txBody>
      </p:sp>
      <p:cxnSp>
        <p:nvCxnSpPr>
          <p:cNvPr id="16" name="Connector 15"/>
          <p:cNvCxnSpPr/>
          <p:nvPr/>
        </p:nvCxnSpPr>
        <p:spPr>
          <a:xfrm>
            <a:off x="8979408" y="3136392"/>
            <a:ext cx="0" cy="18288"/>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950208" y="2807208"/>
            <a:ext cx="5029200" cy="0"/>
          </a:xfrm>
          <a:prstGeom prst="line">
            <a:avLst/>
          </a:prstGeom>
          <a:ln>
            <a:solidFill>
              <a:srgbClr val="1D2F8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50208" y="2807208"/>
            <a:ext cx="0" cy="347472"/>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19088" y="2807208"/>
            <a:ext cx="0" cy="347472"/>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880360" y="4892040"/>
            <a:ext cx="7269480" cy="868680"/>
          </a:xfrm>
          <a:prstGeom prst="rect">
            <a:avLst/>
          </a:prstGeom>
          <a:solidFill>
            <a:srgbClr val="EEF0F8"/>
          </a:solidFill>
          <a:ln w="15875">
            <a:solidFill>
              <a:srgbClr val="1D2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50" b="1">
                <a:solidFill>
                  <a:srgbClr val="1D2F82"/>
                </a:solidFill>
                <a:latin typeface="Calibri"/>
              </a:rPr>
              <a:t>H · Policy — one table, three readers</a:t>
            </a:r>
          </a:p>
          <a:p>
            <a:pPr algn="ctr"/>
            <a:r>
              <a:rPr sz="900">
                <a:solidFill>
                  <a:srgbClr val="000000"/>
                </a:solidFill>
                <a:latin typeface="Calibri"/>
              </a:rPr>
              <a:t>3 non-nested purposes · role = purposes ∩ interop artefacts · 7 principles (PL-01 → DM-01 → SS-01)</a:t>
            </a:r>
          </a:p>
        </p:txBody>
      </p:sp>
      <p:cxnSp>
        <p:nvCxnSpPr>
          <p:cNvPr id="21" name="Connector 20"/>
          <p:cNvCxnSpPr/>
          <p:nvPr/>
        </p:nvCxnSpPr>
        <p:spPr>
          <a:xfrm flipV="1">
            <a:off x="3950208" y="4206240"/>
            <a:ext cx="0" cy="68580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419088" y="4206240"/>
            <a:ext cx="0" cy="68580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979408" y="4206240"/>
            <a:ext cx="0" cy="685800"/>
          </a:xfrm>
          <a:prstGeom prst="line">
            <a:avLst/>
          </a:prstGeom>
          <a:ln w="19050">
            <a:solidFill>
              <a:srgbClr val="1D2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3154680"/>
            <a:ext cx="2103120" cy="2606040"/>
          </a:xfrm>
          <a:prstGeom prst="rect">
            <a:avLst/>
          </a:prstGeom>
          <a:noFill/>
        </p:spPr>
        <p:txBody>
          <a:bodyPr wrap="square">
            <a:spAutoFit/>
          </a:bodyPr>
          <a:lstStyle/>
          <a:p>
            <a:r>
              <a:rPr sz="1050" b="1">
                <a:solidFill>
                  <a:srgbClr val="000000"/>
                </a:solidFill>
                <a:latin typeface="Calibri"/>
              </a:rPr>
              <a:t>Adapter boundary</a:t>
            </a:r>
          </a:p>
          <a:p>
            <a:r>
              <a:rPr sz="1050" b="0">
                <a:solidFill>
                  <a:srgbClr val="000000"/>
                </a:solidFill>
                <a:latin typeface="Calibri"/>
              </a:rPr>
              <a:t>Nothing downstream of B knows which source it got. A new HIS is a new adapter, not a downstream rewrite.</a:t>
            </a:r>
          </a:p>
          <a:p>
            <a:endParaRPr sz="1050" b="0">
              <a:solidFill>
                <a:srgbClr val="000000"/>
              </a:solidFill>
              <a:latin typeface="Calibri"/>
            </a:endParaRPr>
          </a:p>
          <a:p>
            <a:r>
              <a:rPr sz="1050" b="0">
                <a:solidFill>
                  <a:srgbClr val="000000"/>
                </a:solidFill>
                <a:latin typeface="Calibri"/>
              </a:rPr>
              <a:t>Why one project</a:t>
            </a:r>
          </a:p>
          <a:p>
            <a:r>
              <a:rPr sz="1050" b="0">
                <a:solidFill>
                  <a:srgbClr val="000000"/>
                </a:solidFill>
                <a:latin typeface="Calibri"/>
              </a:rPr>
              <a:t>H scores the extraction (E), gates what leaves (F), and gates what a person may be told (G).</a:t>
            </a:r>
          </a:p>
        </p:txBody>
      </p:sp>
      <p:sp>
        <p:nvSpPr>
          <p:cNvPr id="25" name="TextBox 24"/>
          <p:cNvSpPr txBox="1"/>
          <p:nvPr/>
        </p:nvSpPr>
        <p:spPr>
          <a:xfrm>
            <a:off x="548640" y="5897880"/>
            <a:ext cx="11064240" cy="457200"/>
          </a:xfrm>
          <a:prstGeom prst="rect">
            <a:avLst/>
          </a:prstGeom>
          <a:noFill/>
        </p:spPr>
        <p:txBody>
          <a:bodyPr wrap="square">
            <a:spAutoFit/>
          </a:bodyPr>
          <a:lstStyle/>
          <a:p>
            <a:r>
              <a:rPr sz="1100" b="0">
                <a:solidFill>
                  <a:srgbClr val="808080"/>
                </a:solidFill>
                <a:latin typeface="Calibri"/>
              </a:rPr>
              <a:t>Runs as one command: scripts/run_pipeline.py — portal → discover → benchmark → normalise + audit → purpose → assistant → retain (~2 min).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Implementation Details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Modules developed and integrated (src/, 316 tests, CI diffs the regenerated benchmark):</a:t>
            </a:r>
            <a:endParaRPr lang="en-US" sz="1500" dirty="0"/>
          </a:p>
          <a:p>
            <a:pPr marL="355600" lvl="1" indent="-177800">
              <a:spcAft>
                <a:spcPts val="400"/>
              </a:spcAft>
              <a:buSzPct val="100000"/>
              <a:buChar char="•"/>
            </a:pPr>
            <a:r>
              <a:rPr lang="en-US" sz="1150" b="0" dirty="0">
                <a:solidFill>
                  <a:srgbClr val="000000"/>
                </a:solidFill>
                <a:latin typeface="Calibri" pitchFamily="34" charset="0"/>
                <a:ea typeface="Calibri" pitchFamily="34" charset="-122"/>
                <a:cs typeface="Calibri" pitchFamily="34" charset="-120"/>
              </a:rPr>
              <a:t>compliance/ — models (manifest, valueless records, record scope), policy (3 non-nested purposes), roles (role = purposes ∩ interop artefacts; authorise()), 7 rules, benchmark (compliance × cost × veracity × traps × stability), purpose_matrix, capabilities (register: demonstrated vs attested), audit (the harness logs every run), retention (sidecar + purge), pseudonymise (HMAC tokens), handling (real-data gate).</a:t>
            </a:r>
            <a:endParaRPr lang="en-US" sz="1500" dirty="0"/>
          </a:p>
          <a:p>
            <a:pPr marL="355600" lvl="1" indent="-177800">
              <a:spcAft>
                <a:spcPts val="400"/>
              </a:spcAft>
              <a:buSzPct val="100000"/>
              <a:buChar char="•"/>
            </a:pPr>
            <a:r>
              <a:rPr lang="en-US" sz="1150" b="0" dirty="0">
                <a:solidFill>
                  <a:srgbClr val="000000"/>
                </a:solidFill>
                <a:latin typeface="Calibri" pitchFamily="34" charset="0"/>
                <a:ea typeface="Calibri" pitchFamily="34" charset="-122"/>
                <a:cs typeface="Calibri" pitchFamily="34" charset="-120"/>
              </a:rPr>
              <a:t>extraction/ — HISDataSource interface (transport observed, where= for one patient); adapters mock / portal (Playwright over TLS; search box) / dataset (CSV + Excel, column map, per-file overrides, day-first dates, values kept as text, per-concept files stacked); techniques compliant / ai_agent (one agent = model × briefing; recorded, replayed, rationed) / unconstrained; metering (fields, fetches, pages, records); tier2 browser + navigation discovery.</a:t>
            </a:r>
            <a:endParaRPr lang="en-US" sz="1500" dirty="0"/>
          </a:p>
          <a:p>
            <a:pPr marL="355600" lvl="1" indent="-177800">
              <a:spcAft>
                <a:spcPts val="400"/>
              </a:spcAft>
              <a:buSzPct val="100000"/>
              <a:buChar char="•"/>
            </a:pPr>
            <a:r>
              <a:rPr lang="en-US" sz="1150" b="0" dirty="0">
                <a:solidFill>
                  <a:srgbClr val="000000"/>
                </a:solidFill>
                <a:latin typeface="Calibri" pitchFamily="34" charset="0"/>
                <a:ea typeface="Calibri" pitchFamily="34" charset="-122"/>
                <a:cs typeface="Calibri" pitchFamily="34" charset="-120"/>
              </a:rPr>
              <a:t>interop/ — HL7 v2 (ADT, ORM, ORU, DFT) and FHIR R4 (12 resources incl. AuditEvent) shapers; normalise + export audit. agent/ — 13-function registry, session state machine, grounded guidance. tools/mock_portal — the Flask fixture built as a system we do not control. scripts/rehearse_day_one.py — the real-data procedure rehearsed on a hospital-shaped export, with a leak audit. tools/build_review_pages.py — six offline demo pages built from real runs.</a:t>
            </a:r>
            <a:endParaRPr lang="en-US" sz="1500" dirty="0"/>
          </a:p>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Algorithms implemented:</a:t>
            </a:r>
            <a:endParaRPr lang="en-US" sz="1500" dirty="0"/>
          </a:p>
          <a:p>
            <a:pPr marL="355600" lvl="1" indent="-177800">
              <a:spcAft>
                <a:spcPts val="400"/>
              </a:spcAft>
              <a:buSzPct val="100000"/>
              <a:buChar char="•"/>
            </a:pPr>
            <a:r>
              <a:rPr lang="en-US" sz="1150" b="0" dirty="0">
                <a:solidFill>
                  <a:srgbClr val="000000"/>
                </a:solidFill>
                <a:latin typeface="Calibri" pitchFamily="34" charset="0"/>
                <a:ea typeface="Calibri" pitchFamily="34" charset="-122"/>
                <a:cs typeface="Calibri" pitchFamily="34" charset="-120"/>
              </a:rPr>
              <a:t>Rule scoring: each principle → 0–1 with findings; weighted aggregate (21 alternative weightings never put another technique above ours). DM-01 on two axes: categories beyond the purpose, and records read beyond the patient's own. Excess ratio = distinct fields pulled ÷ required; coverage = needed fields obtained ÷ needed.</a:t>
            </a:r>
            <a:endParaRPr lang="en-US" sz="1500" dirty="0"/>
          </a:p>
          <a:p>
            <a:pPr marL="355600" lvl="1" indent="-177800">
              <a:spcAft>
                <a:spcPts val="400"/>
              </a:spcAft>
              <a:buSzPct val="100000"/>
              <a:buChar char="•"/>
            </a:pPr>
            <a:r>
              <a:rPr lang="en-US" sz="1150" b="0" dirty="0">
                <a:solidFill>
                  <a:srgbClr val="000000"/>
                </a:solidFill>
                <a:latin typeface="Calibri" pitchFamily="34" charset="0"/>
                <a:ea typeface="Calibri" pitchFamily="34" charset="-122"/>
                <a:cs typeface="Calibri" pitchFamily="34" charset="-120"/>
              </a:rPr>
              <a:t>Veracity = score after removing declarations the register cannot back; a control counts as demonstrated only when the run produced its evidence (observed TLS, audit event, export audit, retention sidecar). Layer inference: argmax over layers of catalogue-explained field names — the same for a scraped module and an exported file. Role gate: lawful purpose → necessity → access control; the first failure names its rule.</a:t>
            </a:r>
            <a:endParaRPr lang="en-US" sz="1500" dirty="0"/>
          </a:p>
        </p:txBody>
      </p:sp>
      <p:sp>
        <p:nvSpPr>
          <p:cNvPr id="6" name="TextBox 5"/>
          <p:cNvSpPr txBox="1"/>
          <p:nvPr/>
        </p:nvSpPr>
        <p:spPr>
          <a:xfrm>
            <a:off x="640080" y="4892040"/>
            <a:ext cx="10881360" cy="1371600"/>
          </a:xfrm>
          <a:prstGeom prst="rect">
            <a:avLst/>
          </a:prstGeom>
          <a:noFill/>
        </p:spPr>
        <p:txBody>
          <a:bodyPr wrap="square">
            <a:spAutoFit/>
          </a:bodyPr>
          <a:lstStyle/>
          <a:p>
            <a:r>
              <a:rPr sz="1050" b="0">
                <a:solidFill>
                  <a:srgbClr val="1D2F82"/>
                </a:solidFill>
                <a:latin typeface="Consolas"/>
              </a:rPr>
              <a:t>def authorise(role, purpose, artefacts):                       # compliance/roles.py</a:t>
            </a:r>
          </a:p>
          <a:p>
            <a:r>
              <a:rPr sz="1050" b="0">
                <a:solidFill>
                  <a:srgbClr val="1D2F82"/>
                </a:solidFill>
                <a:latin typeface="Consolas"/>
              </a:rPr>
              <a:t>    if purpose not in role_policy(role).purposes:  return deny("PL-01")   # lawful purpose for this role?</a:t>
            </a:r>
          </a:p>
          <a:p>
            <a:r>
              <a:rPr sz="1050" b="0">
                <a:solidFill>
                  <a:srgbClr val="1D2F82"/>
                </a:solidFill>
                <a:latin typeface="Consolas"/>
              </a:rPr>
              <a:t>    if categories(artefacts) - policy_for(purpose).allowed_categories:  return deny("DM-01")   # necessary?</a:t>
            </a:r>
          </a:p>
          <a:p>
            <a:r>
              <a:rPr sz="1050" b="0">
                <a:solidFill>
                  <a:srgbClr val="1D2F82"/>
                </a:solidFill>
                <a:latin typeface="Consolas"/>
              </a:rPr>
              <a:t>    if artefacts - role_policy(role).artefacts:    return deny("SS-01")   # does the role handle these?</a:t>
            </a:r>
          </a:p>
          <a:p>
            <a:r>
              <a:rPr sz="1050" b="0">
                <a:solidFill>
                  <a:srgbClr val="1D2F82"/>
                </a:solidFill>
                <a:latin typeface="Consolas"/>
              </a:rPr>
              <a:t>    return permit()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Live Demonstration — the Interactive Pages</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pic>
        <p:nvPicPr>
          <p:cNvPr id="5" name="Picture 4" descr="portal-crawl.png"/>
          <p:cNvPicPr>
            <a:picLocks noChangeAspect="1"/>
          </p:cNvPicPr>
          <p:nvPr/>
        </p:nvPicPr>
        <p:blipFill>
          <a:blip r:embed="rId3"/>
          <a:stretch>
            <a:fillRect/>
          </a:stretch>
        </p:blipFill>
        <p:spPr>
          <a:xfrm>
            <a:off x="548639" y="1831559"/>
            <a:ext cx="3547872" cy="1003080"/>
          </a:xfrm>
          <a:prstGeom prst="rect">
            <a:avLst/>
          </a:prstGeom>
          <a:ln w="6350">
            <a:solidFill>
              <a:srgbClr val="808080"/>
            </a:solidFill>
          </a:ln>
        </p:spPr>
      </p:pic>
      <p:sp>
        <p:nvSpPr>
          <p:cNvPr id="6" name="TextBox 5"/>
          <p:cNvSpPr txBox="1"/>
          <p:nvPr/>
        </p:nvSpPr>
        <p:spPr>
          <a:xfrm>
            <a:off x="548640" y="2871216"/>
            <a:ext cx="3547871" cy="731520"/>
          </a:xfrm>
          <a:prstGeom prst="rect">
            <a:avLst/>
          </a:prstGeom>
          <a:noFill/>
        </p:spPr>
        <p:txBody>
          <a:bodyPr wrap="square">
            <a:spAutoFit/>
          </a:bodyPr>
          <a:lstStyle/>
          <a:p>
            <a:r>
              <a:rPr sz="950" b="1">
                <a:solidFill>
                  <a:srgbClr val="1D2F82"/>
                </a:solidFill>
                <a:latin typeface="Calibri"/>
              </a:rPr>
              <a:t>1 · The portal run</a:t>
            </a:r>
            <a:r>
              <a:rPr sz="950"/>
              <a:t>  —  Every page each technique loaded, replayed on a map of the portal: ours 32, the AI agent 35, the baseline 440 — each total checked against the meter.</a:t>
            </a:r>
            <a:r>
              <a:rPr sz="850">
                <a:solidFill>
                  <a:srgbClr val="808080"/>
                </a:solidFill>
              </a:rPr>
              <a:t>  [portal-run.html]</a:t>
            </a:r>
          </a:p>
        </p:txBody>
      </p:sp>
      <p:pic>
        <p:nvPicPr>
          <p:cNvPr id="7" name="Picture 6" descr="dataset-patient.png"/>
          <p:cNvPicPr>
            <a:picLocks noChangeAspect="1"/>
          </p:cNvPicPr>
          <p:nvPr/>
        </p:nvPicPr>
        <p:blipFill>
          <a:blip r:embed="rId4"/>
          <a:stretch>
            <a:fillRect/>
          </a:stretch>
        </p:blipFill>
        <p:spPr>
          <a:xfrm>
            <a:off x="4306823" y="1796081"/>
            <a:ext cx="3547872" cy="1038558"/>
          </a:xfrm>
          <a:prstGeom prst="rect">
            <a:avLst/>
          </a:prstGeom>
          <a:ln w="6350">
            <a:solidFill>
              <a:srgbClr val="808080"/>
            </a:solidFill>
          </a:ln>
        </p:spPr>
      </p:pic>
      <p:sp>
        <p:nvSpPr>
          <p:cNvPr id="8" name="TextBox 7"/>
          <p:cNvSpPr txBox="1"/>
          <p:nvPr/>
        </p:nvSpPr>
        <p:spPr>
          <a:xfrm>
            <a:off x="4306823" y="2871216"/>
            <a:ext cx="3547871" cy="731520"/>
          </a:xfrm>
          <a:prstGeom prst="rect">
            <a:avLst/>
          </a:prstGeom>
          <a:noFill/>
        </p:spPr>
        <p:txBody>
          <a:bodyPr wrap="square">
            <a:spAutoFit/>
          </a:bodyPr>
          <a:lstStyle/>
          <a:p>
            <a:r>
              <a:rPr sz="950" b="1">
                <a:solidFill>
                  <a:srgbClr val="1D2F82"/>
                </a:solidFill>
                <a:latin typeface="Calibri"/>
              </a:rPr>
              <a:t>2 · An export we never saw</a:t>
            </a:r>
            <a:r>
              <a:rPr sz="950"/>
              <a:t>  —  Synthea's public sample, one patient's bill: the agent takes the diagnosis; ours takes three fields; the baseline reads 180,570 records.</a:t>
            </a:r>
            <a:r>
              <a:rPr sz="850">
                <a:solidFill>
                  <a:srgbClr val="808080"/>
                </a:solidFill>
              </a:rPr>
              <a:t>  [dataset-walkthrough.html]</a:t>
            </a:r>
          </a:p>
        </p:txBody>
      </p:sp>
      <p:pic>
        <p:nvPicPr>
          <p:cNvPr id="9" name="Picture 8" descr="real-questions.png"/>
          <p:cNvPicPr>
            <a:picLocks noChangeAspect="1"/>
          </p:cNvPicPr>
          <p:nvPr/>
        </p:nvPicPr>
        <p:blipFill>
          <a:blip r:embed="rId5"/>
          <a:stretch>
            <a:fillRect/>
          </a:stretch>
        </p:blipFill>
        <p:spPr>
          <a:xfrm>
            <a:off x="8065007" y="1473547"/>
            <a:ext cx="3547872" cy="1361092"/>
          </a:xfrm>
          <a:prstGeom prst="rect">
            <a:avLst/>
          </a:prstGeom>
          <a:ln w="6350">
            <a:solidFill>
              <a:srgbClr val="808080"/>
            </a:solidFill>
          </a:ln>
        </p:spPr>
      </p:pic>
      <p:sp>
        <p:nvSpPr>
          <p:cNvPr id="10" name="TextBox 9"/>
          <p:cNvSpPr txBox="1"/>
          <p:nvPr/>
        </p:nvSpPr>
        <p:spPr>
          <a:xfrm>
            <a:off x="8065007" y="2871216"/>
            <a:ext cx="3547871" cy="731520"/>
          </a:xfrm>
          <a:prstGeom prst="rect">
            <a:avLst/>
          </a:prstGeom>
          <a:noFill/>
        </p:spPr>
        <p:txBody>
          <a:bodyPr wrap="square">
            <a:spAutoFit/>
          </a:bodyPr>
          <a:lstStyle/>
          <a:p>
            <a:r>
              <a:rPr sz="950" b="1">
                <a:solidFill>
                  <a:srgbClr val="1D2F82"/>
                </a:solidFill>
                <a:latin typeface="Calibri"/>
              </a:rPr>
              <a:t>3 · The hospital's own register</a:t>
            </a:r>
            <a:r>
              <a:rPr sz="950"/>
              <a:t>  —  Real hospital data with no patient in it: one pull judged under every purpose — lawful for the one it was taken for, refused by the other two with the rule named; six questions answered from totals, four gated.</a:t>
            </a:r>
            <a:r>
              <a:rPr sz="850">
                <a:solidFill>
                  <a:srgbClr val="808080"/>
                </a:solidFill>
              </a:rPr>
              <a:t>  [real-data.html]</a:t>
            </a:r>
          </a:p>
        </p:txBody>
      </p:sp>
      <p:pic>
        <p:nvPicPr>
          <p:cNvPr id="11" name="Picture 10" descr="journey-follow.png"/>
          <p:cNvPicPr>
            <a:picLocks noChangeAspect="1"/>
          </p:cNvPicPr>
          <p:nvPr/>
        </p:nvPicPr>
        <p:blipFill>
          <a:blip r:embed="rId6"/>
          <a:stretch>
            <a:fillRect/>
          </a:stretch>
        </p:blipFill>
        <p:spPr>
          <a:xfrm>
            <a:off x="688539" y="3675888"/>
            <a:ext cx="3268072" cy="1645920"/>
          </a:xfrm>
          <a:prstGeom prst="rect">
            <a:avLst/>
          </a:prstGeom>
          <a:ln w="6350">
            <a:solidFill>
              <a:srgbClr val="808080"/>
            </a:solidFill>
          </a:ln>
        </p:spPr>
      </p:pic>
      <p:sp>
        <p:nvSpPr>
          <p:cNvPr id="12" name="TextBox 11"/>
          <p:cNvSpPr txBox="1"/>
          <p:nvPr/>
        </p:nvSpPr>
        <p:spPr>
          <a:xfrm>
            <a:off x="548640" y="5358384"/>
            <a:ext cx="3547871" cy="731520"/>
          </a:xfrm>
          <a:prstGeom prst="rect">
            <a:avLst/>
          </a:prstGeom>
          <a:noFill/>
        </p:spPr>
        <p:txBody>
          <a:bodyPr wrap="square">
            <a:spAutoFit/>
          </a:bodyPr>
          <a:lstStyle/>
          <a:p>
            <a:r>
              <a:rPr sz="950" b="1">
                <a:solidFill>
                  <a:srgbClr val="1D2F82"/>
                </a:solidFill>
                <a:latin typeface="Calibri"/>
              </a:rPr>
              <a:t>4 · The journey of one entry</a:t>
            </a:r>
            <a:r>
              <a:rPr sz="950"/>
              <a:t>  —  One line of patients.csv through all seven stages. Follow the diagnosis through the agent on the billing job: the rail turns red at Extract and Purpose.</a:t>
            </a:r>
            <a:r>
              <a:rPr sz="850">
                <a:solidFill>
                  <a:srgbClr val="808080"/>
                </a:solidFill>
              </a:rPr>
              <a:t>  [journey.html]</a:t>
            </a:r>
          </a:p>
        </p:txBody>
      </p:sp>
      <p:pic>
        <p:nvPicPr>
          <p:cNvPr id="13" name="Picture 12" descr="assistant-refusal.png"/>
          <p:cNvPicPr>
            <a:picLocks noChangeAspect="1"/>
          </p:cNvPicPr>
          <p:nvPr/>
        </p:nvPicPr>
        <p:blipFill>
          <a:blip r:embed="rId7"/>
          <a:stretch>
            <a:fillRect/>
          </a:stretch>
        </p:blipFill>
        <p:spPr>
          <a:xfrm>
            <a:off x="4306823" y="4028447"/>
            <a:ext cx="3547872" cy="1293360"/>
          </a:xfrm>
          <a:prstGeom prst="rect">
            <a:avLst/>
          </a:prstGeom>
          <a:ln w="6350">
            <a:solidFill>
              <a:srgbClr val="808080"/>
            </a:solidFill>
          </a:ln>
        </p:spPr>
      </p:pic>
      <p:sp>
        <p:nvSpPr>
          <p:cNvPr id="14" name="TextBox 13"/>
          <p:cNvSpPr txBox="1"/>
          <p:nvPr/>
        </p:nvSpPr>
        <p:spPr>
          <a:xfrm>
            <a:off x="4306823" y="5358384"/>
            <a:ext cx="3547871" cy="731520"/>
          </a:xfrm>
          <a:prstGeom prst="rect">
            <a:avLst/>
          </a:prstGeom>
          <a:noFill/>
        </p:spPr>
        <p:txBody>
          <a:bodyPr wrap="square">
            <a:spAutoFit/>
          </a:bodyPr>
          <a:lstStyle/>
          <a:p>
            <a:r>
              <a:rPr sz="950" b="1">
                <a:solidFill>
                  <a:srgbClr val="1D2F82"/>
                </a:solidFill>
                <a:latin typeface="Calibri"/>
              </a:rPr>
              <a:t>5 · Ask the assistant</a:t>
            </a:r>
            <a:r>
              <a:rPr sz="950"/>
              <a:t>  —  The panel types; reception asking for a diagnosis is refused before any detail is asked, with the three checks shown. Verified against the Python assistant on load.</a:t>
            </a:r>
            <a:r>
              <a:rPr sz="850">
                <a:solidFill>
                  <a:srgbClr val="808080"/>
                </a:solidFill>
              </a:rPr>
              <a:t>  [assistant.html]</a:t>
            </a:r>
          </a:p>
        </p:txBody>
      </p:sp>
      <p:pic>
        <p:nvPicPr>
          <p:cNvPr id="15" name="Picture 14" descr="rules-vs-ai.png"/>
          <p:cNvPicPr>
            <a:picLocks noChangeAspect="1"/>
          </p:cNvPicPr>
          <p:nvPr/>
        </p:nvPicPr>
        <p:blipFill>
          <a:blip r:embed="rId8"/>
          <a:stretch>
            <a:fillRect/>
          </a:stretch>
        </p:blipFill>
        <p:spPr>
          <a:xfrm>
            <a:off x="8087965" y="3675888"/>
            <a:ext cx="3501957" cy="1645920"/>
          </a:xfrm>
          <a:prstGeom prst="rect">
            <a:avLst/>
          </a:prstGeom>
          <a:ln w="6350">
            <a:solidFill>
              <a:srgbClr val="808080"/>
            </a:solidFill>
          </a:ln>
        </p:spPr>
      </p:pic>
      <p:sp>
        <p:nvSpPr>
          <p:cNvPr id="16" name="TextBox 15"/>
          <p:cNvSpPr txBox="1"/>
          <p:nvPr/>
        </p:nvSpPr>
        <p:spPr>
          <a:xfrm>
            <a:off x="8065007" y="5358384"/>
            <a:ext cx="3547871" cy="731520"/>
          </a:xfrm>
          <a:prstGeom prst="rect">
            <a:avLst/>
          </a:prstGeom>
          <a:noFill/>
        </p:spPr>
        <p:txBody>
          <a:bodyPr wrap="square">
            <a:spAutoFit/>
          </a:bodyPr>
          <a:lstStyle/>
          <a:p>
            <a:r>
              <a:rPr sz="950" b="1">
                <a:solidFill>
                  <a:srgbClr val="1D2F82"/>
                </a:solidFill>
                <a:latin typeface="Calibri"/>
              </a:rPr>
              <a:t>6 · Rules vs just AI</a:t>
            </a:r>
            <a:r>
              <a:rPr sz="950"/>
              <a:t>  —  Eight tasks, five repeats, every repeat scored: close on the score, apart on traps, coverage, minimisation and repeatability.</a:t>
            </a:r>
            <a:r>
              <a:rPr sz="850">
                <a:solidFill>
                  <a:srgbClr val="808080"/>
                </a:solidFill>
              </a:rPr>
              <a:t>  [rules-vs-just-ai.html]</a:t>
            </a:r>
          </a:p>
        </p:txBody>
      </p:sp>
      <p:sp>
        <p:nvSpPr>
          <p:cNvPr id="17" name="TextBox 16"/>
          <p:cNvSpPr txBox="1"/>
          <p:nvPr/>
        </p:nvSpPr>
        <p:spPr>
          <a:xfrm>
            <a:off x="548640" y="6199632"/>
            <a:ext cx="11064240" cy="320040"/>
          </a:xfrm>
          <a:prstGeom prst="rect">
            <a:avLst/>
          </a:prstGeom>
          <a:noFill/>
        </p:spPr>
        <p:txBody>
          <a:bodyPr wrap="square">
            <a:spAutoFit/>
          </a:bodyPr>
          <a:lstStyle/>
          <a:p>
            <a:r>
              <a:rPr sz="1050" b="0">
                <a:solidFill>
                  <a:srgbClr val="1D2F82"/>
                </a:solidFill>
                <a:latin typeface="Calibri"/>
              </a:rPr>
              <a:t>Open docs/review/index.html — every page is offline, built from a real run of the pipeline (tools/build_review_pages.py), and shows no raw patient identifier.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(75%)</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34440"/>
            <a:ext cx="10881360" cy="868680"/>
          </a:xfrm>
          <a:prstGeom prst="rect">
            <a:avLst/>
          </a:prstGeom>
          <a:noFill/>
        </p:spPr>
        <p:txBody>
          <a:bodyPr wrap="square">
            <a:spAutoFit/>
          </a:bodyPr>
          <a:lstStyle/>
          <a:p>
            <a:r>
              <a:rPr sz="1250" b="0">
                <a:solidFill>
                  <a:srgbClr val="000000"/>
                </a:solidFill>
                <a:latin typeface="Calibri"/>
              </a:rPr>
              <a:t>9 techniques (one row per model, at the briefing that hands it the purpose policy), 4 extraction tasks, the same login-gated portal scraped by a real browser (20 records per module, 10 per page); every run scored on the identical seven rules; cost measured as real page loads. The techniques differ only in how they treat personal data.</a:t>
            </a:r>
          </a:p>
        </p:txBody>
      </p:sp>
      <p:graphicFrame>
        <p:nvGraphicFramePr>
          <p:cNvPr id="6" name="Table 5"/>
          <p:cNvGraphicFramePr>
            <a:graphicFrameLocks noGrp="1"/>
          </p:cNvGraphicFramePr>
          <p:nvPr/>
        </p:nvGraphicFramePr>
        <p:xfrm>
          <a:off x="548640" y="2194560"/>
          <a:ext cx="11091672" cy="243840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142232">
                  <a:extLst>
                    <a:ext uri="{9D8B030D-6E8A-4147-A177-3AD203B41FA5}">
                      <a16:colId xmlns:a16="http://schemas.microsoft.com/office/drawing/2014/main" val="20003"/>
                    </a:ext>
                  </a:extLst>
                </a:gridCol>
              </a:tblGrid>
              <a:tr h="388620">
                <a:tc>
                  <a:txBody>
                    <a:bodyPr/>
                    <a:lstStyle/>
                    <a:p>
                      <a:r>
                        <a:rPr sz="1200" b="1">
                          <a:solidFill>
                            <a:srgbClr val="FFFFFF"/>
                          </a:solidFill>
                          <a:latin typeface="Calibri"/>
                        </a:rPr>
                        <a:t>Technique</a:t>
                      </a:r>
                    </a:p>
                  </a:txBody>
                  <a:tcPr>
                    <a:solidFill>
                      <a:srgbClr val="1D2F82"/>
                    </a:solidFill>
                  </a:tcPr>
                </a:tc>
                <a:tc>
                  <a:txBody>
                    <a:bodyPr/>
                    <a:lstStyle/>
                    <a:p>
                      <a:r>
                        <a:rPr sz="1200" b="1">
                          <a:solidFill>
                            <a:srgbClr val="FFFFFF"/>
                          </a:solidFill>
                          <a:latin typeface="Calibri"/>
                        </a:rPr>
                        <a:t>Compliance</a:t>
                      </a:r>
                    </a:p>
                  </a:txBody>
                  <a:tcPr>
                    <a:solidFill>
                      <a:srgbClr val="1D2F82"/>
                    </a:solidFill>
                  </a:tcPr>
                </a:tc>
                <a:tc>
                  <a:txBody>
                    <a:bodyPr/>
                    <a:lstStyle/>
                    <a:p>
                      <a:r>
                        <a:rPr sz="1200" b="1">
                          <a:solidFill>
                            <a:srgbClr val="FFFFFF"/>
                          </a:solidFill>
                          <a:latin typeface="Calibri"/>
                        </a:rPr>
                        <a:t>Cost (excess · coverage · pages · traps)</a:t>
                      </a:r>
                    </a:p>
                  </a:txBody>
                  <a:tcPr>
                    <a:solidFill>
                      <a:srgbClr val="1D2F82"/>
                    </a:solidFill>
                  </a:tcPr>
                </a:tc>
                <a:tc>
                  <a:txBody>
                    <a:bodyPr/>
                    <a:lstStyle/>
                    <a:p>
                      <a:r>
                        <a:rPr sz="1200" b="1">
                          <a:solidFill>
                            <a:srgbClr val="FFFFFF"/>
                          </a:solidFill>
                          <a:latin typeface="Calibri"/>
                        </a:rPr>
                        <a:t>Behaviour</a:t>
                      </a:r>
                    </a:p>
                  </a:txBody>
                  <a:tcPr>
                    <a:solidFill>
                      <a:srgbClr val="1D2F82"/>
                    </a:solidFill>
                  </a:tcPr>
                </a:tc>
                <a:extLst>
                  <a:ext uri="{0D108BD9-81ED-4DB2-BD59-A6C34878D82A}">
                    <a16:rowId xmlns:a16="http://schemas.microsoft.com/office/drawing/2014/main" val="10000"/>
                  </a:ext>
                </a:extLst>
              </a:tr>
              <a:tr h="388620">
                <a:tc>
                  <a:txBody>
                    <a:bodyPr/>
                    <a:lstStyle/>
                    <a:p>
                      <a:r>
                        <a:rPr sz="1000" b="0">
                          <a:solidFill>
                            <a:srgbClr val="000000"/>
                          </a:solidFill>
                          <a:latin typeface="Calibri"/>
                        </a:rPr>
                        <a:t>compliance-aware (ours)</a:t>
                      </a:r>
                    </a:p>
                  </a:txBody>
                  <a:tcPr>
                    <a:solidFill>
                      <a:srgbClr val="FFFFFF"/>
                    </a:solidFill>
                  </a:tcPr>
                </a:tc>
                <a:tc>
                  <a:txBody>
                    <a:bodyPr/>
                    <a:lstStyle/>
                    <a:p>
                      <a:r>
                        <a:rPr sz="1000" b="0">
                          <a:solidFill>
                            <a:srgbClr val="000000"/>
                          </a:solidFill>
                          <a:latin typeface="Calibri"/>
                        </a:rPr>
                        <a:t>1.000  ·  7/7 rules</a:t>
                      </a:r>
                    </a:p>
                  </a:txBody>
                  <a:tcPr>
                    <a:solidFill>
                      <a:srgbClr val="FFFFFF"/>
                    </a:solidFill>
                  </a:tcPr>
                </a:tc>
                <a:tc>
                  <a:txBody>
                    <a:bodyPr/>
                    <a:lstStyle/>
                    <a:p>
                      <a:r>
                        <a:rPr sz="1000" b="0">
                          <a:solidFill>
                            <a:srgbClr val="000000"/>
                          </a:solidFill>
                          <a:latin typeface="Calibri"/>
                        </a:rPr>
                        <a:t>1.00 · 1.00 · 32  ·  traps held 1/1</a:t>
                      </a:r>
                    </a:p>
                  </a:txBody>
                  <a:tcPr>
                    <a:solidFill>
                      <a:srgbClr val="FFFFFF"/>
                    </a:solidFill>
                  </a:tcPr>
                </a:tc>
                <a:tc>
                  <a:txBody>
                    <a:bodyPr/>
                    <a:lstStyle/>
                    <a:p>
                      <a:r>
                        <a:rPr sz="1000" b="0">
                          <a:solidFill>
                            <a:srgbClr val="000000"/>
                          </a:solidFill>
                          <a:latin typeface="Calibri"/>
                        </a:rPr>
                        <a:t>Pulls what the purpose makes necessary; full manifest; identifiers pseudonymised on export.</a:t>
                      </a:r>
                    </a:p>
                  </a:txBody>
                  <a:tcPr>
                    <a:solidFill>
                      <a:srgbClr val="FFFFFF"/>
                    </a:solidFill>
                  </a:tcPr>
                </a:tc>
                <a:extLst>
                  <a:ext uri="{0D108BD9-81ED-4DB2-BD59-A6C34878D82A}">
                    <a16:rowId xmlns:a16="http://schemas.microsoft.com/office/drawing/2014/main" val="10001"/>
                  </a:ext>
                </a:extLst>
              </a:tr>
              <a:tr h="388620">
                <a:tc>
                  <a:txBody>
                    <a:bodyPr/>
                    <a:lstStyle/>
                    <a:p>
                      <a:r>
                        <a:rPr sz="1000" b="0">
                          <a:solidFill>
                            <a:srgbClr val="000000"/>
                          </a:solidFill>
                          <a:latin typeface="Calibri"/>
                        </a:rPr>
                        <a:t>ai agent: gemini-3.1-flash-lite (told the policy)</a:t>
                      </a:r>
                    </a:p>
                  </a:txBody>
                  <a:tcPr>
                    <a:solidFill>
                      <a:srgbClr val="FFFFFF"/>
                    </a:solidFill>
                  </a:tcPr>
                </a:tc>
                <a:tc>
                  <a:txBody>
                    <a:bodyPr/>
                    <a:lstStyle/>
                    <a:p>
                      <a:r>
                        <a:rPr sz="1000" b="0">
                          <a:solidFill>
                            <a:srgbClr val="000000"/>
                          </a:solidFill>
                          <a:latin typeface="Calibri"/>
                        </a:rPr>
                        <a:t>0.990  ·  6/7 rules</a:t>
                      </a:r>
                    </a:p>
                  </a:txBody>
                  <a:tcPr>
                    <a:solidFill>
                      <a:srgbClr val="FFFFFF"/>
                    </a:solidFill>
                  </a:tcPr>
                </a:tc>
                <a:tc>
                  <a:txBody>
                    <a:bodyPr/>
                    <a:lstStyle/>
                    <a:p>
                      <a:r>
                        <a:rPr sz="1000" b="0">
                          <a:solidFill>
                            <a:srgbClr val="000000"/>
                          </a:solidFill>
                          <a:latin typeface="Calibri"/>
                        </a:rPr>
                        <a:t>1.83 · 0.83 · 35  ·  traps held 0/1</a:t>
                      </a:r>
                    </a:p>
                  </a:txBody>
                  <a:tcPr>
                    <a:solidFill>
                      <a:srgbClr val="FFFFFF"/>
                    </a:solidFill>
                  </a:tcPr>
                </a:tc>
                <a:tc>
                  <a:txBody>
                    <a:bodyPr/>
                    <a:lstStyle/>
                    <a:p>
                      <a:r>
                        <a:rPr sz="1000" b="0">
                          <a:solidFill>
                            <a:srgbClr val="000000"/>
                          </a:solidFill>
                          <a:latin typeface="Calibri"/>
                        </a:rPr>
                        <a:t>Public model; decides pull and manifest from field names and the purpose policy; recorded, replayed.</a:t>
                      </a:r>
                    </a:p>
                  </a:txBody>
                  <a:tcPr>
                    <a:solidFill>
                      <a:srgbClr val="FFFFFF"/>
                    </a:solidFill>
                  </a:tcPr>
                </a:tc>
                <a:extLst>
                  <a:ext uri="{0D108BD9-81ED-4DB2-BD59-A6C34878D82A}">
                    <a16:rowId xmlns:a16="http://schemas.microsoft.com/office/drawing/2014/main" val="10002"/>
                  </a:ext>
                </a:extLst>
              </a:tr>
              <a:tr h="388620">
                <a:tc>
                  <a:txBody>
                    <a:bodyPr/>
                    <a:lstStyle/>
                    <a:p>
                      <a:r>
                        <a:rPr sz="1000" b="0">
                          <a:solidFill>
                            <a:srgbClr val="000000"/>
                          </a:solidFill>
                          <a:latin typeface="Calibri"/>
                        </a:rPr>
                        <a:t>ai agent: claude-haiku-4-5 (told the policy)</a:t>
                      </a:r>
                    </a:p>
                  </a:txBody>
                  <a:tcPr>
                    <a:solidFill>
                      <a:srgbClr val="FFFFFF"/>
                    </a:solidFill>
                  </a:tcPr>
                </a:tc>
                <a:tc>
                  <a:txBody>
                    <a:bodyPr/>
                    <a:lstStyle/>
                    <a:p>
                      <a:r>
                        <a:rPr sz="1000" b="0">
                          <a:solidFill>
                            <a:srgbClr val="000000"/>
                          </a:solidFill>
                          <a:latin typeface="Calibri"/>
                        </a:rPr>
                        <a:t>0.988  ·  6/7 rules</a:t>
                      </a:r>
                    </a:p>
                  </a:txBody>
                  <a:tcPr>
                    <a:solidFill>
                      <a:srgbClr val="FFFFFF"/>
                    </a:solidFill>
                  </a:tcPr>
                </a:tc>
                <a:tc>
                  <a:txBody>
                    <a:bodyPr/>
                    <a:lstStyle/>
                    <a:p>
                      <a:r>
                        <a:rPr sz="1000" b="0">
                          <a:solidFill>
                            <a:srgbClr val="000000"/>
                          </a:solidFill>
                          <a:latin typeface="Calibri"/>
                        </a:rPr>
                        <a:t>1.78 · 0.94 · 36  ·  traps held 1/1</a:t>
                      </a:r>
                    </a:p>
                  </a:txBody>
                  <a:tcPr>
                    <a:solidFill>
                      <a:srgbClr val="FFFFFF"/>
                    </a:solidFill>
                  </a:tcPr>
                </a:tc>
                <a:tc>
                  <a:txBody>
                    <a:bodyPr/>
                    <a:lstStyle/>
                    <a:p>
                      <a:r>
                        <a:rPr sz="1000" b="0">
                          <a:solidFill>
                            <a:srgbClr val="000000"/>
                          </a:solidFill>
                          <a:latin typeface="Calibri"/>
                        </a:rPr>
                        <a:t>Public model; decides pull and manifest from field names and the purpose policy; recorded, replayed.</a:t>
                      </a:r>
                    </a:p>
                  </a:txBody>
                  <a:tcPr>
                    <a:solidFill>
                      <a:srgbClr val="FFFFFF"/>
                    </a:solidFill>
                  </a:tcPr>
                </a:tc>
                <a:extLst>
                  <a:ext uri="{0D108BD9-81ED-4DB2-BD59-A6C34878D82A}">
                    <a16:rowId xmlns:a16="http://schemas.microsoft.com/office/drawing/2014/main" val="10003"/>
                  </a:ext>
                </a:extLst>
              </a:tr>
              <a:tr h="388620">
                <a:tc>
                  <a:txBody>
                    <a:bodyPr/>
                    <a:lstStyle/>
                    <a:p>
                      <a:r>
                        <a:rPr sz="1000" b="0">
                          <a:solidFill>
                            <a:srgbClr val="000000"/>
                          </a:solidFill>
                          <a:latin typeface="Calibri"/>
                        </a:rPr>
                        <a:t>ai agent: claude-sonnet-5 (told the policy)</a:t>
                      </a:r>
                    </a:p>
                  </a:txBody>
                  <a:tcPr>
                    <a:solidFill>
                      <a:srgbClr val="FFFFFF"/>
                    </a:solidFill>
                  </a:tcPr>
                </a:tc>
                <a:tc>
                  <a:txBody>
                    <a:bodyPr/>
                    <a:lstStyle/>
                    <a:p>
                      <a:r>
                        <a:rPr sz="1000" b="0">
                          <a:solidFill>
                            <a:srgbClr val="000000"/>
                          </a:solidFill>
                          <a:latin typeface="Calibri"/>
                        </a:rPr>
                        <a:t>0.988  ·  6/7 rules</a:t>
                      </a:r>
                    </a:p>
                  </a:txBody>
                  <a:tcPr>
                    <a:solidFill>
                      <a:srgbClr val="FFFFFF"/>
                    </a:solidFill>
                  </a:tcPr>
                </a:tc>
                <a:tc>
                  <a:txBody>
                    <a:bodyPr/>
                    <a:lstStyle/>
                    <a:p>
                      <a:r>
                        <a:rPr sz="1000" b="0">
                          <a:solidFill>
                            <a:srgbClr val="000000"/>
                          </a:solidFill>
                          <a:latin typeface="Calibri"/>
                        </a:rPr>
                        <a:t>2.00 · 0.89 · 55  ·  traps held 0/1</a:t>
                      </a:r>
                    </a:p>
                  </a:txBody>
                  <a:tcPr>
                    <a:solidFill>
                      <a:srgbClr val="FFFFFF"/>
                    </a:solidFill>
                  </a:tcPr>
                </a:tc>
                <a:tc>
                  <a:txBody>
                    <a:bodyPr/>
                    <a:lstStyle/>
                    <a:p>
                      <a:r>
                        <a:rPr sz="1000" b="0">
                          <a:solidFill>
                            <a:srgbClr val="000000"/>
                          </a:solidFill>
                          <a:latin typeface="Calibri"/>
                        </a:rPr>
                        <a:t>Public model; decides pull and manifest from field names and the purpose policy; recorded, replayed.</a:t>
                      </a:r>
                    </a:p>
                  </a:txBody>
                  <a:tcPr>
                    <a:solidFill>
                      <a:srgbClr val="FFFFFF"/>
                    </a:solidFill>
                  </a:tcPr>
                </a:tc>
                <a:extLst>
                  <a:ext uri="{0D108BD9-81ED-4DB2-BD59-A6C34878D82A}">
                    <a16:rowId xmlns:a16="http://schemas.microsoft.com/office/drawing/2014/main" val="10004"/>
                  </a:ext>
                </a:extLst>
              </a:tr>
              <a:tr h="388620">
                <a:tc>
                  <a:txBody>
                    <a:bodyPr/>
                    <a:lstStyle/>
                    <a:p>
                      <a:r>
                        <a:rPr sz="1000" b="0">
                          <a:solidFill>
                            <a:srgbClr val="000000"/>
                          </a:solidFill>
                          <a:latin typeface="Calibri"/>
                        </a:rPr>
                        <a:t>unconstrained (baseline)</a:t>
                      </a:r>
                    </a:p>
                  </a:txBody>
                  <a:tcPr>
                    <a:solidFill>
                      <a:srgbClr val="FFFFFF"/>
                    </a:solidFill>
                  </a:tcPr>
                </a:tc>
                <a:tc>
                  <a:txBody>
                    <a:bodyPr/>
                    <a:lstStyle/>
                    <a:p>
                      <a:r>
                        <a:rPr sz="1000" b="0">
                          <a:solidFill>
                            <a:srgbClr val="000000"/>
                          </a:solidFill>
                          <a:latin typeface="Calibri"/>
                        </a:rPr>
                        <a:t>0.114  ·  0/7 rules</a:t>
                      </a:r>
                    </a:p>
                  </a:txBody>
                  <a:tcPr>
                    <a:solidFill>
                      <a:srgbClr val="FFFFFF"/>
                    </a:solidFill>
                  </a:tcPr>
                </a:tc>
                <a:tc>
                  <a:txBody>
                    <a:bodyPr/>
                    <a:lstStyle/>
                    <a:p>
                      <a:r>
                        <a:rPr sz="1000" b="0">
                          <a:solidFill>
                            <a:srgbClr val="000000"/>
                          </a:solidFill>
                          <a:latin typeface="Calibri"/>
                        </a:rPr>
                        <a:t>7.56 · 1.00 · 440  ·  traps held 0/1</a:t>
                      </a:r>
                    </a:p>
                  </a:txBody>
                  <a:tcPr>
                    <a:solidFill>
                      <a:srgbClr val="FFFFFF"/>
                    </a:solidFill>
                  </a:tcPr>
                </a:tc>
                <a:tc>
                  <a:txBody>
                    <a:bodyPr/>
                    <a:lstStyle/>
                    <a:p>
                      <a:r>
                        <a:rPr sz="1000" b="0">
                          <a:solidFill>
                            <a:srgbClr val="000000"/>
                          </a:solidFill>
                          <a:latin typeface="Calibri"/>
                        </a:rPr>
                        <a:t>Every field of every module; no purpose, no manifest; declares only the transport it was observed on.</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40080" y="4709160"/>
            <a:ext cx="10881360" cy="1554480"/>
          </a:xfrm>
          <a:prstGeom prst="rect">
            <a:avLst/>
          </a:prstGeom>
          <a:noFill/>
        </p:spPr>
        <p:txBody>
          <a:bodyPr wrap="square">
            <a:spAutoFit/>
          </a:bodyPr>
          <a:lstStyle/>
          <a:p>
            <a:r>
              <a:rPr sz="1200" b="0">
                <a:solidFill>
                  <a:srgbClr val="000000"/>
                </a:solidFill>
                <a:latin typeface="Calibri"/>
              </a:rPr>
              <a:t>Reading the table. The baseline loads fourteen times the pages for the same coverage; its surplus is exactly the overreach DM-01 penalises, so compliance and cost move together rather than trading off.</a:t>
            </a:r>
          </a:p>
          <a:p>
            <a:r>
              <a:rPr sz="1200" b="0">
                <a:solidFill>
                  <a:srgbClr val="000000"/>
                </a:solidFill>
                <a:latin typeface="Calibri"/>
              </a:rPr>
              <a:t>The AI agents are real public models, briefed with field names — never a value — and, in the row shown, handed the purpose policy itself. In memory (8 tasks × 5 repeats, 2 for claude-haiku-4-5 and claude-sonnet-5; every repeat scored): claude-haiku-4-5 held 8 of 8 trap runs (0 of 4 unaided), did 79% of the job and reproduced its first decision in 0 of 8 repeats; claude-sonnet-5 held 6 of 8 trap runs (0 of 4 unaided), did 81% of the job and reproduced its first decision in 6 of 8 repeats; gemini-3.1-flash-lite held 10 of 20 trap runs (0 of 20 unaided or told the Act), did 74% of the job and reproduced its first decision in 21 of 32 repeats. Ours held 20 of 20 and reproduced itself in 32 of 32 — it reads the policy, not the prose, and repeats itself. Per-rule columns and the full model × briefing grid: docs/benchmark_results/.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(contd.)</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Box 4"/>
          <p:cNvSpPr txBox="1"/>
          <p:nvPr/>
        </p:nvSpPr>
        <p:spPr>
          <a:xfrm>
            <a:off x="640080" y="1234440"/>
            <a:ext cx="10881360" cy="868680"/>
          </a:xfrm>
          <a:prstGeom prst="rect">
            <a:avLst/>
          </a:prstGeom>
          <a:noFill/>
        </p:spPr>
        <p:txBody>
          <a:bodyPr wrap="square">
            <a:spAutoFit/>
          </a:bodyPr>
          <a:lstStyle/>
          <a:p>
            <a:r>
              <a:rPr sz="1250" b="0">
                <a:solidFill>
                  <a:srgbClr val="000000"/>
                </a:solidFill>
                <a:latin typeface="Calibri"/>
              </a:rPr>
              <a:t>The same extraction judged under every purpose — records, manifest and rules identical; only what the data was for changes. And the export audited, not trusted: the manifest claims pseudonymisation; we searched what actually left for the raw identifiers.</a:t>
            </a:r>
          </a:p>
        </p:txBody>
      </p:sp>
      <p:graphicFrame>
        <p:nvGraphicFramePr>
          <p:cNvPr id="6" name="Table 5"/>
          <p:cNvGraphicFramePr>
            <a:graphicFrameLocks noGrp="1"/>
          </p:cNvGraphicFramePr>
          <p:nvPr/>
        </p:nvGraphicFramePr>
        <p:xfrm>
          <a:off x="548640" y="2194560"/>
          <a:ext cx="11091672" cy="137160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457200">
                <a:tc>
                  <a:txBody>
                    <a:bodyPr/>
                    <a:lstStyle/>
                    <a:p>
                      <a:r>
                        <a:rPr sz="1200" b="1">
                          <a:solidFill>
                            <a:srgbClr val="FFFFFF"/>
                          </a:solidFill>
                          <a:latin typeface="Calibri"/>
                        </a:rPr>
                        <a:t>Care pull (MRN, DOB, sex, diagnosis, medication, allergy)</a:t>
                      </a:r>
                    </a:p>
                  </a:txBody>
                  <a:tcPr>
                    <a:solidFill>
                      <a:srgbClr val="1D2F82"/>
                    </a:solidFill>
                  </a:tcPr>
                </a:tc>
                <a:tc>
                  <a:txBody>
                    <a:bodyPr/>
                    <a:lstStyle/>
                    <a:p>
                      <a:r>
                        <a:rPr sz="1200" b="1">
                          <a:solidFill>
                            <a:srgbClr val="FFFFFF"/>
                          </a:solidFill>
                          <a:latin typeface="Calibri"/>
                        </a:rPr>
                        <a:t>under care_coordination</a:t>
                      </a:r>
                    </a:p>
                  </a:txBody>
                  <a:tcPr>
                    <a:solidFill>
                      <a:srgbClr val="1D2F82"/>
                    </a:solidFill>
                  </a:tcPr>
                </a:tc>
                <a:tc>
                  <a:txBody>
                    <a:bodyPr/>
                    <a:lstStyle/>
                    <a:p>
                      <a:r>
                        <a:rPr sz="1200" b="1">
                          <a:solidFill>
                            <a:srgbClr val="FFFFFF"/>
                          </a:solidFill>
                          <a:latin typeface="Calibri"/>
                        </a:rPr>
                        <a:t>under billing_settlement</a:t>
                      </a:r>
                    </a:p>
                  </a:txBody>
                  <a:tcPr>
                    <a:solidFill>
                      <a:srgbClr val="1D2F82"/>
                    </a:solidFill>
                  </a:tcPr>
                </a:tc>
                <a:tc>
                  <a:txBody>
                    <a:bodyPr/>
                    <a:lstStyle/>
                    <a:p>
                      <a:r>
                        <a:rPr sz="1200" b="1">
                          <a:solidFill>
                            <a:srgbClr val="FFFFFF"/>
                          </a:solidFill>
                          <a:latin typeface="Calibri"/>
                        </a:rPr>
                        <a:t>under patient_registration</a:t>
                      </a:r>
                    </a:p>
                  </a:txBody>
                  <a:tcPr>
                    <a:solidFill>
                      <a:srgbClr val="1D2F82"/>
                    </a:solidFill>
                  </a:tcPr>
                </a:tc>
                <a:extLst>
                  <a:ext uri="{0D108BD9-81ED-4DB2-BD59-A6C34878D82A}">
                    <a16:rowId xmlns:a16="http://schemas.microsoft.com/office/drawing/2014/main" val="10000"/>
                  </a:ext>
                </a:extLst>
              </a:tr>
              <a:tr h="457200">
                <a:tc>
                  <a:txBody>
                    <a:bodyPr/>
                    <a:lstStyle/>
                    <a:p>
                      <a:r>
                        <a:rPr sz="1100" b="0">
                          <a:solidFill>
                            <a:srgbClr val="000000"/>
                          </a:solidFill>
                          <a:latin typeface="Calibri"/>
                        </a:rPr>
                        <a:t>compliance score · rules passed</a:t>
                      </a:r>
                    </a:p>
                  </a:txBody>
                  <a:tcPr>
                    <a:solidFill>
                      <a:srgbClr val="FFFFFF"/>
                    </a:solidFill>
                  </a:tcPr>
                </a:tc>
                <a:tc>
                  <a:txBody>
                    <a:bodyPr/>
                    <a:lstStyle/>
                    <a:p>
                      <a:r>
                        <a:rPr sz="1100" b="0">
                          <a:solidFill>
                            <a:srgbClr val="000000"/>
                          </a:solidFill>
                          <a:latin typeface="Calibri"/>
                        </a:rPr>
                        <a:t>1.000  ·  7 / 7</a:t>
                      </a:r>
                    </a:p>
                  </a:txBody>
                  <a:tcPr>
                    <a:solidFill>
                      <a:srgbClr val="FFFFFF"/>
                    </a:solidFill>
                  </a:tcPr>
                </a:tc>
                <a:tc>
                  <a:txBody>
                    <a:bodyPr/>
                    <a:lstStyle/>
                    <a:p>
                      <a:r>
                        <a:rPr sz="1100" b="0">
                          <a:solidFill>
                            <a:srgbClr val="000000"/>
                          </a:solidFill>
                          <a:latin typeface="Calibri"/>
                        </a:rPr>
                        <a:t>0.833  ·  5 / 7</a:t>
                      </a:r>
                    </a:p>
                  </a:txBody>
                  <a:tcPr>
                    <a:solidFill>
                      <a:srgbClr val="FFFFFF"/>
                    </a:solidFill>
                  </a:tcPr>
                </a:tc>
                <a:tc>
                  <a:txBody>
                    <a:bodyPr/>
                    <a:lstStyle/>
                    <a:p>
                      <a:r>
                        <a:rPr sz="1100" b="0">
                          <a:solidFill>
                            <a:srgbClr val="000000"/>
                          </a:solidFill>
                          <a:latin typeface="Calibri"/>
                        </a:rPr>
                        <a:t>0.881  ·  5 / 7</a:t>
                      </a:r>
                    </a:p>
                  </a:txBody>
                  <a:tcPr>
                    <a:solidFill>
                      <a:srgbClr val="FFFFFF"/>
                    </a:solidFill>
                  </a:tcPr>
                </a:tc>
                <a:extLst>
                  <a:ext uri="{0D108BD9-81ED-4DB2-BD59-A6C34878D82A}">
                    <a16:rowId xmlns:a16="http://schemas.microsoft.com/office/drawing/2014/main" val="10001"/>
                  </a:ext>
                </a:extLst>
              </a:tr>
              <a:tr h="457200">
                <a:tc>
                  <a:txBody>
                    <a:bodyPr/>
                    <a:lstStyle/>
                    <a:p>
                      <a:r>
                        <a:rPr sz="1100" b="0">
                          <a:solidFill>
                            <a:srgbClr val="000000"/>
                          </a:solidFill>
                          <a:latin typeface="Calibri"/>
                        </a:rPr>
                        <a:t>why</a:t>
                      </a:r>
                    </a:p>
                  </a:txBody>
                  <a:tcPr>
                    <a:solidFill>
                      <a:srgbClr val="FFFFFF"/>
                    </a:solidFill>
                  </a:tcPr>
                </a:tc>
                <a:tc>
                  <a:txBody>
                    <a:bodyPr/>
                    <a:lstStyle/>
                    <a:p>
                      <a:r>
                        <a:rPr sz="1100" b="0">
                          <a:solidFill>
                            <a:srgbClr val="000000"/>
                          </a:solidFill>
                          <a:latin typeface="Calibri"/>
                        </a:rPr>
                        <a:t>lawful for this purpose</a:t>
                      </a:r>
                    </a:p>
                  </a:txBody>
                  <a:tcPr>
                    <a:solidFill>
                      <a:srgbClr val="FFFFFF"/>
                    </a:solidFill>
                  </a:tcPr>
                </a:tc>
                <a:tc>
                  <a:txBody>
                    <a:bodyPr/>
                    <a:lstStyle/>
                    <a:p>
                      <a:r>
                        <a:rPr sz="1100" b="0">
                          <a:solidFill>
                            <a:srgbClr val="000000"/>
                          </a:solidFill>
                          <a:latin typeface="Calibri"/>
                        </a:rPr>
                        <a:t>out of scope: clinical, quasi-identifier; notice does not cover it</a:t>
                      </a:r>
                    </a:p>
                  </a:txBody>
                  <a:tcPr>
                    <a:solidFill>
                      <a:srgbClr val="FFFFFF"/>
                    </a:solidFill>
                  </a:tcPr>
                </a:tc>
                <a:tc>
                  <a:txBody>
                    <a:bodyPr/>
                    <a:lstStyle/>
                    <a:p>
                      <a:r>
                        <a:rPr sz="1100" b="0">
                          <a:solidFill>
                            <a:srgbClr val="000000"/>
                          </a:solidFill>
                          <a:latin typeface="Calibri"/>
                        </a:rPr>
                        <a:t>out of scope: clinical; notice does not cover it</a:t>
                      </a:r>
                    </a:p>
                  </a:txBody>
                  <a:tcPr>
                    <a:solidFill>
                      <a:srgbClr val="FFFFFF"/>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548640" y="3749039"/>
          <a:ext cx="11091672" cy="118872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396240">
                <a:tc>
                  <a:txBody>
                    <a:bodyPr/>
                    <a:lstStyle/>
                    <a:p>
                      <a:r>
                        <a:rPr sz="1200" b="1">
                          <a:solidFill>
                            <a:srgbClr val="FFFFFF"/>
                          </a:solidFill>
                          <a:latin typeface="Calibri"/>
                        </a:rPr>
                        <a:t>Export audit (HL7 v2 + FHIR), one patient's summary</a:t>
                      </a:r>
                    </a:p>
                  </a:txBody>
                  <a:tcPr>
                    <a:solidFill>
                      <a:srgbClr val="1D2F82"/>
                    </a:solidFill>
                  </a:tcPr>
                </a:tc>
                <a:tc>
                  <a:txBody>
                    <a:bodyPr/>
                    <a:lstStyle/>
                    <a:p>
                      <a:r>
                        <a:rPr sz="1200" b="1">
                          <a:solidFill>
                            <a:srgbClr val="FFFFFF"/>
                          </a:solidFill>
                          <a:latin typeface="Calibri"/>
                        </a:rPr>
                        <a:t>Pseudonymisation</a:t>
                      </a:r>
                    </a:p>
                  </a:txBody>
                  <a:tcPr>
                    <a:solidFill>
                      <a:srgbClr val="1D2F82"/>
                    </a:solidFill>
                  </a:tcPr>
                </a:tc>
                <a:tc>
                  <a:txBody>
                    <a:bodyPr/>
                    <a:lstStyle/>
                    <a:p>
                      <a:r>
                        <a:rPr sz="1200" b="1">
                          <a:solidFill>
                            <a:srgbClr val="FFFFFF"/>
                          </a:solidFill>
                          <a:latin typeface="Calibri"/>
                        </a:rPr>
                        <a:t>Raw identifiers found in the export</a:t>
                      </a:r>
                    </a:p>
                  </a:txBody>
                  <a:tcPr>
                    <a:solidFill>
                      <a:srgbClr val="1D2F82"/>
                    </a:solidFill>
                  </a:tcPr>
                </a:tc>
                <a:extLst>
                  <a:ext uri="{0D108BD9-81ED-4DB2-BD59-A6C34878D82A}">
                    <a16:rowId xmlns:a16="http://schemas.microsoft.com/office/drawing/2014/main" val="10000"/>
                  </a:ext>
                </a:extLst>
              </a:tr>
              <a:tr h="396240">
                <a:tc>
                  <a:txBody>
                    <a:bodyPr/>
                    <a:lstStyle/>
                    <a:p>
                      <a:r>
                        <a:rPr sz="1100" b="0">
                          <a:solidFill>
                            <a:srgbClr val="000000"/>
                          </a:solidFill>
                          <a:latin typeface="Calibri"/>
                        </a:rPr>
                        <a:t>compliance-aware (ours) — reads that patient through the search box</a:t>
                      </a:r>
                    </a:p>
                  </a:txBody>
                  <a:tcPr>
                    <a:solidFill>
                      <a:srgbClr val="FFFFFF"/>
                    </a:solidFill>
                  </a:tcPr>
                </a:tc>
                <a:tc>
                  <a:txBody>
                    <a:bodyPr/>
                    <a:lstStyle/>
                    <a:p>
                      <a:r>
                        <a:rPr sz="1100" b="0">
                          <a:solidFill>
                            <a:srgbClr val="000000"/>
                          </a:solidFill>
                          <a:latin typeface="Calibri"/>
                        </a:rPr>
                        <a:t>declared → applied (HMAC tokens, PSN-…)</a:t>
                      </a:r>
                    </a:p>
                  </a:txBody>
                  <a:tcPr>
                    <a:solidFill>
                      <a:srgbClr val="FFFFFF"/>
                    </a:solidFill>
                  </a:tcPr>
                </a:tc>
                <a:tc>
                  <a:txBody>
                    <a:bodyPr/>
                    <a:lstStyle/>
                    <a:p>
                      <a:r>
                        <a:rPr sz="1100" b="0">
                          <a:solidFill>
                            <a:srgbClr val="000000"/>
                          </a:solidFill>
                          <a:latin typeface="Calibri"/>
                        </a:rPr>
                        <a:t>none  ·  6 artefacts checked</a:t>
                      </a:r>
                    </a:p>
                  </a:txBody>
                  <a:tcPr>
                    <a:solidFill>
                      <a:srgbClr val="FFFFFF"/>
                    </a:solidFill>
                  </a:tcPr>
                </a:tc>
                <a:extLst>
                  <a:ext uri="{0D108BD9-81ED-4DB2-BD59-A6C34878D82A}">
                    <a16:rowId xmlns:a16="http://schemas.microsoft.com/office/drawing/2014/main" val="10001"/>
                  </a:ext>
                </a:extLst>
              </a:tr>
              <a:tr h="396240">
                <a:tc>
                  <a:txBody>
                    <a:bodyPr/>
                    <a:lstStyle/>
                    <a:p>
                      <a:r>
                        <a:rPr sz="1100" b="0">
                          <a:solidFill>
                            <a:srgbClr val="000000"/>
                          </a:solidFill>
                          <a:latin typeface="Calibri"/>
                        </a:rPr>
                        <a:t>unconstrained (baseline) — reads every module</a:t>
                      </a:r>
                    </a:p>
                  </a:txBody>
                  <a:tcPr>
                    <a:solidFill>
                      <a:srgbClr val="FFFFFF"/>
                    </a:solidFill>
                  </a:tcPr>
                </a:tc>
                <a:tc>
                  <a:txBody>
                    <a:bodyPr/>
                    <a:lstStyle/>
                    <a:p>
                      <a:r>
                        <a:rPr sz="1100" b="0">
                          <a:solidFill>
                            <a:srgbClr val="000000"/>
                          </a:solidFill>
                          <a:latin typeface="Calibri"/>
                        </a:rPr>
                        <a:t>not declared → raw</a:t>
                      </a:r>
                    </a:p>
                  </a:txBody>
                  <a:tcPr>
                    <a:solidFill>
                      <a:srgbClr val="FFFFFF"/>
                    </a:solidFill>
                  </a:tcPr>
                </a:tc>
                <a:tc>
                  <a:txBody>
                    <a:bodyPr/>
                    <a:lstStyle/>
                    <a:p>
                      <a:r>
                        <a:rPr sz="1100" b="0">
                          <a:solidFill>
                            <a:srgbClr val="000000"/>
                          </a:solidFill>
                          <a:latin typeface="Calibri"/>
                        </a:rPr>
                        <a:t>60 of 60  ·  340 artefacts checked</a:t>
                      </a:r>
                    </a:p>
                  </a:txBody>
                  <a:tcP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40080" y="5029200"/>
            <a:ext cx="10881360" cy="1280160"/>
          </a:xfrm>
          <a:prstGeom prst="rect">
            <a:avLst/>
          </a:prstGeom>
          <a:noFill/>
        </p:spPr>
        <p:txBody>
          <a:bodyPr wrap="square">
            <a:spAutoFit/>
          </a:bodyPr>
          <a:lstStyle/>
          <a:p>
            <a:r>
              <a:rPr sz="1100" b="0">
                <a:solidFill>
                  <a:srgbClr val="000000"/>
                </a:solidFill>
                <a:latin typeface="Calibri"/>
              </a:rPr>
              <a:t>Care may see clinical data and not billing data; billing may see billing data and not clinical data. Neither purpose is stricter — "out of scope" means not necessary for this purpose. Tokens are keyed hashes: stable within one export, unlinkable across exports, not reversible.</a:t>
            </a:r>
          </a:p>
          <a:p>
            <a:r>
              <a:rPr sz="1100" b="0">
                <a:solidFill>
                  <a:srgbClr val="000000"/>
                </a:solidFill>
                <a:latin typeface="Calibri"/>
              </a:rPr>
              <a:t>Storage limitation is done, not declared: every export carries a delete-after sidecar (30 d for care), the purge erases the files on the day and writes the audit event; the run itself was logged by the harness, not by the technique — the log, the observed TLS, the export audit and the sidecar are the four controls the tables count as demonstrated.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(contd.) — Discovery &amp; Assistant</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234440"/>
            <a:ext cx="10881360" cy="1051560"/>
          </a:xfrm>
          <a:prstGeom prst="rect">
            <a:avLst/>
          </a:prstGeom>
          <a:noFill/>
        </p:spPr>
        <p:txBody>
          <a:bodyPr wrap="square">
            <a:spAutoFit/>
          </a:bodyPr>
          <a:lstStyle/>
          <a:p>
            <a:r>
              <a:rPr sz="1200" b="0">
                <a:solidFill>
                  <a:srgbClr val="000000"/>
                </a:solidFill>
                <a:latin typeface="Calibri"/>
              </a:rPr>
              <a:t>The scraper is never told the portal's layout. It crawls from the home page and infers each module's HIS layer from the field names it finds — the URL says "registration", the scraper concludes patient administration. With display labels instead of field names it cannot classify the module; with a label→field map it is back at 100% and nothing downstream changes. The same inference classifies an exported spreadsheet.</a:t>
            </a:r>
          </a:p>
        </p:txBody>
      </p:sp>
      <p:graphicFrame>
        <p:nvGraphicFramePr>
          <p:cNvPr id="6" name="Table 5"/>
          <p:cNvGraphicFramePr>
            <a:graphicFrameLocks noGrp="1"/>
          </p:cNvGraphicFramePr>
          <p:nvPr/>
        </p:nvGraphicFramePr>
        <p:xfrm>
          <a:off x="548640" y="2377440"/>
          <a:ext cx="11091672" cy="17373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289560">
                <a:tc>
                  <a:txBody>
                    <a:bodyPr/>
                    <a:lstStyle/>
                    <a:p>
                      <a:r>
                        <a:rPr sz="1200" b="1">
                          <a:solidFill>
                            <a:srgbClr val="FFFFFF"/>
                          </a:solidFill>
                          <a:latin typeface="Calibri"/>
                        </a:rPr>
                        <a:t>Module (as the portal names it)</a:t>
                      </a:r>
                    </a:p>
                  </a:txBody>
                  <a:tcPr>
                    <a:solidFill>
                      <a:srgbClr val="1D2F82"/>
                    </a:solidFill>
                  </a:tcPr>
                </a:tc>
                <a:tc>
                  <a:txBody>
                    <a:bodyPr/>
                    <a:lstStyle/>
                    <a:p>
                      <a:r>
                        <a:rPr sz="1200" b="1">
                          <a:solidFill>
                            <a:srgbClr val="FFFFFF"/>
                          </a:solidFill>
                          <a:latin typeface="Calibri"/>
                        </a:rPr>
                        <a:t>Path</a:t>
                      </a:r>
                    </a:p>
                  </a:txBody>
                  <a:tcPr>
                    <a:solidFill>
                      <a:srgbClr val="1D2F82"/>
                    </a:solidFill>
                  </a:tcPr>
                </a:tc>
                <a:tc>
                  <a:txBody>
                    <a:bodyPr/>
                    <a:lstStyle/>
                    <a:p>
                      <a:r>
                        <a:rPr sz="1200" b="1">
                          <a:solidFill>
                            <a:srgbClr val="FFFFFF"/>
                          </a:solidFill>
                          <a:latin typeface="Calibri"/>
                        </a:rPr>
                        <a:t>Pages</a:t>
                      </a:r>
                    </a:p>
                  </a:txBody>
                  <a:tcPr>
                    <a:solidFill>
                      <a:srgbClr val="1D2F82"/>
                    </a:solidFill>
                  </a:tcPr>
                </a:tc>
                <a:tc>
                  <a:txBody>
                    <a:bodyPr/>
                    <a:lstStyle/>
                    <a:p>
                      <a:r>
                        <a:rPr sz="1200" b="1">
                          <a:solidFill>
                            <a:srgbClr val="FFFFFF"/>
                          </a:solidFill>
                          <a:latin typeface="Calibri"/>
                        </a:rPr>
                        <a:t>Inferred HIS layer</a:t>
                      </a:r>
                    </a:p>
                  </a:txBody>
                  <a:tcPr>
                    <a:solidFill>
                      <a:srgbClr val="1D2F82"/>
                    </a:solidFill>
                  </a:tcPr>
                </a:tc>
                <a:tc>
                  <a:txBody>
                    <a:bodyPr/>
                    <a:lstStyle/>
                    <a:p>
                      <a:r>
                        <a:rPr sz="1200" b="1">
                          <a:solidFill>
                            <a:srgbClr val="FFFFFF"/>
                          </a:solidFill>
                          <a:latin typeface="Calibri"/>
                        </a:rPr>
                        <a:t>Confidence</a:t>
                      </a:r>
                    </a:p>
                  </a:txBody>
                  <a:tcPr>
                    <a:solidFill>
                      <a:srgbClr val="1D2F82"/>
                    </a:solidFill>
                  </a:tcPr>
                </a:tc>
                <a:extLst>
                  <a:ext uri="{0D108BD9-81ED-4DB2-BD59-A6C34878D82A}">
                    <a16:rowId xmlns:a16="http://schemas.microsoft.com/office/drawing/2014/main" val="10000"/>
                  </a:ext>
                </a:extLst>
              </a:tr>
              <a:tr h="289560">
                <a:tc>
                  <a:txBody>
                    <a:bodyPr/>
                    <a:lstStyle/>
                    <a:p>
                      <a:r>
                        <a:rPr sz="1100" b="0">
                          <a:solidFill>
                            <a:srgbClr val="000000"/>
                          </a:solidFill>
                          <a:latin typeface="Calibri"/>
                        </a:rPr>
                        <a:t>Patient Registration</a:t>
                      </a:r>
                    </a:p>
                  </a:txBody>
                  <a:tcPr>
                    <a:solidFill>
                      <a:srgbClr val="FFFFFF"/>
                    </a:solidFill>
                  </a:tcPr>
                </a:tc>
                <a:tc>
                  <a:txBody>
                    <a:bodyPr/>
                    <a:lstStyle/>
                    <a:p>
                      <a:r>
                        <a:rPr sz="1100" b="0">
                          <a:solidFill>
                            <a:srgbClr val="000000"/>
                          </a:solidFill>
                          <a:latin typeface="Calibri"/>
                        </a:rPr>
                        <a:t>/m/registration/</a:t>
                      </a:r>
                    </a:p>
                  </a:txBody>
                  <a:tcPr>
                    <a:solidFill>
                      <a:srgbClr val="FFFFFF"/>
                    </a:solidFill>
                  </a:tcPr>
                </a:tc>
                <a:tc>
                  <a:txBody>
                    <a:bodyPr/>
                    <a:lstStyle/>
                    <a:p>
                      <a:r>
                        <a:rPr sz="1100" b="0">
                          <a:solidFill>
                            <a:srgbClr val="000000"/>
                          </a:solidFill>
                          <a:latin typeface="Calibri"/>
                        </a:rPr>
                        <a:t>2</a:t>
                      </a:r>
                    </a:p>
                  </a:txBody>
                  <a:tcPr>
                    <a:solidFill>
                      <a:srgbClr val="FFFFFF"/>
                    </a:solidFill>
                  </a:tcPr>
                </a:tc>
                <a:tc>
                  <a:txBody>
                    <a:bodyPr/>
                    <a:lstStyle/>
                    <a:p>
                      <a:r>
                        <a:rPr sz="1100" b="0">
                          <a:solidFill>
                            <a:srgbClr val="000000"/>
                          </a:solidFill>
                          <a:latin typeface="Calibri"/>
                        </a:rPr>
                        <a:t>patient_administration</a:t>
                      </a:r>
                    </a:p>
                  </a:txBody>
                  <a:tcPr>
                    <a:solidFill>
                      <a:srgbClr val="FFFFFF"/>
                    </a:solidFill>
                  </a:tcPr>
                </a:tc>
                <a:tc>
                  <a:txBody>
                    <a:bodyPr/>
                    <a:lstStyle/>
                    <a:p>
                      <a:r>
                        <a:rPr sz="1100" b="0">
                          <a:solidFill>
                            <a:srgbClr val="000000"/>
                          </a:solidFill>
                          <a:latin typeface="Calibri"/>
                        </a:rPr>
                        <a:t>100%</a:t>
                      </a:r>
                    </a:p>
                  </a:txBody>
                  <a:tcPr>
                    <a:solidFill>
                      <a:srgbClr val="FFFFFF"/>
                    </a:solidFill>
                  </a:tcPr>
                </a:tc>
                <a:extLst>
                  <a:ext uri="{0D108BD9-81ED-4DB2-BD59-A6C34878D82A}">
                    <a16:rowId xmlns:a16="http://schemas.microsoft.com/office/drawing/2014/main" val="10001"/>
                  </a:ext>
                </a:extLst>
              </a:tr>
              <a:tr h="289560">
                <a:tc>
                  <a:txBody>
                    <a:bodyPr/>
                    <a:lstStyle/>
                    <a:p>
                      <a:r>
                        <a:rPr sz="1100" b="0">
                          <a:solidFill>
                            <a:srgbClr val="000000"/>
                          </a:solidFill>
                          <a:latin typeface="Calibri"/>
                        </a:rPr>
                        <a:t>Clinical Records</a:t>
                      </a:r>
                    </a:p>
                  </a:txBody>
                  <a:tcPr>
                    <a:solidFill>
                      <a:srgbClr val="FFFFFF"/>
                    </a:solidFill>
                  </a:tcPr>
                </a:tc>
                <a:tc>
                  <a:txBody>
                    <a:bodyPr/>
                    <a:lstStyle/>
                    <a:p>
                      <a:r>
                        <a:rPr sz="1100" b="0">
                          <a:solidFill>
                            <a:srgbClr val="000000"/>
                          </a:solidFill>
                          <a:latin typeface="Calibri"/>
                        </a:rPr>
                        <a:t>/m/clinical/</a:t>
                      </a:r>
                    </a:p>
                  </a:txBody>
                  <a:tcPr>
                    <a:solidFill>
                      <a:srgbClr val="FFFFFF"/>
                    </a:solidFill>
                  </a:tcPr>
                </a:tc>
                <a:tc>
                  <a:txBody>
                    <a:bodyPr/>
                    <a:lstStyle/>
                    <a:p>
                      <a:r>
                        <a:rPr sz="1100" b="0">
                          <a:solidFill>
                            <a:srgbClr val="000000"/>
                          </a:solidFill>
                          <a:latin typeface="Calibri"/>
                        </a:rPr>
                        <a:t>2</a:t>
                      </a:r>
                    </a:p>
                  </a:txBody>
                  <a:tcPr>
                    <a:solidFill>
                      <a:srgbClr val="FFFFFF"/>
                    </a:solidFill>
                  </a:tcPr>
                </a:tc>
                <a:tc>
                  <a:txBody>
                    <a:bodyPr/>
                    <a:lstStyle/>
                    <a:p>
                      <a:r>
                        <a:rPr sz="1100" b="0">
                          <a:solidFill>
                            <a:srgbClr val="000000"/>
                          </a:solidFill>
                          <a:latin typeface="Calibri"/>
                        </a:rPr>
                        <a:t>clinical_ehr</a:t>
                      </a:r>
                    </a:p>
                  </a:txBody>
                  <a:tcPr>
                    <a:solidFill>
                      <a:srgbClr val="FFFFFF"/>
                    </a:solidFill>
                  </a:tcPr>
                </a:tc>
                <a:tc>
                  <a:txBody>
                    <a:bodyPr/>
                    <a:lstStyle/>
                    <a:p>
                      <a:r>
                        <a:rPr sz="1100" b="0">
                          <a:solidFill>
                            <a:srgbClr val="000000"/>
                          </a:solidFill>
                          <a:latin typeface="Calibri"/>
                        </a:rPr>
                        <a:t>100%</a:t>
                      </a:r>
                    </a:p>
                  </a:txBody>
                  <a:tcPr>
                    <a:solidFill>
                      <a:srgbClr val="FFFFFF"/>
                    </a:solidFill>
                  </a:tcPr>
                </a:tc>
                <a:extLst>
                  <a:ext uri="{0D108BD9-81ED-4DB2-BD59-A6C34878D82A}">
                    <a16:rowId xmlns:a16="http://schemas.microsoft.com/office/drawing/2014/main" val="10002"/>
                  </a:ext>
                </a:extLst>
              </a:tr>
              <a:tr h="289560">
                <a:tc>
                  <a:txBody>
                    <a:bodyPr/>
                    <a:lstStyle/>
                    <a:p>
                      <a:r>
                        <a:rPr sz="1100" b="0">
                          <a:solidFill>
                            <a:srgbClr val="000000"/>
                          </a:solidFill>
                          <a:latin typeface="Calibri"/>
                        </a:rPr>
                        <a:t>Departmental Orders</a:t>
                      </a:r>
                    </a:p>
                  </a:txBody>
                  <a:tcPr>
                    <a:solidFill>
                      <a:srgbClr val="FFFFFF"/>
                    </a:solidFill>
                  </a:tcPr>
                </a:tc>
                <a:tc>
                  <a:txBody>
                    <a:bodyPr/>
                    <a:lstStyle/>
                    <a:p>
                      <a:r>
                        <a:rPr sz="1100" b="0">
                          <a:solidFill>
                            <a:srgbClr val="000000"/>
                          </a:solidFill>
                          <a:latin typeface="Calibri"/>
                        </a:rPr>
                        <a:t>/m/departments/</a:t>
                      </a:r>
                    </a:p>
                  </a:txBody>
                  <a:tcPr>
                    <a:solidFill>
                      <a:srgbClr val="FFFFFF"/>
                    </a:solidFill>
                  </a:tcPr>
                </a:tc>
                <a:tc>
                  <a:txBody>
                    <a:bodyPr/>
                    <a:lstStyle/>
                    <a:p>
                      <a:r>
                        <a:rPr sz="1100" b="0">
                          <a:solidFill>
                            <a:srgbClr val="000000"/>
                          </a:solidFill>
                          <a:latin typeface="Calibri"/>
                        </a:rPr>
                        <a:t>2</a:t>
                      </a:r>
                    </a:p>
                  </a:txBody>
                  <a:tcPr>
                    <a:solidFill>
                      <a:srgbClr val="FFFFFF"/>
                    </a:solidFill>
                  </a:tcPr>
                </a:tc>
                <a:tc>
                  <a:txBody>
                    <a:bodyPr/>
                    <a:lstStyle/>
                    <a:p>
                      <a:r>
                        <a:rPr sz="1100" b="0">
                          <a:solidFill>
                            <a:srgbClr val="000000"/>
                          </a:solidFill>
                          <a:latin typeface="Calibri"/>
                        </a:rPr>
                        <a:t>ancillary_departmental</a:t>
                      </a:r>
                    </a:p>
                  </a:txBody>
                  <a:tcPr>
                    <a:solidFill>
                      <a:srgbClr val="FFFFFF"/>
                    </a:solidFill>
                  </a:tcPr>
                </a:tc>
                <a:tc>
                  <a:txBody>
                    <a:bodyPr/>
                    <a:lstStyle/>
                    <a:p>
                      <a:r>
                        <a:rPr sz="1100" b="0">
                          <a:solidFill>
                            <a:srgbClr val="000000"/>
                          </a:solidFill>
                          <a:latin typeface="Calibri"/>
                        </a:rPr>
                        <a:t>100%</a:t>
                      </a:r>
                    </a:p>
                  </a:txBody>
                  <a:tcPr>
                    <a:solidFill>
                      <a:srgbClr val="FFFFFF"/>
                    </a:solidFill>
                  </a:tcPr>
                </a:tc>
                <a:extLst>
                  <a:ext uri="{0D108BD9-81ED-4DB2-BD59-A6C34878D82A}">
                    <a16:rowId xmlns:a16="http://schemas.microsoft.com/office/drawing/2014/main" val="10003"/>
                  </a:ext>
                </a:extLst>
              </a:tr>
              <a:tr h="289560">
                <a:tc>
                  <a:txBody>
                    <a:bodyPr/>
                    <a:lstStyle/>
                    <a:p>
                      <a:r>
                        <a:rPr sz="1100" b="0">
                          <a:solidFill>
                            <a:srgbClr val="000000"/>
                          </a:solidFill>
                          <a:latin typeface="Calibri"/>
                        </a:rPr>
                        <a:t>Billing &amp; Accounts</a:t>
                      </a:r>
                    </a:p>
                  </a:txBody>
                  <a:tcPr>
                    <a:solidFill>
                      <a:srgbClr val="FFFFFF"/>
                    </a:solidFill>
                  </a:tcPr>
                </a:tc>
                <a:tc>
                  <a:txBody>
                    <a:bodyPr/>
                    <a:lstStyle/>
                    <a:p>
                      <a:r>
                        <a:rPr sz="1100" b="0">
                          <a:solidFill>
                            <a:srgbClr val="000000"/>
                          </a:solidFill>
                          <a:latin typeface="Calibri"/>
                        </a:rPr>
                        <a:t>/m/billing/</a:t>
                      </a:r>
                    </a:p>
                  </a:txBody>
                  <a:tcPr>
                    <a:solidFill>
                      <a:srgbClr val="FFFFFF"/>
                    </a:solidFill>
                  </a:tcPr>
                </a:tc>
                <a:tc>
                  <a:txBody>
                    <a:bodyPr/>
                    <a:lstStyle/>
                    <a:p>
                      <a:r>
                        <a:rPr sz="1100" b="0">
                          <a:solidFill>
                            <a:srgbClr val="000000"/>
                          </a:solidFill>
                          <a:latin typeface="Calibri"/>
                        </a:rPr>
                        <a:t>2</a:t>
                      </a:r>
                    </a:p>
                  </a:txBody>
                  <a:tcPr>
                    <a:solidFill>
                      <a:srgbClr val="FFFFFF"/>
                    </a:solidFill>
                  </a:tcPr>
                </a:tc>
                <a:tc>
                  <a:txBody>
                    <a:bodyPr/>
                    <a:lstStyle/>
                    <a:p>
                      <a:r>
                        <a:rPr sz="1100" b="0">
                          <a:solidFill>
                            <a:srgbClr val="000000"/>
                          </a:solidFill>
                          <a:latin typeface="Calibri"/>
                        </a:rPr>
                        <a:t>administrative_financial</a:t>
                      </a:r>
                    </a:p>
                  </a:txBody>
                  <a:tcPr>
                    <a:solidFill>
                      <a:srgbClr val="FFFFFF"/>
                    </a:solidFill>
                  </a:tcPr>
                </a:tc>
                <a:tc>
                  <a:txBody>
                    <a:bodyPr/>
                    <a:lstStyle/>
                    <a:p>
                      <a:r>
                        <a:rPr sz="1100" b="0">
                          <a:solidFill>
                            <a:srgbClr val="000000"/>
                          </a:solidFill>
                          <a:latin typeface="Calibri"/>
                        </a:rPr>
                        <a:t>100%</a:t>
                      </a:r>
                    </a:p>
                  </a:txBody>
                  <a:tcPr>
                    <a:solidFill>
                      <a:srgbClr val="FFFFFF"/>
                    </a:solidFill>
                  </a:tcPr>
                </a:tc>
                <a:extLst>
                  <a:ext uri="{0D108BD9-81ED-4DB2-BD59-A6C34878D82A}">
                    <a16:rowId xmlns:a16="http://schemas.microsoft.com/office/drawing/2014/main" val="10004"/>
                  </a:ext>
                </a:extLst>
              </a:tr>
              <a:tr h="289560">
                <a:tc>
                  <a:txBody>
                    <a:bodyPr/>
                    <a:lstStyle/>
                    <a:p>
                      <a:r>
                        <a:rPr sz="1100" b="0">
                          <a:solidFill>
                            <a:srgbClr val="000000"/>
                          </a:solidFill>
                          <a:latin typeface="Calibri"/>
                        </a:rPr>
                        <a:t>Audit Log</a:t>
                      </a:r>
                    </a:p>
                  </a:txBody>
                  <a:tcPr>
                    <a:solidFill>
                      <a:srgbClr val="FFFFFF"/>
                    </a:solidFill>
                  </a:tcPr>
                </a:tc>
                <a:tc>
                  <a:txBody>
                    <a:bodyPr/>
                    <a:lstStyle/>
                    <a:p>
                      <a:r>
                        <a:rPr sz="1100" b="0">
                          <a:solidFill>
                            <a:srgbClr val="000000"/>
                          </a:solidFill>
                          <a:latin typeface="Calibri"/>
                        </a:rPr>
                        <a:t>/m/integration/</a:t>
                      </a:r>
                    </a:p>
                  </a:txBody>
                  <a:tcPr>
                    <a:solidFill>
                      <a:srgbClr val="FFFFFF"/>
                    </a:solidFill>
                  </a:tcPr>
                </a:tc>
                <a:tc>
                  <a:txBody>
                    <a:bodyPr/>
                    <a:lstStyle/>
                    <a:p>
                      <a:r>
                        <a:rPr sz="1100" b="0">
                          <a:solidFill>
                            <a:srgbClr val="000000"/>
                          </a:solidFill>
                          <a:latin typeface="Calibri"/>
                        </a:rPr>
                        <a:t>2</a:t>
                      </a:r>
                    </a:p>
                  </a:txBody>
                  <a:tcPr>
                    <a:solidFill>
                      <a:srgbClr val="FFFFFF"/>
                    </a:solidFill>
                  </a:tcPr>
                </a:tc>
                <a:tc>
                  <a:txBody>
                    <a:bodyPr/>
                    <a:lstStyle/>
                    <a:p>
                      <a:r>
                        <a:rPr sz="1100" b="0">
                          <a:solidFill>
                            <a:srgbClr val="000000"/>
                          </a:solidFill>
                          <a:latin typeface="Calibri"/>
                        </a:rPr>
                        <a:t>infrastructure_integration</a:t>
                      </a:r>
                    </a:p>
                  </a:txBody>
                  <a:tcPr>
                    <a:solidFill>
                      <a:srgbClr val="FFFFFF"/>
                    </a:solidFill>
                  </a:tcPr>
                </a:tc>
                <a:tc>
                  <a:txBody>
                    <a:bodyPr/>
                    <a:lstStyle/>
                    <a:p>
                      <a:r>
                        <a:rPr sz="1100" b="0">
                          <a:solidFill>
                            <a:srgbClr val="000000"/>
                          </a:solidFill>
                          <a:latin typeface="Calibri"/>
                        </a:rPr>
                        <a:t>100%</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40080" y="4297680"/>
            <a:ext cx="10881360" cy="2011680"/>
          </a:xfrm>
          <a:prstGeom prst="rect">
            <a:avLst/>
          </a:prstGeom>
          <a:noFill/>
        </p:spPr>
        <p:txBody>
          <a:bodyPr wrap="square">
            <a:spAutoFit/>
          </a:bodyPr>
          <a:lstStyle/>
          <a:p>
            <a:r>
              <a:rPr sz="1100" b="0">
                <a:solidFill>
                  <a:srgbClr val="000000"/>
                </a:solidFill>
                <a:latin typeface="Calibri"/>
              </a:rPr>
              <a:t>reception &gt; what is the patient's diagnosis</a:t>
            </a:r>
          </a:p>
          <a:p>
            <a:r>
              <a:rPr sz="1100" b="0">
                <a:solidFill>
                  <a:srgbClr val="000000"/>
                </a:solidFill>
                <a:latin typeface="Calibri"/>
              </a:rPr>
              <a:t>assistant : I can't walk you through how to look up a patient's diagnosis as reception.</a:t>
            </a:r>
          </a:p>
          <a:p>
            <a:r>
              <a:rPr sz="1100" b="0">
                <a:solidFill>
                  <a:srgbClr val="000000"/>
                </a:solidFill>
                <a:latin typeface="Calibri"/>
              </a:rPr>
              <a:t>            reception has no lawful purpose to act under 'care_coordination'; its purposes are billing_settlement, patient_registration.   [PL-01 — DPDP Act 2023 - purpose limitation]</a:t>
            </a:r>
          </a:p>
          <a:p>
            <a:r>
              <a:rPr sz="1100" b="0">
                <a:solidFill>
                  <a:srgbClr val="000000"/>
                </a:solidFill>
                <a:latin typeface="Calibri"/>
              </a:rPr>
              <a:t>            This is something nurse can do; please hand it to them.        (declined before asking for any detail)</a:t>
            </a:r>
          </a:p>
          <a:p>
            <a:r>
              <a:rPr sz="1100" b="0">
                <a:solidFill>
                  <a:srgbClr val="000000"/>
                </a:solidFill>
                <a:latin typeface="Calibri"/>
              </a:rPr>
              <a:t>The refusal comes from the same policy table that scored the benchmark. A nurse asking the same question is walked through it, each step stamped with the page the crawler found: [clinical_ehr / Condition / /m/clinical/].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(contd.) — A Public Export We Never Saw</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234440"/>
            <a:ext cx="10881360" cy="1188720"/>
          </a:xfrm>
          <a:prstGeom prst="rect">
            <a:avLst/>
          </a:prstGeom>
          <a:noFill/>
        </p:spPr>
        <p:txBody>
          <a:bodyPr wrap="square">
            <a:spAutoFit/>
          </a:bodyPr>
          <a:lstStyle/>
          <a:p>
            <a:r>
              <a:rPr sz="1150" b="0">
                <a:solidFill>
                  <a:srgbClr val="000000"/>
                </a:solidFill>
                <a:latin typeface="Calibri"/>
              </a:rPr>
              <a:t>A hospital's export is personal data, and may never be released to a student project — which is exactly the risk this work is about. So the dataset path was proven on data we did not generate: the public Synthea sample (108 synthetic patients, 18 CSV files, one per clinical concept, a 28-column registration file with SSN, passport and licence columns). It went through the real handling gate (no synthetic manifest; a provenance note required), a column map written once, and run_pipeline.py --dataset: the same techniques and recordings, unchanged.</a:t>
            </a:r>
          </a:p>
        </p:txBody>
      </p:sp>
      <p:graphicFrame>
        <p:nvGraphicFramePr>
          <p:cNvPr id="6" name="Table 5"/>
          <p:cNvGraphicFramePr>
            <a:graphicFrameLocks noGrp="1"/>
          </p:cNvGraphicFramePr>
          <p:nvPr/>
        </p:nvGraphicFramePr>
        <p:xfrm>
          <a:off x="548640" y="2514600"/>
          <a:ext cx="11091672" cy="1874520"/>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307592">
                  <a:extLst>
                    <a:ext uri="{9D8B030D-6E8A-4147-A177-3AD203B41FA5}">
                      <a16:colId xmlns:a16="http://schemas.microsoft.com/office/drawing/2014/main" val="20005"/>
                    </a:ext>
                  </a:extLst>
                </a:gridCol>
              </a:tblGrid>
              <a:tr h="312420">
                <a:tc>
                  <a:txBody>
                    <a:bodyPr/>
                    <a:lstStyle/>
                    <a:p>
                      <a:r>
                        <a:rPr sz="1200" b="1">
                          <a:solidFill>
                            <a:srgbClr val="FFFFFF"/>
                          </a:solidFill>
                          <a:latin typeface="Calibri"/>
                        </a:rPr>
                        <a:t>Technique (at 'told the policy')</a:t>
                      </a:r>
                    </a:p>
                  </a:txBody>
                  <a:tcPr>
                    <a:solidFill>
                      <a:srgbClr val="1D2F82"/>
                    </a:solidFill>
                  </a:tcPr>
                </a:tc>
                <a:tc>
                  <a:txBody>
                    <a:bodyPr/>
                    <a:lstStyle/>
                    <a:p>
                      <a:r>
                        <a:rPr sz="1200" b="1">
                          <a:solidFill>
                            <a:srgbClr val="FFFFFF"/>
                          </a:solidFill>
                          <a:latin typeface="Calibri"/>
                        </a:rPr>
                        <a:t>Compliance</a:t>
                      </a:r>
                    </a:p>
                  </a:txBody>
                  <a:tcPr>
                    <a:solidFill>
                      <a:srgbClr val="1D2F82"/>
                    </a:solidFill>
                  </a:tcPr>
                </a:tc>
                <a:tc>
                  <a:txBody>
                    <a:bodyPr/>
                    <a:lstStyle/>
                    <a:p>
                      <a:r>
                        <a:rPr sz="1200" b="1">
                          <a:solidFill>
                            <a:srgbClr val="FFFFFF"/>
                          </a:solidFill>
                          <a:latin typeface="Calibri"/>
                        </a:rPr>
                        <a:t>Coverage</a:t>
                      </a:r>
                    </a:p>
                  </a:txBody>
                  <a:tcPr>
                    <a:solidFill>
                      <a:srgbClr val="1D2F82"/>
                    </a:solidFill>
                  </a:tcPr>
                </a:tc>
                <a:tc>
                  <a:txBody>
                    <a:bodyPr/>
                    <a:lstStyle/>
                    <a:p>
                      <a:r>
                        <a:rPr sz="1200" b="1">
                          <a:solidFill>
                            <a:srgbClr val="FFFFFF"/>
                          </a:solidFill>
                          <a:latin typeface="Calibri"/>
                        </a:rPr>
                        <a:t>Excess</a:t>
                      </a:r>
                    </a:p>
                  </a:txBody>
                  <a:tcPr>
                    <a:solidFill>
                      <a:srgbClr val="1D2F82"/>
                    </a:solidFill>
                  </a:tcPr>
                </a:tc>
                <a:tc>
                  <a:txBody>
                    <a:bodyPr/>
                    <a:lstStyle/>
                    <a:p>
                      <a:r>
                        <a:rPr sz="1200" b="1">
                          <a:solidFill>
                            <a:srgbClr val="FFFFFF"/>
                          </a:solidFill>
                          <a:latin typeface="Calibri"/>
                        </a:rPr>
                        <a:t>Records read ÷ needed</a:t>
                      </a:r>
                    </a:p>
                  </a:txBody>
                  <a:tcPr>
                    <a:solidFill>
                      <a:srgbClr val="1D2F82"/>
                    </a:solidFill>
                  </a:tcPr>
                </a:tc>
                <a:tc>
                  <a:txBody>
                    <a:bodyPr/>
                    <a:lstStyle/>
                    <a:p>
                      <a:r>
                        <a:rPr sz="1200" b="1">
                          <a:solidFill>
                            <a:srgbClr val="FFFFFF"/>
                          </a:solidFill>
                          <a:latin typeface="Calibri"/>
                        </a:rPr>
                        <a:t>Traps held</a:t>
                      </a:r>
                    </a:p>
                  </a:txBody>
                  <a:tcPr>
                    <a:solidFill>
                      <a:srgbClr val="1D2F82"/>
                    </a:solidFill>
                  </a:tcPr>
                </a:tc>
                <a:extLst>
                  <a:ext uri="{0D108BD9-81ED-4DB2-BD59-A6C34878D82A}">
                    <a16:rowId xmlns:a16="http://schemas.microsoft.com/office/drawing/2014/main" val="10000"/>
                  </a:ext>
                </a:extLst>
              </a:tr>
              <a:tr h="312420">
                <a:tc>
                  <a:txBody>
                    <a:bodyPr/>
                    <a:lstStyle/>
                    <a:p>
                      <a:r>
                        <a:rPr sz="1050" b="0">
                          <a:solidFill>
                            <a:srgbClr val="000000"/>
                          </a:solidFill>
                          <a:latin typeface="Calibri"/>
                        </a:rPr>
                        <a:t>compliance-aware (ours)</a:t>
                      </a:r>
                    </a:p>
                  </a:txBody>
                  <a:tcPr>
                    <a:solidFill>
                      <a:srgbClr val="FFFFFF"/>
                    </a:solidFill>
                  </a:tcPr>
                </a:tc>
                <a:tc>
                  <a:txBody>
                    <a:bodyPr/>
                    <a:lstStyle/>
                    <a:p>
                      <a:r>
                        <a:rPr sz="1050" b="0">
                          <a:solidFill>
                            <a:srgbClr val="000000"/>
                          </a:solidFill>
                          <a:latin typeface="Calibri"/>
                        </a:rPr>
                        <a:t>1.000  ·  7/7 rules</a:t>
                      </a:r>
                    </a:p>
                  </a:txBody>
                  <a:tcPr>
                    <a:solidFill>
                      <a:srgbClr val="FFFFFF"/>
                    </a:solidFill>
                  </a:tcPr>
                </a:tc>
                <a:tc>
                  <a:txBody>
                    <a:bodyPr/>
                    <a:lstStyle/>
                    <a:p>
                      <a:r>
                        <a:rPr sz="1050" b="0">
                          <a:solidFill>
                            <a:srgbClr val="000000"/>
                          </a:solidFill>
                          <a:latin typeface="Calibri"/>
                        </a:rPr>
                        <a:t>0.61</a:t>
                      </a:r>
                    </a:p>
                  </a:txBody>
                  <a:tcPr>
                    <a:solidFill>
                      <a:srgbClr val="FFFFFF"/>
                    </a:solidFill>
                  </a:tcPr>
                </a:tc>
                <a:tc>
                  <a:txBody>
                    <a:bodyPr/>
                    <a:lstStyle/>
                    <a:p>
                      <a:r>
                        <a:rPr sz="1050" b="0">
                          <a:solidFill>
                            <a:srgbClr val="000000"/>
                          </a:solidFill>
                          <a:latin typeface="Calibri"/>
                        </a:rPr>
                        <a:t>0.61</a:t>
                      </a:r>
                    </a:p>
                  </a:txBody>
                  <a:tcPr>
                    <a:solidFill>
                      <a:srgbClr val="FFFFFF"/>
                    </a:solidFill>
                  </a:tcPr>
                </a:tc>
                <a:tc>
                  <a:txBody>
                    <a:bodyPr/>
                    <a:lstStyle/>
                    <a:p>
                      <a:r>
                        <a:rPr sz="1050" b="0">
                          <a:solidFill>
                            <a:srgbClr val="000000"/>
                          </a:solidFill>
                          <a:latin typeface="Calibri"/>
                        </a:rPr>
                        <a:t>0.51×</a:t>
                      </a:r>
                    </a:p>
                  </a:txBody>
                  <a:tcPr>
                    <a:solidFill>
                      <a:srgbClr val="FFFFFF"/>
                    </a:solidFill>
                  </a:tcPr>
                </a:tc>
                <a:tc>
                  <a:txBody>
                    <a:bodyPr/>
                    <a:lstStyle/>
                    <a:p>
                      <a:r>
                        <a:rPr sz="1050" b="0">
                          <a:solidFill>
                            <a:srgbClr val="000000"/>
                          </a:solidFill>
                          <a:latin typeface="Calibri"/>
                        </a:rPr>
                        <a:t>1 / 1</a:t>
                      </a:r>
                    </a:p>
                  </a:txBody>
                  <a:tcPr>
                    <a:solidFill>
                      <a:srgbClr val="FFFFFF"/>
                    </a:solidFill>
                  </a:tcPr>
                </a:tc>
                <a:extLst>
                  <a:ext uri="{0D108BD9-81ED-4DB2-BD59-A6C34878D82A}">
                    <a16:rowId xmlns:a16="http://schemas.microsoft.com/office/drawing/2014/main" val="10001"/>
                  </a:ext>
                </a:extLst>
              </a:tr>
              <a:tr h="312420">
                <a:tc>
                  <a:txBody>
                    <a:bodyPr/>
                    <a:lstStyle/>
                    <a:p>
                      <a:r>
                        <a:rPr sz="1050" b="0">
                          <a:solidFill>
                            <a:srgbClr val="000000"/>
                          </a:solidFill>
                          <a:latin typeface="Calibri"/>
                        </a:rPr>
                        <a:t>ai agent: claude-haiku-4-5 (told the policy)</a:t>
                      </a:r>
                    </a:p>
                  </a:txBody>
                  <a:tcPr>
                    <a:solidFill>
                      <a:srgbClr val="FFFFFF"/>
                    </a:solidFill>
                  </a:tcPr>
                </a:tc>
                <a:tc>
                  <a:txBody>
                    <a:bodyPr/>
                    <a:lstStyle/>
                    <a:p>
                      <a:r>
                        <a:rPr sz="1050" b="0">
                          <a:solidFill>
                            <a:srgbClr val="000000"/>
                          </a:solidFill>
                          <a:latin typeface="Calibri"/>
                        </a:rPr>
                        <a:t>0.999  ·  6/7 rules</a:t>
                      </a:r>
                    </a:p>
                  </a:txBody>
                  <a:tcPr>
                    <a:solidFill>
                      <a:srgbClr val="FFFFFF"/>
                    </a:solidFill>
                  </a:tcPr>
                </a:tc>
                <a:tc>
                  <a:txBody>
                    <a:bodyPr/>
                    <a:lstStyle/>
                    <a:p>
                      <a:r>
                        <a:rPr sz="1050" b="0">
                          <a:solidFill>
                            <a:srgbClr val="000000"/>
                          </a:solidFill>
                          <a:latin typeface="Calibri"/>
                        </a:rPr>
                        <a:t>0.56</a:t>
                      </a:r>
                    </a:p>
                  </a:txBody>
                  <a:tcPr>
                    <a:solidFill>
                      <a:srgbClr val="FFFFFF"/>
                    </a:solidFill>
                  </a:tcPr>
                </a:tc>
                <a:tc>
                  <a:txBody>
                    <a:bodyPr/>
                    <a:lstStyle/>
                    <a:p>
                      <a:r>
                        <a:rPr sz="1050" b="0">
                          <a:solidFill>
                            <a:srgbClr val="000000"/>
                          </a:solidFill>
                          <a:latin typeface="Calibri"/>
                        </a:rPr>
                        <a:t>0.94</a:t>
                      </a:r>
                    </a:p>
                  </a:txBody>
                  <a:tcPr>
                    <a:solidFill>
                      <a:srgbClr val="FFFFFF"/>
                    </a:solidFill>
                  </a:tcPr>
                </a:tc>
                <a:tc>
                  <a:txBody>
                    <a:bodyPr/>
                    <a:lstStyle/>
                    <a:p>
                      <a:r>
                        <a:rPr sz="1050" b="0">
                          <a:solidFill>
                            <a:srgbClr val="000000"/>
                          </a:solidFill>
                          <a:latin typeface="Calibri"/>
                        </a:rPr>
                        <a:t>1.03×</a:t>
                      </a:r>
                    </a:p>
                  </a:txBody>
                  <a:tcPr>
                    <a:solidFill>
                      <a:srgbClr val="FFFFFF"/>
                    </a:solidFill>
                  </a:tcPr>
                </a:tc>
                <a:tc>
                  <a:txBody>
                    <a:bodyPr/>
                    <a:lstStyle/>
                    <a:p>
                      <a:r>
                        <a:rPr sz="1050" b="0">
                          <a:solidFill>
                            <a:srgbClr val="000000"/>
                          </a:solidFill>
                          <a:latin typeface="Calibri"/>
                        </a:rPr>
                        <a:t>1 / 1</a:t>
                      </a:r>
                    </a:p>
                  </a:txBody>
                  <a:tcPr>
                    <a:solidFill>
                      <a:srgbClr val="FFFFFF"/>
                    </a:solidFill>
                  </a:tcPr>
                </a:tc>
                <a:extLst>
                  <a:ext uri="{0D108BD9-81ED-4DB2-BD59-A6C34878D82A}">
                    <a16:rowId xmlns:a16="http://schemas.microsoft.com/office/drawing/2014/main" val="10002"/>
                  </a:ext>
                </a:extLst>
              </a:tr>
              <a:tr h="312420">
                <a:tc>
                  <a:txBody>
                    <a:bodyPr/>
                    <a:lstStyle/>
                    <a:p>
                      <a:r>
                        <a:rPr sz="1050" b="0">
                          <a:solidFill>
                            <a:srgbClr val="000000"/>
                          </a:solidFill>
                          <a:latin typeface="Calibri"/>
                        </a:rPr>
                        <a:t>ai agent: gemini-3.1-flash-lite (told the policy)</a:t>
                      </a:r>
                    </a:p>
                  </a:txBody>
                  <a:tcPr>
                    <a:solidFill>
                      <a:srgbClr val="FFFFFF"/>
                    </a:solidFill>
                  </a:tcPr>
                </a:tc>
                <a:tc>
                  <a:txBody>
                    <a:bodyPr/>
                    <a:lstStyle/>
                    <a:p>
                      <a:r>
                        <a:rPr sz="1050" b="0">
                          <a:solidFill>
                            <a:srgbClr val="000000"/>
                          </a:solidFill>
                          <a:latin typeface="Calibri"/>
                        </a:rPr>
                        <a:t>0.994  ·  6/7 rules</a:t>
                      </a:r>
                    </a:p>
                  </a:txBody>
                  <a:tcPr>
                    <a:solidFill>
                      <a:srgbClr val="FFFFFF"/>
                    </a:solidFill>
                  </a:tcPr>
                </a:tc>
                <a:tc>
                  <a:txBody>
                    <a:bodyPr/>
                    <a:lstStyle/>
                    <a:p>
                      <a:r>
                        <a:rPr sz="1050" b="0">
                          <a:solidFill>
                            <a:srgbClr val="000000"/>
                          </a:solidFill>
                          <a:latin typeface="Calibri"/>
                        </a:rPr>
                        <a:t>0.50</a:t>
                      </a:r>
                    </a:p>
                  </a:txBody>
                  <a:tcPr>
                    <a:solidFill>
                      <a:srgbClr val="FFFFFF"/>
                    </a:solidFill>
                  </a:tcPr>
                </a:tc>
                <a:tc>
                  <a:txBody>
                    <a:bodyPr/>
                    <a:lstStyle/>
                    <a:p>
                      <a:r>
                        <a:rPr sz="1050" b="0">
                          <a:solidFill>
                            <a:srgbClr val="000000"/>
                          </a:solidFill>
                          <a:latin typeface="Calibri"/>
                        </a:rPr>
                        <a:t>1.06</a:t>
                      </a:r>
                    </a:p>
                  </a:txBody>
                  <a:tcPr>
                    <a:solidFill>
                      <a:srgbClr val="FFFFFF"/>
                    </a:solidFill>
                  </a:tcPr>
                </a:tc>
                <a:tc>
                  <a:txBody>
                    <a:bodyPr/>
                    <a:lstStyle/>
                    <a:p>
                      <a:r>
                        <a:rPr sz="1050" b="0">
                          <a:solidFill>
                            <a:srgbClr val="000000"/>
                          </a:solidFill>
                          <a:latin typeface="Calibri"/>
                        </a:rPr>
                        <a:t>1.06×</a:t>
                      </a:r>
                    </a:p>
                  </a:txBody>
                  <a:tcPr>
                    <a:solidFill>
                      <a:srgbClr val="FFFFFF"/>
                    </a:solidFill>
                  </a:tcPr>
                </a:tc>
                <a:tc>
                  <a:txBody>
                    <a:bodyPr/>
                    <a:lstStyle/>
                    <a:p>
                      <a:r>
                        <a:rPr sz="1050" b="0">
                          <a:solidFill>
                            <a:srgbClr val="000000"/>
                          </a:solidFill>
                          <a:latin typeface="Calibri"/>
                        </a:rPr>
                        <a:t>0 / 1</a:t>
                      </a:r>
                    </a:p>
                  </a:txBody>
                  <a:tcPr>
                    <a:solidFill>
                      <a:srgbClr val="FFFFFF"/>
                    </a:solidFill>
                  </a:tcPr>
                </a:tc>
                <a:extLst>
                  <a:ext uri="{0D108BD9-81ED-4DB2-BD59-A6C34878D82A}">
                    <a16:rowId xmlns:a16="http://schemas.microsoft.com/office/drawing/2014/main" val="10003"/>
                  </a:ext>
                </a:extLst>
              </a:tr>
              <a:tr h="312420">
                <a:tc>
                  <a:txBody>
                    <a:bodyPr/>
                    <a:lstStyle/>
                    <a:p>
                      <a:r>
                        <a:rPr sz="1050" b="0">
                          <a:solidFill>
                            <a:srgbClr val="000000"/>
                          </a:solidFill>
                          <a:latin typeface="Calibri"/>
                        </a:rPr>
                        <a:t>ai agent: claude-sonnet-5 (told the policy)</a:t>
                      </a:r>
                    </a:p>
                  </a:txBody>
                  <a:tcPr>
                    <a:solidFill>
                      <a:srgbClr val="FFFFFF"/>
                    </a:solidFill>
                  </a:tcPr>
                </a:tc>
                <a:tc>
                  <a:txBody>
                    <a:bodyPr/>
                    <a:lstStyle/>
                    <a:p>
                      <a:r>
                        <a:rPr sz="1050" b="0">
                          <a:solidFill>
                            <a:srgbClr val="000000"/>
                          </a:solidFill>
                          <a:latin typeface="Calibri"/>
                        </a:rPr>
                        <a:t>0.992  ·  6/7 rules</a:t>
                      </a:r>
                    </a:p>
                  </a:txBody>
                  <a:tcPr>
                    <a:solidFill>
                      <a:srgbClr val="FFFFFF"/>
                    </a:solidFill>
                  </a:tcPr>
                </a:tc>
                <a:tc>
                  <a:txBody>
                    <a:bodyPr/>
                    <a:lstStyle/>
                    <a:p>
                      <a:r>
                        <a:rPr sz="1050" b="0">
                          <a:solidFill>
                            <a:srgbClr val="000000"/>
                          </a:solidFill>
                          <a:latin typeface="Calibri"/>
                        </a:rPr>
                        <a:t>0.56</a:t>
                      </a:r>
                    </a:p>
                  </a:txBody>
                  <a:tcPr>
                    <a:solidFill>
                      <a:srgbClr val="FFFFFF"/>
                    </a:solidFill>
                  </a:tcPr>
                </a:tc>
                <a:tc>
                  <a:txBody>
                    <a:bodyPr/>
                    <a:lstStyle/>
                    <a:p>
                      <a:r>
                        <a:rPr sz="1050" b="0">
                          <a:solidFill>
                            <a:srgbClr val="000000"/>
                          </a:solidFill>
                          <a:latin typeface="Calibri"/>
                        </a:rPr>
                        <a:t>1.17</a:t>
                      </a:r>
                    </a:p>
                  </a:txBody>
                  <a:tcPr>
                    <a:solidFill>
                      <a:srgbClr val="FFFFFF"/>
                    </a:solidFill>
                  </a:tcPr>
                </a:tc>
                <a:tc>
                  <a:txBody>
                    <a:bodyPr/>
                    <a:lstStyle/>
                    <a:p>
                      <a:r>
                        <a:rPr sz="1050" b="0">
                          <a:solidFill>
                            <a:srgbClr val="000000"/>
                          </a:solidFill>
                          <a:latin typeface="Calibri"/>
                        </a:rPr>
                        <a:t>1.06×</a:t>
                      </a:r>
                    </a:p>
                  </a:txBody>
                  <a:tcPr>
                    <a:solidFill>
                      <a:srgbClr val="FFFFFF"/>
                    </a:solidFill>
                  </a:tcPr>
                </a:tc>
                <a:tc>
                  <a:txBody>
                    <a:bodyPr/>
                    <a:lstStyle/>
                    <a:p>
                      <a:r>
                        <a:rPr sz="1050" b="0">
                          <a:solidFill>
                            <a:srgbClr val="000000"/>
                          </a:solidFill>
                          <a:latin typeface="Calibri"/>
                        </a:rPr>
                        <a:t>0 / 1</a:t>
                      </a:r>
                    </a:p>
                  </a:txBody>
                  <a:tcPr>
                    <a:solidFill>
                      <a:srgbClr val="FFFFFF"/>
                    </a:solidFill>
                  </a:tcPr>
                </a:tc>
                <a:extLst>
                  <a:ext uri="{0D108BD9-81ED-4DB2-BD59-A6C34878D82A}">
                    <a16:rowId xmlns:a16="http://schemas.microsoft.com/office/drawing/2014/main" val="10004"/>
                  </a:ext>
                </a:extLst>
              </a:tr>
              <a:tr h="312420">
                <a:tc>
                  <a:txBody>
                    <a:bodyPr/>
                    <a:lstStyle/>
                    <a:p>
                      <a:r>
                        <a:rPr sz="1050" b="0">
                          <a:solidFill>
                            <a:srgbClr val="000000"/>
                          </a:solidFill>
                          <a:latin typeface="Calibri"/>
                        </a:rPr>
                        <a:t>unconstrained (baseline)</a:t>
                      </a:r>
                    </a:p>
                  </a:txBody>
                  <a:tcPr>
                    <a:solidFill>
                      <a:srgbClr val="FFFFFF"/>
                    </a:solidFill>
                  </a:tcPr>
                </a:tc>
                <a:tc>
                  <a:txBody>
                    <a:bodyPr/>
                    <a:lstStyle/>
                    <a:p>
                      <a:r>
                        <a:rPr sz="1050" b="0">
                          <a:solidFill>
                            <a:srgbClr val="000000"/>
                          </a:solidFill>
                          <a:latin typeface="Calibri"/>
                        </a:rPr>
                        <a:t>0.113  ·  0/7 rules</a:t>
                      </a:r>
                    </a:p>
                  </a:txBody>
                  <a:tcPr>
                    <a:solidFill>
                      <a:srgbClr val="FFFFFF"/>
                    </a:solidFill>
                  </a:tcPr>
                </a:tc>
                <a:tc>
                  <a:txBody>
                    <a:bodyPr/>
                    <a:lstStyle/>
                    <a:p>
                      <a:r>
                        <a:rPr sz="1050" b="0">
                          <a:solidFill>
                            <a:srgbClr val="000000"/>
                          </a:solidFill>
                          <a:latin typeface="Calibri"/>
                        </a:rPr>
                        <a:t>0.72</a:t>
                      </a:r>
                    </a:p>
                  </a:txBody>
                  <a:tcPr>
                    <a:solidFill>
                      <a:srgbClr val="FFFFFF"/>
                    </a:solidFill>
                  </a:tcPr>
                </a:tc>
                <a:tc>
                  <a:txBody>
                    <a:bodyPr/>
                    <a:lstStyle/>
                    <a:p>
                      <a:r>
                        <a:rPr sz="1050" b="0">
                          <a:solidFill>
                            <a:srgbClr val="000000"/>
                          </a:solidFill>
                          <a:latin typeface="Calibri"/>
                        </a:rPr>
                        <a:t>4.44</a:t>
                      </a:r>
                    </a:p>
                  </a:txBody>
                  <a:tcPr>
                    <a:solidFill>
                      <a:srgbClr val="FFFFFF"/>
                    </a:solidFill>
                  </a:tcPr>
                </a:tc>
                <a:tc>
                  <a:txBody>
                    <a:bodyPr/>
                    <a:lstStyle/>
                    <a:p>
                      <a:r>
                        <a:rPr sz="1050" b="0">
                          <a:solidFill>
                            <a:srgbClr val="000000"/>
                          </a:solidFill>
                          <a:latin typeface="Calibri"/>
                        </a:rPr>
                        <a:t>548.85×</a:t>
                      </a:r>
                    </a:p>
                  </a:txBody>
                  <a:tcPr>
                    <a:solidFill>
                      <a:srgbClr val="FFFFFF"/>
                    </a:solidFill>
                  </a:tcPr>
                </a:tc>
                <a:tc>
                  <a:txBody>
                    <a:bodyPr/>
                    <a:lstStyle/>
                    <a:p>
                      <a:r>
                        <a:rPr sz="1050" b="0">
                          <a:solidFill>
                            <a:srgbClr val="000000"/>
                          </a:solidFill>
                          <a:latin typeface="Calibri"/>
                        </a:rPr>
                        <a:t>0 / 1</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40080" y="4526280"/>
            <a:ext cx="10881360" cy="1645920"/>
          </a:xfrm>
          <a:prstGeom prst="rect">
            <a:avLst/>
          </a:prstGeom>
          <a:noFill/>
        </p:spPr>
        <p:txBody>
          <a:bodyPr wrap="square">
            <a:spAutoFit/>
          </a:bodyPr>
          <a:lstStyle/>
          <a:p>
            <a:r>
              <a:rPr sz="1100" b="0">
                <a:solidFill>
                  <a:srgbClr val="000000"/>
                </a:solidFill>
                <a:latin typeface="Calibri"/>
              </a:rPr>
              <a:t>SSN, passport and licence numbers stopped at the adapter: no technique saw them and nothing exported them. The export found five defects our own data had not — identifiers read as numbers, a blanked column counted against a file, an empty source still benchmarked, one table kept per layer, a coverage ceiling set by the wrong technique — each fixed and tested; a hospital-shaped rehearsal had found four more. The coverage ceiling is measured from the source — 5 of the 18 fields the tasks need are not in the export, 2 are not in the chosen patient's records — so no technique is blamed for what the data lacks. If a patient-level export is ever released, this slide is rebuilt from its run and nothing else changes.</a:t>
            </a:r>
          </a:p>
        </p:txBody>
      </p:sp>
      <p:sp>
        <p:nvSpPr>
          <p:cNvPr id="8" name="TextBox 7"/>
          <p:cNvSpPr txBox="1"/>
          <p:nvPr/>
        </p:nvSpPr>
        <p:spPr>
          <a:xfrm>
            <a:off x="640080" y="6172200"/>
            <a:ext cx="10881360" cy="365760"/>
          </a:xfrm>
          <a:prstGeom prst="rect">
            <a:avLst/>
          </a:prstGeom>
          <a:noFill/>
        </p:spPr>
        <p:txBody>
          <a:bodyPr wrap="square">
            <a:spAutoFit/>
          </a:bodyPr>
          <a:lstStyle/>
          <a:p>
            <a:r>
              <a:rPr sz="1000" b="0">
                <a:solidFill>
                  <a:srgbClr val="808080"/>
                </a:solidFill>
                <a:latin typeface="Calibri"/>
              </a:rPr>
              <a:t>benchmark-public.json, generated 2026-09-23; four tasks; the baseline's records-read column is every patient's records for one patient's task.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39" y="320040"/>
            <a:ext cx="9814255"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Results &amp; Analysis (contd.) — Kathir Memorial Hospital's Register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234440"/>
            <a:ext cx="10881360" cy="1188720"/>
          </a:xfrm>
          <a:prstGeom prst="rect">
            <a:avLst/>
          </a:prstGeom>
          <a:noFill/>
        </p:spPr>
        <p:txBody>
          <a:bodyPr wrap="square">
            <a:spAutoFit/>
          </a:bodyPr>
          <a:lstStyle/>
          <a:p>
            <a:r>
              <a:rPr sz="1150" b="0">
                <a:solidFill>
                  <a:srgbClr val="000000"/>
                </a:solidFill>
                <a:latin typeface="Calibri"/>
              </a:rPr>
              <a:t>The hospital's export arrived on 29 September and it is not patient-level: 731 daily records (14 Jun 2024 to 14 Jun 2026) of its collection register, receipts by payment mode, outpatient and inpatient. It went through the same four handling checks, the same adapter and the same rules: 33 of 34 columns were stopped at the door, one (the day total) was mapped to a catalogue field, and no direct identifier existed to reach any technique. One pull of it — 731 records of one financial field — was then judged under every purpose.</a:t>
            </a:r>
          </a:p>
        </p:txBody>
      </p:sp>
      <p:graphicFrame>
        <p:nvGraphicFramePr>
          <p:cNvPr id="6" name="Table 5"/>
          <p:cNvGraphicFramePr>
            <a:graphicFrameLocks noGrp="1"/>
          </p:cNvGraphicFramePr>
          <p:nvPr/>
        </p:nvGraphicFramePr>
        <p:xfrm>
          <a:off x="548640" y="2377440"/>
          <a:ext cx="11091672" cy="1353312"/>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3136392">
                  <a:extLst>
                    <a:ext uri="{9D8B030D-6E8A-4147-A177-3AD203B41FA5}">
                      <a16:colId xmlns:a16="http://schemas.microsoft.com/office/drawing/2014/main" val="20005"/>
                    </a:ext>
                  </a:extLst>
                </a:gridCol>
              </a:tblGrid>
              <a:tr h="338328">
                <a:tc>
                  <a:txBody>
                    <a:bodyPr/>
                    <a:lstStyle/>
                    <a:p>
                      <a:r>
                        <a:rPr sz="1200" b="1">
                          <a:solidFill>
                            <a:srgbClr val="FFFFFF"/>
                          </a:solidFill>
                          <a:latin typeface="Calibri"/>
                        </a:rPr>
                        <a:t>Purpose</a:t>
                      </a:r>
                    </a:p>
                  </a:txBody>
                  <a:tcPr>
                    <a:solidFill>
                      <a:srgbClr val="1D2F82"/>
                    </a:solidFill>
                  </a:tcPr>
                </a:tc>
                <a:tc>
                  <a:txBody>
                    <a:bodyPr/>
                    <a:lstStyle/>
                    <a:p>
                      <a:r>
                        <a:rPr sz="1200" b="1">
                          <a:solidFill>
                            <a:srgbClr val="FFFFFF"/>
                          </a:solidFill>
                          <a:latin typeface="Calibri"/>
                        </a:rPr>
                        <a:t>Score</a:t>
                      </a:r>
                    </a:p>
                  </a:txBody>
                  <a:tcPr>
                    <a:solidFill>
                      <a:srgbClr val="1D2F82"/>
                    </a:solidFill>
                  </a:tcPr>
                </a:tc>
                <a:tc>
                  <a:txBody>
                    <a:bodyPr/>
                    <a:lstStyle/>
                    <a:p>
                      <a:r>
                        <a:rPr sz="1200" b="1">
                          <a:solidFill>
                            <a:srgbClr val="FFFFFF"/>
                          </a:solidFill>
                          <a:latin typeface="Calibri"/>
                        </a:rPr>
                        <a:t>Rules met</a:t>
                      </a:r>
                    </a:p>
                  </a:txBody>
                  <a:tcPr>
                    <a:solidFill>
                      <a:srgbClr val="1D2F82"/>
                    </a:solidFill>
                  </a:tcPr>
                </a:tc>
                <a:tc>
                  <a:txBody>
                    <a:bodyPr/>
                    <a:lstStyle/>
                    <a:p>
                      <a:r>
                        <a:rPr sz="1200" b="1">
                          <a:solidFill>
                            <a:srgbClr val="FFFFFF"/>
                          </a:solidFill>
                          <a:latin typeface="Calibri"/>
                        </a:rPr>
                        <a:t>Rules failed</a:t>
                      </a:r>
                    </a:p>
                  </a:txBody>
                  <a:tcPr>
                    <a:solidFill>
                      <a:srgbClr val="1D2F82"/>
                    </a:solidFill>
                  </a:tcPr>
                </a:tc>
                <a:tc>
                  <a:txBody>
                    <a:bodyPr/>
                    <a:lstStyle/>
                    <a:p>
                      <a:r>
                        <a:rPr sz="1200" b="1">
                          <a:solidFill>
                            <a:srgbClr val="FFFFFF"/>
                          </a:solidFill>
                          <a:latin typeface="Calibri"/>
                        </a:rPr>
                        <a:t>Keep ≤</a:t>
                      </a:r>
                    </a:p>
                  </a:txBody>
                  <a:tcPr>
                    <a:solidFill>
                      <a:srgbClr val="1D2F82"/>
                    </a:solidFill>
                  </a:tcPr>
                </a:tc>
                <a:tc>
                  <a:txBody>
                    <a:bodyPr/>
                    <a:lstStyle/>
                    <a:p>
                      <a:r>
                        <a:rPr sz="1200" b="1">
                          <a:solidFill>
                            <a:srgbClr val="FFFFFF"/>
                          </a:solidFill>
                          <a:latin typeface="Calibri"/>
                        </a:rPr>
                        <a:t>Verdict</a:t>
                      </a:r>
                    </a:p>
                  </a:txBody>
                  <a:tcPr>
                    <a:solidFill>
                      <a:srgbClr val="1D2F82"/>
                    </a:solidFill>
                  </a:tcPr>
                </a:tc>
                <a:extLst>
                  <a:ext uri="{0D108BD9-81ED-4DB2-BD59-A6C34878D82A}">
                    <a16:rowId xmlns:a16="http://schemas.microsoft.com/office/drawing/2014/main" val="10000"/>
                  </a:ext>
                </a:extLst>
              </a:tr>
              <a:tr h="338328">
                <a:tc>
                  <a:txBody>
                    <a:bodyPr/>
                    <a:lstStyle/>
                    <a:p>
                      <a:r>
                        <a:rPr sz="1100" b="0">
                          <a:solidFill>
                            <a:srgbClr val="000000"/>
                          </a:solidFill>
                          <a:latin typeface="Calibri"/>
                        </a:rPr>
                        <a:t>billing settlement (declared)</a:t>
                      </a:r>
                    </a:p>
                  </a:txBody>
                  <a:tcPr>
                    <a:solidFill>
                      <a:srgbClr val="FFFFFF"/>
                    </a:solidFill>
                  </a:tcPr>
                </a:tc>
                <a:tc>
                  <a:txBody>
                    <a:bodyPr/>
                    <a:lstStyle/>
                    <a:p>
                      <a:r>
                        <a:rPr sz="1100" b="0">
                          <a:solidFill>
                            <a:srgbClr val="000000"/>
                          </a:solidFill>
                          <a:latin typeface="Calibri"/>
                        </a:rPr>
                        <a:t>1.000</a:t>
                      </a:r>
                    </a:p>
                  </a:txBody>
                  <a:tcPr>
                    <a:solidFill>
                      <a:srgbClr val="FFFFFF"/>
                    </a:solidFill>
                  </a:tcPr>
                </a:tc>
                <a:tc>
                  <a:txBody>
                    <a:bodyPr/>
                    <a:lstStyle/>
                    <a:p>
                      <a:r>
                        <a:rPr sz="1100" b="0">
                          <a:solidFill>
                            <a:srgbClr val="000000"/>
                          </a:solidFill>
                          <a:latin typeface="Calibri"/>
                        </a:rPr>
                        <a:t>7/7</a:t>
                      </a:r>
                    </a:p>
                  </a:txBody>
                  <a:tcPr>
                    <a:solidFill>
                      <a:srgbClr val="FFFFFF"/>
                    </a:solidFill>
                  </a:tcPr>
                </a:tc>
                <a:tc>
                  <a:txBody>
                    <a:bodyPr/>
                    <a:lstStyle/>
                    <a:p>
                      <a:r>
                        <a:rPr sz="1100" b="0">
                          <a:solidFill>
                            <a:srgbClr val="000000"/>
                          </a:solidFill>
                          <a:latin typeface="Calibri"/>
                        </a:rPr>
                        <a:t>—</a:t>
                      </a:r>
                    </a:p>
                  </a:txBody>
                  <a:tcPr>
                    <a:solidFill>
                      <a:srgbClr val="FFFFFF"/>
                    </a:solidFill>
                  </a:tcPr>
                </a:tc>
                <a:tc>
                  <a:txBody>
                    <a:bodyPr/>
                    <a:lstStyle/>
                    <a:p>
                      <a:r>
                        <a:rPr sz="1100" b="0">
                          <a:solidFill>
                            <a:srgbClr val="000000"/>
                          </a:solidFill>
                          <a:latin typeface="Calibri"/>
                        </a:rPr>
                        <a:t>365 d</a:t>
                      </a:r>
                    </a:p>
                  </a:txBody>
                  <a:tcPr>
                    <a:solidFill>
                      <a:srgbClr val="FFFFFF"/>
                    </a:solidFill>
                  </a:tcPr>
                </a:tc>
                <a:tc>
                  <a:txBody>
                    <a:bodyPr/>
                    <a:lstStyle/>
                    <a:p>
                      <a:r>
                        <a:rPr sz="1100" b="0">
                          <a:solidFill>
                            <a:srgbClr val="000000"/>
                          </a:solidFill>
                          <a:latin typeface="Calibri"/>
                        </a:rPr>
                        <a:t>lawful</a:t>
                      </a:r>
                    </a:p>
                  </a:txBody>
                  <a:tcPr>
                    <a:solidFill>
                      <a:srgbClr val="FFFFFF"/>
                    </a:solidFill>
                  </a:tcPr>
                </a:tc>
                <a:extLst>
                  <a:ext uri="{0D108BD9-81ED-4DB2-BD59-A6C34878D82A}">
                    <a16:rowId xmlns:a16="http://schemas.microsoft.com/office/drawing/2014/main" val="10001"/>
                  </a:ext>
                </a:extLst>
              </a:tr>
              <a:tr h="338328">
                <a:tc>
                  <a:txBody>
                    <a:bodyPr/>
                    <a:lstStyle/>
                    <a:p>
                      <a:r>
                        <a:rPr sz="1100" b="0">
                          <a:solidFill>
                            <a:srgbClr val="000000"/>
                          </a:solidFill>
                          <a:latin typeface="Calibri"/>
                        </a:rPr>
                        <a:t>care coordination</a:t>
                      </a:r>
                    </a:p>
                  </a:txBody>
                  <a:tcPr>
                    <a:solidFill>
                      <a:srgbClr val="FFFFFF"/>
                    </a:solidFill>
                  </a:tcPr>
                </a:tc>
                <a:tc>
                  <a:txBody>
                    <a:bodyPr/>
                    <a:lstStyle/>
                    <a:p>
                      <a:r>
                        <a:rPr sz="1100" b="0">
                          <a:solidFill>
                            <a:srgbClr val="000000"/>
                          </a:solidFill>
                          <a:latin typeface="Calibri"/>
                        </a:rPr>
                        <a:t>0.786</a:t>
                      </a:r>
                    </a:p>
                  </a:txBody>
                  <a:tcPr>
                    <a:solidFill>
                      <a:srgbClr val="FFFFFF"/>
                    </a:solidFill>
                  </a:tcPr>
                </a:tc>
                <a:tc>
                  <a:txBody>
                    <a:bodyPr/>
                    <a:lstStyle/>
                    <a:p>
                      <a:r>
                        <a:rPr sz="1100" b="0">
                          <a:solidFill>
                            <a:srgbClr val="000000"/>
                          </a:solidFill>
                          <a:latin typeface="Calibri"/>
                        </a:rPr>
                        <a:t>5/7</a:t>
                      </a:r>
                    </a:p>
                  </a:txBody>
                  <a:tcPr>
                    <a:solidFill>
                      <a:srgbClr val="FFFFFF"/>
                    </a:solidFill>
                  </a:tcPr>
                </a:tc>
                <a:tc>
                  <a:txBody>
                    <a:bodyPr/>
                    <a:lstStyle/>
                    <a:p>
                      <a:r>
                        <a:rPr sz="1100" b="0">
                          <a:solidFill>
                            <a:srgbClr val="000000"/>
                          </a:solidFill>
                          <a:latin typeface="Calibri"/>
                        </a:rPr>
                        <a:t>DM-01, NT-01</a:t>
                      </a:r>
                    </a:p>
                  </a:txBody>
                  <a:tcPr>
                    <a:solidFill>
                      <a:srgbClr val="FFFFFF"/>
                    </a:solidFill>
                  </a:tcPr>
                </a:tc>
                <a:tc>
                  <a:txBody>
                    <a:bodyPr/>
                    <a:lstStyle/>
                    <a:p>
                      <a:r>
                        <a:rPr sz="1100" b="0">
                          <a:solidFill>
                            <a:srgbClr val="000000"/>
                          </a:solidFill>
                          <a:latin typeface="Calibri"/>
                        </a:rPr>
                        <a:t>90 d</a:t>
                      </a:r>
                    </a:p>
                  </a:txBody>
                  <a:tcPr>
                    <a:solidFill>
                      <a:srgbClr val="FFFFFF"/>
                    </a:solidFill>
                  </a:tcPr>
                </a:tc>
                <a:tc>
                  <a:txBody>
                    <a:bodyPr/>
                    <a:lstStyle/>
                    <a:p>
                      <a:r>
                        <a:rPr sz="1100" b="0">
                          <a:solidFill>
                            <a:srgbClr val="000000"/>
                          </a:solidFill>
                          <a:latin typeface="Calibri"/>
                        </a:rPr>
                        <a:t>not lawful: out of scope: financial</a:t>
                      </a:r>
                    </a:p>
                  </a:txBody>
                  <a:tcPr>
                    <a:solidFill>
                      <a:srgbClr val="FFFFFF"/>
                    </a:solidFill>
                  </a:tcPr>
                </a:tc>
                <a:extLst>
                  <a:ext uri="{0D108BD9-81ED-4DB2-BD59-A6C34878D82A}">
                    <a16:rowId xmlns:a16="http://schemas.microsoft.com/office/drawing/2014/main" val="10002"/>
                  </a:ext>
                </a:extLst>
              </a:tr>
              <a:tr h="338328">
                <a:tc>
                  <a:txBody>
                    <a:bodyPr/>
                    <a:lstStyle/>
                    <a:p>
                      <a:r>
                        <a:rPr sz="1100" b="0">
                          <a:solidFill>
                            <a:srgbClr val="000000"/>
                          </a:solidFill>
                          <a:latin typeface="Calibri"/>
                        </a:rPr>
                        <a:t>patient registration</a:t>
                      </a:r>
                    </a:p>
                  </a:txBody>
                  <a:tcPr>
                    <a:solidFill>
                      <a:srgbClr val="FFFFFF"/>
                    </a:solidFill>
                  </a:tcPr>
                </a:tc>
                <a:tc>
                  <a:txBody>
                    <a:bodyPr/>
                    <a:lstStyle/>
                    <a:p>
                      <a:r>
                        <a:rPr sz="1100" b="0">
                          <a:solidFill>
                            <a:srgbClr val="000000"/>
                          </a:solidFill>
                          <a:latin typeface="Calibri"/>
                        </a:rPr>
                        <a:t>0.786</a:t>
                      </a:r>
                    </a:p>
                  </a:txBody>
                  <a:tcPr>
                    <a:solidFill>
                      <a:srgbClr val="FFFFFF"/>
                    </a:solidFill>
                  </a:tcPr>
                </a:tc>
                <a:tc>
                  <a:txBody>
                    <a:bodyPr/>
                    <a:lstStyle/>
                    <a:p>
                      <a:r>
                        <a:rPr sz="1100" b="0">
                          <a:solidFill>
                            <a:srgbClr val="000000"/>
                          </a:solidFill>
                          <a:latin typeface="Calibri"/>
                        </a:rPr>
                        <a:t>5/7</a:t>
                      </a:r>
                    </a:p>
                  </a:txBody>
                  <a:tcPr>
                    <a:solidFill>
                      <a:srgbClr val="FFFFFF"/>
                    </a:solidFill>
                  </a:tcPr>
                </a:tc>
                <a:tc>
                  <a:txBody>
                    <a:bodyPr/>
                    <a:lstStyle/>
                    <a:p>
                      <a:r>
                        <a:rPr sz="1100" b="0">
                          <a:solidFill>
                            <a:srgbClr val="000000"/>
                          </a:solidFill>
                          <a:latin typeface="Calibri"/>
                        </a:rPr>
                        <a:t>DM-01, NT-01</a:t>
                      </a:r>
                    </a:p>
                  </a:txBody>
                  <a:tcPr>
                    <a:solidFill>
                      <a:srgbClr val="FFFFFF"/>
                    </a:solidFill>
                  </a:tcPr>
                </a:tc>
                <a:tc>
                  <a:txBody>
                    <a:bodyPr/>
                    <a:lstStyle/>
                    <a:p>
                      <a:r>
                        <a:rPr sz="1100" b="0">
                          <a:solidFill>
                            <a:srgbClr val="000000"/>
                          </a:solidFill>
                          <a:latin typeface="Calibri"/>
                        </a:rPr>
                        <a:t>180 d</a:t>
                      </a:r>
                    </a:p>
                  </a:txBody>
                  <a:tcPr>
                    <a:solidFill>
                      <a:srgbClr val="FFFFFF"/>
                    </a:solidFill>
                  </a:tcPr>
                </a:tc>
                <a:tc>
                  <a:txBody>
                    <a:bodyPr/>
                    <a:lstStyle/>
                    <a:p>
                      <a:r>
                        <a:rPr sz="1100" b="0">
                          <a:solidFill>
                            <a:srgbClr val="000000"/>
                          </a:solidFill>
                          <a:latin typeface="Calibri"/>
                        </a:rPr>
                        <a:t>not lawful: out of scope: financial</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40080" y="4114800"/>
            <a:ext cx="10881360" cy="1828800"/>
          </a:xfrm>
          <a:prstGeom prst="rect">
            <a:avLst/>
          </a:prstGeom>
          <a:noFill/>
        </p:spPr>
        <p:txBody>
          <a:bodyPr wrap="square">
            <a:spAutoFit/>
          </a:bodyPr>
          <a:lstStyle/>
          <a:p>
            <a:r>
              <a:rPr sz="1100" b="0">
                <a:solidFill>
                  <a:srgbClr val="000000"/>
                </a:solidFill>
                <a:latin typeface="Calibri"/>
              </a:rPr>
              <a:t>What a register with no patient in it still answers, from totals alone: digital receipts rose from 59% to 71% of cash, card and online; outpatient and inpatient split 48% / 52%; Monday is the busiest weekday; 105 of 105 weekly totals reconcile with the sum of their days.</a:t>
            </a:r>
          </a:p>
          <a:p>
            <a:r>
              <a:rPr sz="1100" b="0">
                <a:solidFill>
                  <a:srgbClr val="000000"/>
                </a:solidFill>
                <a:latin typeface="Calibri"/>
              </a:rPr>
              <a:t>Four questions need a person, and the policy gates them: none can be answered here, since all four need fields this export does not carry, and “Which diagnoses drive our costs” is refused outright under its own purpose (clinical is out of scope for billing). The tasks' 18 fields are 1 in this export, so every technique that reads only what a task needs ties at 1.000; the ranking rests on the synthetic, portal and public runs.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Challenges &amp; Remaining Work</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Challenges faced and solutions:</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No live HIS access — built a login-gated mock portal as a system we do not control (form login, session cookie, paginated HTML, robots.txt), so the browser layer is real and transfers as selectors + aliases.</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Measuring cost honestly — wall-clock is hardware-dependent, so deterministic metrics lead (fields, page loads, excess ratio) and coverage guards against pulling nothing.</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Trusting our own claims — the manifest is scored against what the run produced (export audit, observed transport, harness-written audit log, retention sidecar), not against the declaration; and the real-data procedure was rehearsed on a hospital-shaped export before any real data existed (four defects found), then run on a public export we had never seen (five more) — each fixed and pinned by a test.</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Public models without paying — the recorder is paced, budgeted per day and breadth-first, and a model enters the tables after one pass; a free-tier flagship served only one or two calls a day, so it was dropped; the Claude models were recorded through a subscription's command line (headless, our brief as the whole system prompt, no tools, effort pinned), no API credit spent. The model never sees a patient value, so the recordings replay on the real data unchanged.</a:t>
            </a:r>
            <a:endParaRPr lang="en-US" sz="1500" dirty="0"/>
          </a:p>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Remaining work (ledger at 99%, PLAN.md §5):</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Nothing depends on patient-level hospital data: the evaluation stands on synthetic data, the live portal and a public export we never saw, and the hospital's own collection register (real, aggregate, no patient in it) has been through the same pipeline. If a patient-level export is released, it is one column map and the same pipeline, and its slide rebuilds itself. Report: eight chapters and five appendices written, section references verified against the Gazette text, every table generated from the results and checked in CI. Manuscript: a complete first draft, to be fitted to the venue chosen with the guide — the one remaining point on the ledger.</a:t>
            </a:r>
            <a:endParaRPr lang="en-US" sz="1500" dirty="0"/>
          </a:p>
          <a:p>
            <a:pPr marL="177800" indent="-177800">
              <a:spcAft>
                <a:spcPts val="800"/>
              </a:spcAft>
              <a:buSzPct val="100000"/>
              <a:buChar char="•"/>
            </a:pPr>
            <a:r>
              <a:rPr lang="en-US" sz="1500" b="1" dirty="0">
                <a:solidFill>
                  <a:srgbClr val="1D2F82"/>
                </a:solidFill>
                <a:latin typeface="Calibri" pitchFamily="34" charset="0"/>
                <a:ea typeface="Calibri" pitchFamily="34" charset="-122"/>
                <a:cs typeface="Calibri" pitchFamily="34" charset="-120"/>
              </a:rPr>
              <a:t>Timeline for completion by Review-III (28.10.2026):</a:t>
            </a:r>
            <a:endParaRPr lang="en-US" sz="1500" dirty="0"/>
          </a:p>
          <a:p>
            <a:pPr marL="355600" lvl="1" indent="-177800">
              <a:spcAft>
                <a:spcPts val="400"/>
              </a:spcAft>
              <a:buSzPct val="100000"/>
              <a:buChar char="•"/>
            </a:pPr>
            <a:r>
              <a:rPr lang="en-US" sz="1200" b="0" dirty="0">
                <a:solidFill>
                  <a:srgbClr val="000000"/>
                </a:solidFill>
                <a:latin typeface="Calibri" pitchFamily="34" charset="0"/>
                <a:ea typeface="Calibri" pitchFamily="34" charset="-122"/>
                <a:cs typeface="Calibri" pitchFamily="34" charset="-120"/>
              </a:rPr>
              <a:t>Week 1: venue chosen with the guide; the manuscript to its template and page budget. Weeks 2–3: the report assembled — front matter, cross-references, a final read for length. Week 4: every result regenerated from a clean checkout, rehearsal.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 R. N. R. Ruchitaa, S. Nandhakumar Raj, and M. Vijayalakshmi, "Web Scrapping Tools and Techniques: A Brief Survey," in Proc. 2023 4th Int. Conf. Innovative Trends in Information Technology (ICITIIT), 2023.</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[2] W. Huang et al., "AutoScraper: A Progressive Understanding Web Agent for Web Scraper Generation," in Proc. 2024 Conf. Empirical Methods in Natural Language Processing (EMNLP), Miami, FL, USA, 2024, pp. 2371–2389.</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[3] A. Mansour, K. W. Alshaer, and M. Elsaban, "AXE: Low-Cost Cross-Domain Web Structured Information Extraction," arXiv:2602.01838, 2026.</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[4] A. Bohra et al., "WebLists: Extracting Structured Information from Complex Interactive Websites Using Executable LLM Agents," arXiv:2504.12682, 2025.</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[5] S. Wang, J. Qiu, W. Zhang, and C. He, "Co-Scraper: Query-Aware DOM Pruning and Reusable Scraper Synthesis for Lightweight Web Data Extraction," arXiv:2606.14821, 2026.</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[6] R. Gundelach, M. Mühlhauser, and D. Herrmann, "Detecting Bot Detection: Prevalence, Techniques, and Implications for Web Measurement Research," arXiv:2606.14525, 2025.</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[7] T. Kim, K. Bock, C. Luo, A. Liswood, C. Poroslay, and E. Wenger, "Scrapers Selectively Respect robots.txt Directives: Evidence From a Large-Scale Empirical Study," in Proc. 2025 ACM Internet Measurement Conf. (IMC), Madison, WI, USA, 2025, pp. 541–557, doi:10.1145/3730567.3764471.</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[8] D. A. Purnawan and K. Surendro, "Building Enterprise Architecture for Hospital Information System," in Proc. 2016 4th Int. Conf. Information and Communication Technology (ICoICT), Bandung, Indonesia, 2016.</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[9] C. N. Vorisek, M. Lehne, S. A. I. Klopfenstein, P. J. Mayer, A. Bartschke, T. Haese, and S. Thun, "Fast Healthcare Interoperability Resources (FHIR) for Interoperability in Health Research: Systematic Review," JMIR Medical Informatics, vol. 10, no. 7, art. e35724, 2022, doi:10.2196/35724.</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[10] V. Khanna and A. Kotwal, "Examining the Significance of the Digital Personal Data Protection Act, 2023 in the Context of the Healthcare Industry: A Comprehensive Analysis," Discover Public Health, vol. 22, art. 381, 2025, doi:10.1186/s12982-025-00757-6.</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[11] A. Sood, D. Mishra, V. Surya, H. Singh, R. Sundaresan, D. Pal, R. Dharmaraju, R. Satish, S. Mishra, N. A. Chavan, S. Mondal, P. Duggal, and V. K. Iyer, "Challenges and Recommendations for Enhancing Digital Data Protection in the Indian Medical Research and Healthcare Sector," npj Digital Medicine, vol. 8, art. 48, 2025, doi:10.1038/s41746-025-01448-x.</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[12] M. A. Brown, A. Gruen, G. Maldoff, S. Messing, Z. Sanderson, and M. Zimmer, "Web Scraping for Research: Legal, Ethical, Institutional, and Scientific Considerations," Big Data &amp; Society, 2025.</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[13] The Digital Personal Data Protection Act, 2023, Act No. 22 of 2023, The Gazette of India, 11 Aug. 2023.</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[14] C. V. Cook, "Tokenization techniques for privacy-preserving healthcare data: tokenization nuts and bolts," Frontiers in Drug Safety and Regulation, vol. 5, art. 1599217, 2025, doi:10.3389/fdsfr.2025.1599217.</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[15] M. A. de Carvalho Junior and P. Bandiera-Paiva, "Health Information System Role-Based Access Control Current Security Trends and Challenges," Journal of Healthcare Engineering, vol. 2018, art. 6510249, 2018, doi:10.1155/2018/6510249.</a:t>
            </a:r>
            <a:endParaRPr lang="en-US" sz="1600" dirty="0"/>
          </a:p>
          <a:p>
            <a:pPr marL="177800" indent="-177800">
              <a:spcAft>
                <a:spcPts val="800"/>
              </a:spcAft>
              <a:buSzPct val="100000"/>
              <a:buChar char="•"/>
            </a:pPr>
            <a:r>
              <a:rPr lang="en-US" sz="1050" dirty="0">
                <a:solidFill>
                  <a:srgbClr val="000000"/>
                </a:solidFill>
                <a:latin typeface="Calibri" pitchFamily="34" charset="0"/>
                <a:ea typeface="Calibri" pitchFamily="34" charset="-122"/>
                <a:cs typeface="Calibri" pitchFamily="34" charset="-120"/>
              </a:rPr>
              <a:t>[16] A. Rule, M. F. Chiang, and M. R. Hribar, "Using electronic health record audit logs to study clinical activity: a systematic review of aims, measures, and methods," Journal of the American Medical Informatics Association, vol. 27, no. 3, pp. 480–490, 2020, doi:10.1093/jamia/ocz196.</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4" name="Text 1"/>
          <p:cNvSpPr txBox="1"/>
          <p:nvPr/>
        </p:nvSpPr>
        <p:spPr>
          <a:xfrm>
            <a:off x="548640" y="2743200"/>
            <a:ext cx="11091672" cy="914400"/>
          </a:xfrm>
          <a:prstGeom prst="rect">
            <a:avLst/>
          </a:prstGeom>
          <a:noFill/>
          <a:ln/>
        </p:spPr>
        <p:txBody>
          <a:bodyPr wrap="square" lIns="0" tIns="0" rIns="0" bIns="0" rtlCol="0" anchor="ctr"/>
          <a:lstStyle/>
          <a:p>
            <a:pPr marL="0" indent="0" algn="ctr">
              <a:buNone/>
            </a:pPr>
            <a:r>
              <a:rPr lang="en-US" sz="4000" b="1" dirty="0">
                <a:solidFill>
                  <a:srgbClr val="1D2F82"/>
                </a:solidFill>
                <a:latin typeface="Calibri" pitchFamily="34" charset="0"/>
                <a:ea typeface="Calibri" pitchFamily="34" charset="-122"/>
                <a:cs typeface="Calibri" pitchFamily="34" charset="-120"/>
              </a:rPr>
              <a:t>Thank You</a:t>
            </a:r>
            <a:endParaRPr lang="en-US" sz="4000" dirty="0"/>
          </a:p>
        </p:txBody>
      </p:sp>
      <p:sp>
        <p:nvSpPr>
          <p:cNvPr id="5" name="Text 2"/>
          <p:cNvSpPr txBox="1"/>
          <p:nvPr/>
        </p:nvSpPr>
        <p:spPr>
          <a:xfrm>
            <a:off x="548640" y="3749040"/>
            <a:ext cx="11091672" cy="36576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Project-I (2026)  ·  SENSE  ·  VIT Chennai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5523</Words>
  <Application>Microsoft Office PowerPoint</Application>
  <PresentationFormat>Widescreen</PresentationFormat>
  <Paragraphs>364</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Avanindra Singh Kushwah</cp:lastModifiedBy>
  <cp:revision>4</cp:revision>
  <dcterms:created xsi:type="dcterms:W3CDTF">2026-08-27T09:57:11Z</dcterms:created>
  <dcterms:modified xsi:type="dcterms:W3CDTF">2026-09-30T09:19:55Z</dcterms:modified>
</cp:coreProperties>
</file>