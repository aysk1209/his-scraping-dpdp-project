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70" r:id="rId2"/>
    <p:sldId id="259" r:id="rId3"/>
    <p:sldId id="260" r:id="rId4"/>
    <p:sldId id="267" r:id="rId5"/>
    <p:sldId id="261" r:id="rId6"/>
    <p:sldId id="271" r:id="rId7"/>
    <p:sldId id="272" r:id="rId8"/>
    <p:sldId id="262" r:id="rId9"/>
    <p:sldId id="263" r:id="rId10"/>
    <p:sldId id="264" r:id="rId11"/>
    <p:sldId id="269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55647-AA68-A712-66DB-85825EA9D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E7569-18CF-F6AF-ECC5-6B396D9BE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BD70-93D6-8BF5-DEAE-924FF57B2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09ED8-EDD5-A8AE-9C9D-23A0A5E5A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3355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1867FB-CA76-9BBB-DBAE-E787CCF3D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276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highly sensitive personal data, yet the techniques used to extract data from them are judged on speed, robustness and coverage — never on data-protection compliance.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DPDP Act 2023, compliance is treated as a legal afterthought bolted on after extraction, not a property the technique is designed and measured against.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platforms are heterogeneous and frequently updated; staff adapt to them with little support, and every extraction touches identifiers, clinical, contact and financial data of real patients.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makes lawful basis, purpose limitation, minimisation, storage limitation, safeguards, notice and accountability enforceable obligations — each one a checkable property of an extraction run.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/ wrapper scrapers (fast, brittle), headless-browser automation (robust, expensive), and LLM-driven extraction agents (cross-domain, but evaluated on coverage alone).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guidance exists only as qualitative checklists; no technique reports a compliance score.</a:t>
            </a:r>
          </a:p>
          <a:p>
            <a:pPr marL="177800" indent="-177800">
              <a:spcBef>
                <a:spcPts val="700"/>
              </a:spcBef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no technique is scored on compliance, techniques cannot be compared on it, and "compliant" stays an assertion rather than a measurement.</a:t>
            </a:r>
          </a:p>
          <a:p>
            <a:pPr marL="457200" lvl="1" indent="-228600">
              <a:spcAft>
                <a:spcPts val="500"/>
              </a:spcAft>
              <a:buSzPct val="90000"/>
              <a:buChar char="–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gap: make DPDP compliance a benchmarkable, per-technique property — scored on identical rules, paired with cost, and verified against what the extraction actually produces.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Ruchitaa et al., 2023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Tools and Techniques: A Brief Survey — ICITIIT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/ taxonomy of scraping tools and methods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catalogue; no domain-specific (HIS) use and no compliance axis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Huang et al., 2024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AutoScraper: A Progressive Understanding Web Agent — EMNLP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LLM agent using HTML hierarchy + cross-page similarity; executability metric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SOTA scraper generation, but evaluated only on executability / coverage — no data protection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059076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Mansour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AXE: Low-Cost Cross-Domain Web Structured Information Extraction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DOM-tree pruning + Grounded XPath Resolution feeding a 0.6B LLM; zero-shot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88.1% on SWDE at low cost; no compliance modelling, not applied to credentialed domains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614442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Bohra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WebLists: Structured Extraction from Interactive Sites (BardeenAgent)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200-task benchmark; agent converts execution into replayable programs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31%→66%; regulated / enterprise contexts and privacy risk left unaddressed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82583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Wang et al., 2026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Co-Scraper: Query-Aware DOM Pruning and Reusable Scraper Synthesis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query-aware pruning + extraction-strategy induction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94.78% SWDE, ~90% reuse; optimises efficiency only — no purpose-limitation notion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25146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Gundelach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Detecting Bot Detection: Prevalence, Techniques, Implications — arXiv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review (2020–25) of bot-detection at top security / web venues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the detection landscape; authenticated / credentialed portal scraping under-studied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469853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[1]–[6] here; [7]–[12] on the next slide. Full IEEE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b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 IMC,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Scrapers Selectively Respect robots.txt Directives — large-scale study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Internet-scale measurement of robots.txt compliance in the wild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observed after the fact, never designed into the technique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Purnawan &amp; Surendro, 2016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Enterprise Architecture for Hospital Information System — ICoICT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Enterprise-architecture modelling of HIS structure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Useful layer model; predates LLM extraction, no data-egress / compliance view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999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review,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Critical Review of Health Data Interoperability Standards: FHIR, HL7 and Beyond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review of HL7 / FHIR and related standards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≠ compliant extraction; standards are silent on lawful scraping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9310596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 Public Health,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Significance of the DPDP Act 2023 for the Healthcare Industry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Doctrinal analysis of DPDP obligations for healthcare entities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analysis only; no technical or measurable operationalisation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68587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npj Digital Medicine,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Data Protection in Indian Medical Research and Healthcare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Synthesis of challenges and recommendations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Recommendations not translated into checkable controls on data-collection pipelines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6751537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 et al., 2025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Scraping for Research: Legal, Ethical, Institutional and Scientific Considerations — Big Data &amp; Society</a:t>
                      </a:r>
                      <a:endParaRPr lang="en-US" sz="10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Multi-dimensional qualitative framework (contract, CFAA, IP, privacy, IRB, validity)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checklist, not a scored per-technique benchmark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605250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 from previous slide. Full IEEE reference list on the References slide.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DPDP-compliance benchmarking pipeline: every extraction technique is scored on the same seven principle-based rules and metered for cost, so compliance is a measured property of a technique.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policy table — three non-nested purposes, roles derived from purposes and interoperability artefacts — read by three blocks: it scores the extraction, gates the HL7/FHIR export, and gates what a staff assistant may say. One project, not two.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(working blocks):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— any source behind one HISDataSource interface: synthetic records, a login-gated portal scraped by a real browser, or a hospital export read through a column map.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 — a catalogue maps field → HIS layer → DPDP category; a module's layer is inferred from its field names, never from its label. Extraction — a technique pulls and declares a manifest; records are scored by category, never by value.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— 7 rules → 0–1 score with findings; benchmark on compliance × cost (excess ratio, coverage, real page loads); one pull re-judged under every purpose. Export — pseudonymise when declared → HL7 v2 / FHIR → audit the artefacts for raw identifiers.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extraction techniques, the compliance framework and benchmark, interop export with audit, the rule-based staff assistant, a mock portal fixture, a dataset adapter for the hospital export.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deployment; live HIS access (the adapter is built and waiting); an LLM agent — the assistant has no model and no training, by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— Rules, Scoring &amp; Extraction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executable DPDP rules, each a distinct check, each naming its principle: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DM-01 minimisation (extracted categories ⊆ purpose scope) · LB-01 lawful basis (declared, recognised, referenced) · SL-01 storage limitation (retention ≤ purpose ceiling + deletion mechanism) · SS-01 safeguards (TLS, at-rest, access control, pseudonymisation when required).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PL-01 purpose limitation (specified, recognised, onward uses assessed for compatibility) · NT-01 notice (recorded, covers the purpose) · AC-01 accountability (audit log, named party, processing record).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purposes, pairwise non-nested — "out of scope" means not necessary for this purpose: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care_coordination: clinical, not financial/contact, 90 d · billing_settlement: financial + contact, not clinical, 365 d · patient_registration: contact + demographics, neither clinical nor financial, 180 d.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techniques scored on identical terms: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compliance-aware (ours) — pulls what the purpose makes necessary, full manifest, pseudonymises. Morality model — pulls what does not feel private, refuses what does, whatever the purpose; declares by instinct. Unconstrained baseline — every field of every module, no manifest.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the role gate: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ratio = fields pulled ÷ fields required — both a cost and the minimisation overreach DM-01 penalises; coverage guards against pulling nothing; page loads come from the real browser.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role's scope = (categories lawful under its purposes) ∩ (categories in the HL7/FHIR/DICOM/11073 artefacts it handles); authorise() checks PL-01 → DM-01 → SS-01 and names the rule when it declines.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40" name="Tools Table"/>
          <p:cNvGraphicFramePr>
            <a:graphicFrameLocks noGrp="1"/>
          </p:cNvGraphicFramePr>
          <p:nvPr/>
        </p:nvGraphicFramePr>
        <p:xfrm>
          <a:off x="548640" y="1230000"/>
          <a:ext cx="11091672" cy="3520000"/>
        </p:xfrm>
        <a:graphic>
          <a:graphicData uri="http://schemas.openxmlformats.org/drawingml/2006/table">
            <a:tbl>
              <a:tblPr/>
              <a:tblGrid>
                <a:gridCol w="2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91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is used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choice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3.10+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entire pipeline — data, extraction, rules, benchmark, export, assistant, portal fixture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for research and scraping; one language end to end.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72836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v2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Manifest, rules, per-layer schemas, benchmark and purpose-matrix artefacts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Malformed manifests fail at the boundary; artefacts serialise for the report.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254129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Playwright (Chromium)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Tier-2 scraping of the login-gated portal: form login, crawl, tables, pagination; counts page loads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real browser gives real cost; transfers to a real portal as selectors + label aliases.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804901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Flask 3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mock HIS portal — a fixture built as a system we do not control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dependency; sessions and templating built in; nothing downstream depends on it.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648842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Faker · pandas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records; CSV/Excel export reader (dataset adapter, column-mapped)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real patients; the hospital export becomes a column map, not new code.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821219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 tests: rules, purposes, roles, techniques, adapters, shaping, assistant, browser-driven Tier-2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rules and gates are the contribution; each is tested in both directions.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8124037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HL7 v2 · FHIR R4 (hand-rolled)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shaping per layer incl. AuditEvent; DICOM / 11073 stubs</a:t>
                      </a:r>
                      <a:endParaRPr lang="en-US" sz="10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vendor libraries; shaping adds nothing that was not extracted.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979897"/>
                  </a:ext>
                </a:extLst>
              </a:tr>
            </a:tbl>
          </a:graphicData>
        </a:graphic>
      </p:graphicFrame>
      <p:sp>
        <p:nvSpPr>
          <p:cNvPr id="41" name="Text 41"/>
          <p:cNvSpPr txBox="1"/>
          <p:nvPr/>
        </p:nvSpPr>
        <p:spPr>
          <a:xfrm>
            <a:off x="640080" y="4900000"/>
            <a:ext cx="109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80"/>
              </a:spcAft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runs: everything executes locally — the portal on localhost, the browser headless, all data synthetic. One command (scripts/run_pipeline.py) runs the six stages in 30–40 s. No real hospital system or real patient data is touched; the adapter for the real export is built and waiting.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&amp; Timeline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(94 of 100 on the team's ledger — everything not requiring live access):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Compliance: 7 rules · 3 non-nested purposes · role gate derived from purposes × interop artefacts · purpose matrix · pseudonymisation on export with an audit of what actually left.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Extraction: one adapter interface · three techniques · cost metering · Tier-2 Playwright scraper with a crawl-discovered navigation map · dataset adapter with column map · label→field aliases · mock portal.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Interop: five-layer catalogue and schemas · HL7 v2 (ADT/ORM/ORU/DFT) · FHIR (10 resources incl. AuditEvent). Assistant: 13 functions, three roles, gate before collecting, steps on discovered pages.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chain, live, in 30–40 s. 219 passing tests.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 and publication manuscript (the compliance chapters need no real data). Real hospital dataset → a column map. Section-number mapping of each rule to the Act, at report time as planned.</a:t>
            </a:r>
          </a:p>
          <a:p>
            <a:pPr marL="177800" indent="-177800">
              <a:spcBef>
                <a:spcPts val="600"/>
              </a:spcBef>
              <a:spcAft>
                <a:spcPts val="250"/>
              </a:spcAft>
              <a:buSzPct val="100000"/>
              <a:buChar char="•"/>
            </a:pPr>
            <a:r>
              <a:rPr lang="en-US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to Review-III:</a:t>
            </a:r>
          </a:p>
          <a:p>
            <a:pPr marL="457200" lvl="1" indent="-228600">
              <a:spcAft>
                <a:spcPts val="360"/>
              </a:spcAft>
              <a:buSzPct val="90000"/>
              <a:buChar char="–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(now): the pipeline end to end · next: report drafting, real-data integration when the export arrives · Review-III: full report, manuscript, and results on real data beside the synthetic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0080" y="1200000"/>
            <a:ext cx="10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techniques, three extraction tasks, the same login-gated portal scraped by a real browser (30 records per module); every run scored on the identical seven rules; cost measured as real page loads.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differ only in how they treat personal data — the compliance-aware technique is not faster or cleverer, it asks what the purpose makes necessary and declares what it did.</a:t>
            </a:r>
          </a:p>
        </p:txBody>
      </p:sp>
      <p:graphicFrame>
        <p:nvGraphicFramePr>
          <p:cNvPr id="30" name="Benchmark Table"/>
          <p:cNvGraphicFramePr>
            <a:graphicFrameLocks noGrp="1"/>
          </p:cNvGraphicFramePr>
          <p:nvPr/>
        </p:nvGraphicFramePr>
        <p:xfrm>
          <a:off x="548640" y="2250000"/>
          <a:ext cx="11091672" cy="2520000"/>
        </p:xfrm>
        <a:graphic>
          <a:graphicData uri="http://schemas.openxmlformats.org/drawingml/2006/table">
            <a:tbl>
              <a:tblPr/>
              <a:tblGrid>
                <a:gridCol w="27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91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compliance-aware (ours)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 ·  7 / 7 rules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 1.00 · coverage 1.00 · ~100 pages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Pulls what the purpose makes necessary; full manifest; identifiers pseudonymised on export.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067795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morality (privacy by instinct)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0.484  ·  2 / 7 rules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 0.85 · coverage 0.85 · ~100 pages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Refuses what feels private (names, contact, money) whatever the purpose; takes MRN and DOB freely; consent assumed, no notice, no retention.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525431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unconstrained (baseline)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D2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  ·  0 / 7 rules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excess 7.15 · coverage 1.00 · ~480 pages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field of every module; no purpose, no manifest, TLS only.</a:t>
                      </a:r>
                      <a:endParaRPr lang="en-US" sz="11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2328240"/>
                  </a:ext>
                </a:extLst>
              </a:tr>
            </a:tbl>
          </a:graphicData>
        </a:graphic>
      </p:graphicFrame>
      <p:sp>
        <p:nvSpPr>
          <p:cNvPr id="22" name="Text 22"/>
          <p:cNvSpPr txBox="1"/>
          <p:nvPr/>
        </p:nvSpPr>
        <p:spPr>
          <a:xfrm>
            <a:off x="640080" y="4950000"/>
            <a:ext cx="109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loads about five times the pages for the same coverage: its surplus is exactly the overreach DM-01 penalises, so compliance and cost move together rather than trading off.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morality model is the cheapest — and the cheapness is its failure: coverage 0.85 because it refused a name and a phone number that an appointment reminder lawfully needs. Privacy by instinct fails in both directions; only a purpose-bound technique gets both right.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640080" y="1200000"/>
            <a:ext cx="109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extraction, judged under every purpose. Records, manifest and rules are identical down each row — only what the data was for changes. Compliance is a property of a pull and its purpose together.</a:t>
            </a:r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export is audited, not trusted: the compliance-aware manifest claims pseudonymisation; we searched what actually left for the raw identifiers.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246888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Extraction (care pull: 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416052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 of 120 ·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120 of 120 ·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The tokens in the export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344E8-FF77-B286-38F9-3CBB36A25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D85B9BF-6755-C963-22E2-175FD4533DFC}"/>
              </a:ext>
            </a:extLst>
          </p:cNvPr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C27DB9-0E08-CA8E-1475-DE17D83E42B3}"/>
              </a:ext>
            </a:extLst>
          </p:cNvPr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Discovery &amp; the Staff Assistant</a:t>
            </a:r>
            <a:endParaRPr lang="en-US" sz="2800" dirty="0"/>
          </a:p>
        </p:txBody>
      </p:sp>
      <p:pic>
        <p:nvPicPr>
          <p:cNvPr id="4" name="Image 0" descr="logo.png">
            <a:extLst>
              <a:ext uri="{FF2B5EF4-FFF2-40B4-BE49-F238E27FC236}">
                <a16:creationId xmlns:a16="http://schemas.microsoft.com/office/drawing/2014/main" id="{916227F1-668A-E5CE-03EE-FCFA4BA30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20" name="Text 20">
            <a:extLst>
              <a:ext uri="{FF2B5EF4-FFF2-40B4-BE49-F238E27FC236}">
                <a16:creationId xmlns:a16="http://schemas.microsoft.com/office/drawing/2014/main" id="{C10CA6AB-E420-29F4-8BB6-FDBE494F7F28}"/>
              </a:ext>
            </a:extLst>
          </p:cNvPr>
          <p:cNvSpPr txBox="1"/>
          <p:nvPr/>
        </p:nvSpPr>
        <p:spPr>
          <a:xfrm>
            <a:off x="640080" y="1200000"/>
            <a:ext cx="10900000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/>
            <a:r>
              <a:rPr lang="en-IN" sz="1400" dirty="0"/>
              <a:t>The scraper is never told the portal's layout. It crawls from the home page and infers each module's HIS layer from the field names it finds — the URL says "registration", the scraper concludes patient administration. Point it at a differently-named portal and the map re-derives itself.</a:t>
            </a:r>
          </a:p>
          <a:p>
            <a:pPr lvl="0"/>
            <a:r>
              <a:rPr lang="en-IN" sz="1400" dirty="0"/>
              <a:t>The assistant has no model. It recognises a fixed function, checks the role gate before asking for any detail, and places every step on the page the crawler found a minute earlier.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251460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4434840"/>
            <a:ext cx="10881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>
                <a:solidFill>
                  <a:srgbClr val="000000"/>
                </a:solidFill>
                <a:latin typeface="Calibri"/>
              </a:rPr>
              <a:t>The refusal comes from the same policy table that scored the benchmark. Nurse asking the same question is walked through it: [clinical_ehr / Condition / /m/clinical/].</a:t>
            </a:r>
          </a:p>
        </p:txBody>
      </p:sp>
    </p:spTree>
    <p:extLst>
      <p:ext uri="{BB962C8B-B14F-4D97-AF65-F5344CB8AC3E}">
        <p14:creationId xmlns:p14="http://schemas.microsoft.com/office/powerpoint/2010/main" val="1883206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230000"/>
            <a:ext cx="10881360" cy="45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"Scrapers Selectively Respect robots.txt Directives: Evidence From a Large-Scale Empirical Study," in Proc. 2025 ACM Internet Measurement Conf. (IMC),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"A Critical Review of Health Data Interoperability Standards: FHIR, HL7, and Beyond,"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"Examining the Significance of the Digital Personal Data Protection Act, 2023 in the Context of the Healthcare Industry: A Comprehensive Analysis," Discover Public Health,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"Challenges and Recommendations for Enhancing Digital Data Protection in the Indian Medical Research and Healthcare Sector," npj Digital Medicine, 2025.</a:t>
            </a:r>
          </a:p>
          <a:p>
            <a:pPr marL="228600" indent="-228600">
              <a:spcAft>
                <a:spcPts val="30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2577</Words>
  <Application>Microsoft Office PowerPoint</Application>
  <PresentationFormat>Widescreen</PresentationFormat>
  <Paragraphs>222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Avanindra Singh Kushwah</cp:lastModifiedBy>
  <cp:revision>8</cp:revision>
  <dcterms:created xsi:type="dcterms:W3CDTF">2026-08-27T09:57:11Z</dcterms:created>
  <dcterms:modified xsi:type="dcterms:W3CDTF">2026-09-09T04:56:42Z</dcterms:modified>
</cp:coreProperties>
</file>