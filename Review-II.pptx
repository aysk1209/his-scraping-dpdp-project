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8" r:id="rId19"/>
    <p:sldId id="269" r:id="rId20"/>
    <p:sldId id="261" r:id="rId7"/>
    <p:sldId id="262" r:id="rId8"/>
    <p:sldId id="263" r:id="rId9"/>
    <p:sldId id="264" r:id="rId10"/>
    <p:sldId id="270" r:id="rId21"/>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2012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your architecture / block diagram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your results here — graphs, tables, screenshots or outputs.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your results here — graphs, tables, screenshots or outputs.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914400"/>
          </a:xfrm>
          <a:prstGeom prst="rect">
            <a:avLst/>
          </a:prstGeom>
          <a:noFill/>
          <a:ln/>
        </p:spPr>
        <p:txBody>
          <a:bodyPr wrap="square" lIns="0" tIns="0" rIns="0" bIns="0" rtlCol="0" anchor="ctr"/>
          <a:lstStyle/>
          <a:p>
            <a:pPr marL="0" indent="0" algn="ctr">
              <a:buNone/>
            </a:pPr>
            <a:r>
              <a:rPr lang="en-US" sz="2600" b="1" dirty="0">
                <a:solidFill>
                  <a:srgbClr val="1D2F82"/>
                </a:solidFill>
                <a:latin typeface="Calibri" pitchFamily="34" charset="0"/>
                <a:ea typeface="Calibri" pitchFamily="34" charset="-122"/>
                <a:cs typeface="Calibri" pitchFamily="34" charset="-120"/>
              </a:rPr>
              <a:t>AI-Driven HIS Management Agent with DPDP-Compliant Web Scraping</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Avanindra (23BLC1089) · Ananya (23BLC1017)</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Manoj Kumar,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(40 Marks, 40%)</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75% Work Completion &amp; Implementation Progress.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12–15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Introduction and problem recap</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Detailed literature review — minimum 15 recent papers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System design &amp; architecture</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Implementation details — modules, algorithms, code</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Results &amp; analysis (75%), challenges and remaining work</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Technical depth (15), Implementation quality (15), Results analysis (5), Presentation skills (3), Q&amp;A handling (2).</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Introduction &amp; Problem Recap</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Problem recap:</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Hospital Information Systems hold identifiers, clinical, contact and financial data of real patients; the techniques used to extract data from them are judged on speed, robustness and coverage — never on DPDP Act 2023 compliance. Compliance stays an assertion, so techniques cannot be compared on it.</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Objectives:</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Make DPDP compliance a measured, per-technique property: every extraction scored on the same seven principle-based rules, paired with a reproducible cost measure, and verified against what the extraction actually produces.</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Show the whole chain running end to end — a credentialed portal scraped by a real browser, scored, exported to HL7 v2 / FHIR with identifiers pseudonymised and audited — and a rule-based staff assistant gated by the same policy.</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Refinements after Review-I feedback:</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Processing time, as asked: a cost profile per technique — fields pulled, fetches, real browser page loads, excess ratio, coverage, wall-clock (deterministic metrics lead; wall-clock is hardware-dependent).</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The comparison is now ours against a publicly available AI agent (Gemini), briefed with the job, the purpose, the field names — never a value — and what the deployment provides; unaided and told the Act; decisions recorded, replayed, and repeated so determinism is a measured column. Two harder measures added: manifest veracity (declared vs demonstrable) and trap tasks whose wording invites a violation. The hand-written baseline stands, as the panel agreed most deployed systems sit there.</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The assistant is rule-based: a fixed function registry, no LLM, no training — answering the Review-I question of how it is trained: it is not. Heterogeneity is answered by discovery: module layers are inferred from field names, never read from labels.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Detailed Literature Review</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968496"/>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56692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Ruchitaa et al., 2023</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Web Scraping Tools and Techniques: A Brief Survey — ICITIIT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Survey / taxonomy of scraping tools and methods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Broad catalogue; no domain-specific (HIS) use and no compliance axis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Huang et al., 2024</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AutoScraper: A Progressive Understanding Web Agent — EMNLP</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Two-stage LLM agent using HTML hierarchy + cross-page similarity; executability metric</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SOTA scraper generation, but evaluated only on executability / coverage — no data protection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Mansour et al., 2026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AXE: Low-Cost Cross-Domain Web Structured Information Extraction — arXiv</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DOM-tree pruning + Grounded XPath Resolution feeding a 0.6B LLM; zero-shot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F1 88.1% on SWDE at low cost; no compliance modelling, not applied to credentialed domains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Bohra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WebLists: Structured Extraction from Interactive Sites (BardeenAgent) — arXiv</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200-task benchmark; agent converts execution into replayable programs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Recall 31%→66%; regulated / enterprise contexts and privacy risk left unaddressed</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Wang et al., 2026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Co-Scraper: Query-Aware DOM Pruning and Reusable Scraper Synthesis — arXiv</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Two-stage query-aware pruning + extraction-strategy induction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F1 94.78% SWDE, ~90% reuse; optimises efficiency only — no purpose-limitation notion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577840"/>
            <a:ext cx="11064240" cy="365760"/>
          </a:xfrm>
          <a:prstGeom prst="rect">
            <a:avLst/>
          </a:prstGeom>
          <a:noFill/>
          <a:ln/>
        </p:spPr>
        <p:txBody>
          <a:bodyPr wrap="square" lIns="0" tIns="0" rIns="0" bIns="0" rtlCol="0" anchor="ctr"/>
          <a:lstStyle/>
          <a:p>
            <a:pPr marL="0" indent="0">
              <a:buNone/>
            </a:pPr>
            <a:r>
              <a:rPr lang="en-US" sz="1100" i="1" dirty="0">
                <a:solidFill>
                  <a:srgbClr val="000000"/>
                </a:solidFill>
                <a:latin typeface="Calibri" pitchFamily="34" charset="0"/>
                <a:ea typeface="Calibri" pitchFamily="34" charset="-122"/>
                <a:cs typeface="Calibri" pitchFamily="34" charset="-120"/>
              </a:rPr>
              <a:t>Fifteen references over three slides; full IEEE list on the References slide. [1]–[5]: scraping techniques — evaluated on executability, coverage and cost, never on what they should have taken.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Design &amp;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Rectangle 4"/>
          <p:cNvSpPr/>
          <p:nvPr/>
        </p:nvSpPr>
        <p:spPr>
          <a:xfrm>
            <a:off x="548640" y="1417320"/>
            <a:ext cx="2011680" cy="96012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A · Sources</a:t>
            </a:r>
          </a:p>
          <a:p>
            <a:pPr algn="ctr"/>
            <a:r>
              <a:rPr sz="900">
                <a:solidFill>
                  <a:srgbClr val="000000"/>
                </a:solidFill>
                <a:latin typeface="Calibri"/>
              </a:rPr>
              <a:t>portal · export · synthetic
(not ours to control)</a:t>
            </a:r>
          </a:p>
        </p:txBody>
      </p:sp>
      <p:cxnSp>
        <p:nvCxnSpPr>
          <p:cNvPr id="6" name="Connector 5"/>
          <p:cNvCxnSpPr/>
          <p:nvPr/>
        </p:nvCxnSpPr>
        <p:spPr>
          <a:xfrm>
            <a:off x="2560320" y="1892808"/>
            <a:ext cx="320040" cy="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2880360" y="1417320"/>
            <a:ext cx="2148840" cy="96012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B · Acquisition</a:t>
            </a:r>
          </a:p>
          <a:p>
            <a:pPr algn="ctr"/>
            <a:r>
              <a:rPr sz="900">
                <a:solidFill>
                  <a:srgbClr val="000000"/>
                </a:solidFill>
                <a:latin typeface="Calibri"/>
              </a:rPr>
              <a:t>one HISDataSource;
browser / files / mock</a:t>
            </a:r>
          </a:p>
        </p:txBody>
      </p:sp>
      <p:cxnSp>
        <p:nvCxnSpPr>
          <p:cNvPr id="8" name="Connector 7"/>
          <p:cNvCxnSpPr/>
          <p:nvPr/>
        </p:nvCxnSpPr>
        <p:spPr>
          <a:xfrm>
            <a:off x="5029200" y="1892808"/>
            <a:ext cx="320040" cy="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349240" y="1417320"/>
            <a:ext cx="2148840" cy="96012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C · Semantics</a:t>
            </a:r>
          </a:p>
          <a:p>
            <a:pPr algn="ctr"/>
            <a:r>
              <a:rPr sz="900">
                <a:solidFill>
                  <a:srgbClr val="000000"/>
                </a:solidFill>
                <a:latin typeface="Calibri"/>
              </a:rPr>
              <a:t>field → layer → DPDP
category; infer_layer()</a:t>
            </a:r>
          </a:p>
        </p:txBody>
      </p:sp>
      <p:cxnSp>
        <p:nvCxnSpPr>
          <p:cNvPr id="10" name="Connector 9"/>
          <p:cNvCxnSpPr/>
          <p:nvPr/>
        </p:nvCxnSpPr>
        <p:spPr>
          <a:xfrm>
            <a:off x="7498079" y="1892808"/>
            <a:ext cx="320041" cy="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7818120" y="1417320"/>
            <a:ext cx="2331720" cy="96012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D · Extraction</a:t>
            </a:r>
          </a:p>
          <a:p>
            <a:pPr algn="ctr"/>
            <a:r>
              <a:rPr sz="900">
                <a:solidFill>
                  <a:srgbClr val="000000"/>
                </a:solidFill>
                <a:latin typeface="Calibri"/>
              </a:rPr>
              <a:t>task → technique →
manifest + records (metered)</a:t>
            </a:r>
          </a:p>
        </p:txBody>
      </p:sp>
      <p:cxnSp>
        <p:nvCxnSpPr>
          <p:cNvPr id="12" name="Connector 11"/>
          <p:cNvCxnSpPr/>
          <p:nvPr/>
        </p:nvCxnSpPr>
        <p:spPr>
          <a:xfrm>
            <a:off x="8979408" y="2377440"/>
            <a:ext cx="0" cy="758952"/>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880360" y="3154680"/>
            <a:ext cx="2148840" cy="105156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E · Scoring</a:t>
            </a:r>
          </a:p>
          <a:p>
            <a:pPr algn="ctr"/>
            <a:r>
              <a:rPr sz="900">
                <a:solidFill>
                  <a:srgbClr val="000000"/>
                </a:solidFill>
                <a:latin typeface="Calibri"/>
              </a:rPr>
              <a:t>7 rules · benchmark
compliance × cost · purpose matrix</a:t>
            </a:r>
          </a:p>
        </p:txBody>
      </p:sp>
      <p:sp>
        <p:nvSpPr>
          <p:cNvPr id="14" name="Rectangle 13"/>
          <p:cNvSpPr/>
          <p:nvPr/>
        </p:nvSpPr>
        <p:spPr>
          <a:xfrm>
            <a:off x="5349240" y="3154680"/>
            <a:ext cx="2148840" cy="105156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F · Export</a:t>
            </a:r>
          </a:p>
          <a:p>
            <a:pPr algn="ctr"/>
            <a:r>
              <a:rPr sz="900">
                <a:solidFill>
                  <a:srgbClr val="000000"/>
                </a:solidFill>
                <a:latin typeface="Calibri"/>
              </a:rPr>
              <a:t>pseudonymise → HL7 v2 /
FHIR → audit the artefacts</a:t>
            </a:r>
          </a:p>
        </p:txBody>
      </p:sp>
      <p:sp>
        <p:nvSpPr>
          <p:cNvPr id="15" name="Rectangle 14"/>
          <p:cNvSpPr/>
          <p:nvPr/>
        </p:nvSpPr>
        <p:spPr>
          <a:xfrm>
            <a:off x="7818120" y="3154680"/>
            <a:ext cx="2331720" cy="105156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G · Guidance</a:t>
            </a:r>
          </a:p>
          <a:p>
            <a:pPr algn="ctr"/>
            <a:r>
              <a:rPr sz="900">
                <a:solidFill>
                  <a:srgbClr val="000000"/>
                </a:solidFill>
                <a:latin typeface="Calibri"/>
              </a:rPr>
              <a:t>recognise → gate →
collect → instruct</a:t>
            </a:r>
          </a:p>
        </p:txBody>
      </p:sp>
      <p:cxnSp>
        <p:nvCxnSpPr>
          <p:cNvPr id="16" name="Connector 15"/>
          <p:cNvCxnSpPr/>
          <p:nvPr/>
        </p:nvCxnSpPr>
        <p:spPr>
          <a:xfrm>
            <a:off x="8979408" y="3136392"/>
            <a:ext cx="0" cy="18288"/>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950208" y="2807208"/>
            <a:ext cx="5029200" cy="0"/>
          </a:xfrm>
          <a:prstGeom prst="line">
            <a:avLst/>
          </a:prstGeom>
          <a:ln>
            <a:solidFill>
              <a:srgbClr val="1D2F8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950208" y="2807208"/>
            <a:ext cx="0" cy="347472"/>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19088" y="2807208"/>
            <a:ext cx="0" cy="347472"/>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880360" y="4892040"/>
            <a:ext cx="7269480" cy="868680"/>
          </a:xfrm>
          <a:prstGeom prst="rect">
            <a:avLst/>
          </a:prstGeom>
          <a:solidFill>
            <a:srgbClr val="EEF0F8"/>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H · Policy — one table, three readers</a:t>
            </a:r>
          </a:p>
          <a:p>
            <a:pPr algn="ctr"/>
            <a:r>
              <a:rPr sz="900">
                <a:solidFill>
                  <a:srgbClr val="000000"/>
                </a:solidFill>
                <a:latin typeface="Calibri"/>
              </a:rPr>
              <a:t>3 non-nested purposes · role = purposes ∩ interop artefacts · 7 principles (PL-01 → DM-01 → SS-01)</a:t>
            </a:r>
          </a:p>
        </p:txBody>
      </p:sp>
      <p:cxnSp>
        <p:nvCxnSpPr>
          <p:cNvPr id="21" name="Connector 20"/>
          <p:cNvCxnSpPr/>
          <p:nvPr/>
        </p:nvCxnSpPr>
        <p:spPr>
          <a:xfrm flipV="1">
            <a:off x="3950208" y="4206240"/>
            <a:ext cx="0" cy="68580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419088" y="4206240"/>
            <a:ext cx="0" cy="68580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979408" y="4206240"/>
            <a:ext cx="0" cy="68580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3154680"/>
            <a:ext cx="2103120" cy="2606040"/>
          </a:xfrm>
          <a:prstGeom prst="rect">
            <a:avLst/>
          </a:prstGeom>
          <a:noFill/>
        </p:spPr>
        <p:txBody>
          <a:bodyPr wrap="square">
            <a:spAutoFit/>
          </a:bodyPr>
          <a:lstStyle/>
          <a:p>
            <a:r>
              <a:rPr sz="1050" b="1">
                <a:solidFill>
                  <a:srgbClr val="000000"/>
                </a:solidFill>
                <a:latin typeface="Calibri"/>
              </a:rPr>
              <a:t>Adapter boundary</a:t>
            </a:r>
          </a:p>
          <a:p>
            <a:r>
              <a:rPr sz="1050" b="0">
                <a:solidFill>
                  <a:srgbClr val="000000"/>
                </a:solidFill>
                <a:latin typeface="Calibri"/>
              </a:rPr>
              <a:t>Nothing downstream of B knows which source it got. A new HIS is a new adapter, not a downstream rewrite.</a:t>
            </a:r>
          </a:p>
          <a:p>
            <a:r>
              <a:rPr sz="1050" b="0">
                <a:solidFill>
                  <a:srgbClr val="000000"/>
                </a:solidFill>
                <a:latin typeface="Calibri"/>
              </a:rPr>
              <a:t/>
            </a:r>
          </a:p>
          <a:p>
            <a:r>
              <a:rPr sz="1050" b="0">
                <a:solidFill>
                  <a:srgbClr val="000000"/>
                </a:solidFill>
                <a:latin typeface="Calibri"/>
              </a:rPr>
              <a:t>Why one project</a:t>
            </a:r>
          </a:p>
          <a:p>
            <a:r>
              <a:rPr sz="1050" b="0">
                <a:solidFill>
                  <a:srgbClr val="000000"/>
                </a:solidFill>
                <a:latin typeface="Calibri"/>
              </a:rPr>
              <a:t>H scores the extraction (E), gates what leaves (F), and gates what a person may be told (G).</a:t>
            </a:r>
          </a:p>
        </p:txBody>
      </p:sp>
      <p:sp>
        <p:nvSpPr>
          <p:cNvPr id="25" name="TextBox 24"/>
          <p:cNvSpPr txBox="1"/>
          <p:nvPr/>
        </p:nvSpPr>
        <p:spPr>
          <a:xfrm>
            <a:off x="548640" y="5897880"/>
            <a:ext cx="11064240" cy="457200"/>
          </a:xfrm>
          <a:prstGeom prst="rect">
            <a:avLst/>
          </a:prstGeom>
          <a:noFill/>
        </p:spPr>
        <p:txBody>
          <a:bodyPr wrap="square">
            <a:spAutoFit/>
          </a:bodyPr>
          <a:lstStyle/>
          <a:p>
            <a:r>
              <a:rPr sz="1100" b="0">
                <a:solidFill>
                  <a:srgbClr val="808080"/>
                </a:solidFill>
                <a:latin typeface="Calibri"/>
              </a:rPr>
              <a:t>Runs as one command: scripts/run_pipeline.py — portal → discover → benchmark → normalise + audit → purpose → assistant (~1½ min).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Details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Modules developed and integrated (src/, 224 tests):</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compliance/ — models (manifest, valueless records), policy (3 purposes), roles (role = purposes ∩ interop artefacts; authorise()), 7 rules, checkers, benchmark (compliance × cost), purpose_matrix, pseudonymise (HMAC tokens), handling (real-data gate).</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extraction/ — HISDataSource interface; adapters mock / portal (Playwright) / dataset (pandas, column map); techniques compliant / ai_agent (Claude, OpenAI, Gemini; record + replay) / unconstrained; metering incl. determinism; tier2 browser + navigation discovery.</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interop/ — HL7 v2 (ADT, ORM, ORU, DFT) and FHIR R4 (10 resources incl. AuditEvent) shapers; normalise + export audit. agent/ — 13-function registry, session state machine, grounded guidance. tools/mock_portal — the Flask fixture built as a system we do not control.</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Algorithms implemented:</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Rule scoring: each principle → 0–1 with findings; weighted aggregate. Excess ratio = distinct fields pulled ÷ fields the purpose requires; coverage = needed fields obtained ÷ needed (micro-averaged).</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Layer inference: argmax over layers of catalogue-explained field names, with confidence — applied identically to a scraped module and an exported file. Role gate: lawful purpose → necessity → access control, first failure names its rule. Pseudonymisation: HMAC-SHA256 keyed per export; audit = search of emitted artefacts for raw identifier values.</a:t>
            </a:r>
            <a:endParaRPr lang="en-US" sz="1500" dirty="0"/>
          </a:p>
        </p:txBody>
      </p:sp>
      <p:sp>
        <p:nvSpPr>
          <p:cNvPr id="6" name="TextBox 5"/>
          <p:cNvSpPr txBox="1"/>
          <p:nvPr/>
        </p:nvSpPr>
        <p:spPr>
          <a:xfrm>
            <a:off x="640080" y="4892040"/>
            <a:ext cx="10881360" cy="1371600"/>
          </a:xfrm>
          <a:prstGeom prst="rect">
            <a:avLst/>
          </a:prstGeom>
          <a:noFill/>
        </p:spPr>
        <p:txBody>
          <a:bodyPr wrap="square">
            <a:spAutoFit/>
          </a:bodyPr>
          <a:lstStyle/>
          <a:p>
            <a:r>
              <a:rPr sz="1050" b="0">
                <a:solidFill>
                  <a:srgbClr val="1D2F82"/>
                </a:solidFill>
                <a:latin typeface="Consolas"/>
              </a:rPr>
              <a:t>def authorise(role, purpose, artefacts):                       # compliance/roles.py</a:t>
            </a:r>
          </a:p>
          <a:p>
            <a:r>
              <a:rPr sz="1050" b="0">
                <a:solidFill>
                  <a:srgbClr val="1D2F82"/>
                </a:solidFill>
                <a:latin typeface="Consolas"/>
              </a:rPr>
              <a:t>    if purpose not in role_policy(role).purposes:  return deny("PL-01")   # lawful purpose for this role?</a:t>
            </a:r>
          </a:p>
          <a:p>
            <a:r>
              <a:rPr sz="1050" b="0">
                <a:solidFill>
                  <a:srgbClr val="1D2F82"/>
                </a:solidFill>
                <a:latin typeface="Consolas"/>
              </a:rPr>
              <a:t>    if categories(artefacts) - policy_for(purpose).allowed_categories:  return deny("DM-01")   # necessary?</a:t>
            </a:r>
          </a:p>
          <a:p>
            <a:r>
              <a:rPr sz="1050" b="0">
                <a:solidFill>
                  <a:srgbClr val="1D2F82"/>
                </a:solidFill>
                <a:latin typeface="Consolas"/>
              </a:rPr>
              <a:t>    if artefacts - role_policy(role).artefacts:    return deny("SS-01")   # does the role handle these?</a:t>
            </a:r>
          </a:p>
          <a:p>
            <a:r>
              <a:rPr sz="1050" b="0">
                <a:solidFill>
                  <a:srgbClr val="1D2F82"/>
                </a:solidFill>
                <a:latin typeface="Consolas"/>
              </a:rPr>
              <a:t>    return permit()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&amp; Analysis (75%)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0881360" cy="868680"/>
          </a:xfrm>
          <a:prstGeom prst="rect">
            <a:avLst/>
          </a:prstGeom>
          <a:noFill/>
        </p:spPr>
        <p:txBody>
          <a:bodyPr wrap="square">
            <a:spAutoFit/>
          </a:bodyPr>
          <a:lstStyle/>
          <a:p>
            <a:r>
              <a:rPr sz="1250" b="0">
                <a:solidFill>
                  <a:srgbClr val="000000"/>
                </a:solidFill>
                <a:latin typeface="Calibri"/>
              </a:rPr>
              <a:t>4 techniques, 4 extraction tasks, the same login-gated portal scraped by a real browser (20 records per module, 10 per page); every run scored on the identical seven rules; cost measured as real page loads. The techniques differ only in how they treat personal data.</a:t>
            </a:r>
          </a:p>
        </p:txBody>
      </p:sp>
      <p:graphicFrame>
        <p:nvGraphicFramePr>
          <p:cNvPr id="6" name="Table 5"/>
          <p:cNvGraphicFramePr>
            <a:graphicFrameLocks noGrp="1"/>
          </p:cNvGraphicFramePr>
          <p:nvPr/>
        </p:nvGraphicFramePr>
        <p:xfrm>
          <a:off x="548640" y="2194560"/>
          <a:ext cx="11091672" cy="2331720"/>
        </p:xfrm>
        <a:graphic>
          <a:graphicData uri="http://schemas.openxmlformats.org/drawingml/2006/table">
            <a:tbl>
              <a:tblPr firstRow="1" bandRow="1">
                <a:tableStyleId>{5C22544A-7EE6-4342-B048-85BDC9FD1C3A}</a:tableStyleId>
              </a:tblPr>
              <a:tblGrid>
                <a:gridCol w="2651760"/>
                <a:gridCol w="1920240"/>
                <a:gridCol w="2377440"/>
                <a:gridCol w="4142232"/>
              </a:tblGrid>
              <a:tr h="466344">
                <a:tc>
                  <a:txBody>
                    <a:bodyPr/>
                    <a:lstStyle/>
                    <a:p>
                      <a:r>
                        <a:rPr sz="1200" b="1">
                          <a:solidFill>
                            <a:srgbClr val="FFFFFF"/>
                          </a:solidFill>
                          <a:latin typeface="Calibri"/>
                        </a:rPr>
                        <a:t>Technique</a:t>
                      </a:r>
                    </a:p>
                  </a:txBody>
                  <a:tcPr>
                    <a:solidFill>
                      <a:srgbClr val="1D2F82"/>
                    </a:solidFill>
                  </a:tcPr>
                </a:tc>
                <a:tc>
                  <a:txBody>
                    <a:bodyPr/>
                    <a:lstStyle/>
                    <a:p>
                      <a:r>
                        <a:rPr sz="1200" b="1">
                          <a:solidFill>
                            <a:srgbClr val="FFFFFF"/>
                          </a:solidFill>
                          <a:latin typeface="Calibri"/>
                        </a:rPr>
                        <a:t>Compliance</a:t>
                      </a:r>
                    </a:p>
                  </a:txBody>
                  <a:tcPr>
                    <a:solidFill>
                      <a:srgbClr val="1D2F82"/>
                    </a:solidFill>
                  </a:tcPr>
                </a:tc>
                <a:tc>
                  <a:txBody>
                    <a:bodyPr/>
                    <a:lstStyle/>
                    <a:p>
                      <a:r>
                        <a:rPr sz="1200" b="1">
                          <a:solidFill>
                            <a:srgbClr val="FFFFFF"/>
                          </a:solidFill>
                          <a:latin typeface="Calibri"/>
                        </a:rPr>
                        <a:t>Cost (excess · coverage · pages · traps)</a:t>
                      </a:r>
                    </a:p>
                  </a:txBody>
                  <a:tcPr>
                    <a:solidFill>
                      <a:srgbClr val="1D2F82"/>
                    </a:solidFill>
                  </a:tcPr>
                </a:tc>
                <a:tc>
                  <a:txBody>
                    <a:bodyPr/>
                    <a:lstStyle/>
                    <a:p>
                      <a:r>
                        <a:rPr sz="1200" b="1">
                          <a:solidFill>
                            <a:srgbClr val="FFFFFF"/>
                          </a:solidFill>
                          <a:latin typeface="Calibri"/>
                        </a:rPr>
                        <a:t>Behaviour</a:t>
                      </a:r>
                    </a:p>
                  </a:txBody>
                  <a:tcPr>
                    <a:solidFill>
                      <a:srgbClr val="1D2F82"/>
                    </a:solidFill>
                  </a:tcPr>
                </a:tc>
              </a:tr>
              <a:tr h="466344">
                <a:tc>
                  <a:txBody>
                    <a:bodyPr/>
                    <a:lstStyle/>
                    <a:p>
                      <a:r>
                        <a:rPr sz="1000" b="0">
                          <a:solidFill>
                            <a:srgbClr val="000000"/>
                          </a:solidFill>
                          <a:latin typeface="Calibri"/>
                        </a:rPr>
                        <a:t>compliance-aware (ours)</a:t>
                      </a:r>
                    </a:p>
                  </a:txBody>
                  <a:tcPr>
                    <a:solidFill>
                      <a:srgbClr val="FFFFFF"/>
                    </a:solidFill>
                  </a:tcPr>
                </a:tc>
                <a:tc>
                  <a:txBody>
                    <a:bodyPr/>
                    <a:lstStyle/>
                    <a:p>
                      <a:r>
                        <a:rPr sz="1000" b="0">
                          <a:solidFill>
                            <a:srgbClr val="000000"/>
                          </a:solidFill>
                          <a:latin typeface="Calibri"/>
                        </a:rPr>
                        <a:t>1.000  ·  7/7 rules</a:t>
                      </a:r>
                    </a:p>
                  </a:txBody>
                  <a:tcPr>
                    <a:solidFill>
                      <a:srgbClr val="FFFFFF"/>
                    </a:solidFill>
                  </a:tcPr>
                </a:tc>
                <a:tc>
                  <a:txBody>
                    <a:bodyPr/>
                    <a:lstStyle/>
                    <a:p>
                      <a:r>
                        <a:rPr sz="1000" b="0">
                          <a:solidFill>
                            <a:srgbClr val="000000"/>
                          </a:solidFill>
                          <a:latin typeface="Calibri"/>
                        </a:rPr>
                        <a:t>1.00 · 1.00 · 74  ·  traps held 1/1</a:t>
                      </a:r>
                    </a:p>
                  </a:txBody>
                  <a:tcPr>
                    <a:solidFill>
                      <a:srgbClr val="FFFFFF"/>
                    </a:solidFill>
                  </a:tcPr>
                </a:tc>
                <a:tc>
                  <a:txBody>
                    <a:bodyPr/>
                    <a:lstStyle/>
                    <a:p>
                      <a:r>
                        <a:rPr sz="1000" b="0">
                          <a:solidFill>
                            <a:srgbClr val="000000"/>
                          </a:solidFill>
                          <a:latin typeface="Calibri"/>
                        </a:rPr>
                        <a:t>Pulls what the purpose makes necessary; full manifest; identifiers pseudonymised on export.</a:t>
                      </a:r>
                    </a:p>
                  </a:txBody>
                  <a:tcPr>
                    <a:solidFill>
                      <a:srgbClr val="FFFFFF"/>
                    </a:solidFill>
                  </a:tcPr>
                </a:tc>
              </a:tr>
              <a:tr h="466344">
                <a:tc>
                  <a:txBody>
                    <a:bodyPr/>
                    <a:lstStyle/>
                    <a:p>
                      <a:r>
                        <a:rPr sz="1000" b="0">
                          <a:solidFill>
                            <a:srgbClr val="000000"/>
                          </a:solidFill>
                          <a:latin typeface="Calibri"/>
                        </a:rPr>
                        <a:t>ai agent: gemini (unaided)</a:t>
                      </a:r>
                    </a:p>
                  </a:txBody>
                  <a:tcPr>
                    <a:solidFill>
                      <a:srgbClr val="FFFFFF"/>
                    </a:solidFill>
                  </a:tcPr>
                </a:tc>
                <a:tc>
                  <a:txBody>
                    <a:bodyPr/>
                    <a:lstStyle/>
                    <a:p>
                      <a:r>
                        <a:rPr sz="1000" b="0">
                          <a:solidFill>
                            <a:srgbClr val="000000"/>
                          </a:solidFill>
                          <a:latin typeface="Calibri"/>
                        </a:rPr>
                        <a:t>0.988  ·  6/7 rules</a:t>
                      </a:r>
                    </a:p>
                  </a:txBody>
                  <a:tcPr>
                    <a:solidFill>
                      <a:srgbClr val="FFFFFF"/>
                    </a:solidFill>
                  </a:tcPr>
                </a:tc>
                <a:tc>
                  <a:txBody>
                    <a:bodyPr/>
                    <a:lstStyle/>
                    <a:p>
                      <a:r>
                        <a:rPr sz="1000" b="0">
                          <a:solidFill>
                            <a:srgbClr val="000000"/>
                          </a:solidFill>
                          <a:latin typeface="Calibri"/>
                        </a:rPr>
                        <a:t>1.17 · 0.83 · 76  ·  traps held 0/1</a:t>
                      </a:r>
                    </a:p>
                  </a:txBody>
                  <a:tcPr>
                    <a:solidFill>
                      <a:srgbClr val="FFFFFF"/>
                    </a:solidFill>
                  </a:tcPr>
                </a:tc>
                <a:tc>
                  <a:txBody>
                    <a:bodyPr/>
                    <a:lstStyle/>
                    <a:p>
                      <a:r>
                        <a:rPr sz="1000" b="0">
                          <a:solidFill>
                            <a:srgbClr val="000000"/>
                          </a:solidFill>
                          <a:latin typeface="Calibri"/>
                        </a:rPr>
                        <a:t>A public model decides the pull and the manifest from the job, purpose and field names; recorded and replayed.</a:t>
                      </a:r>
                    </a:p>
                  </a:txBody>
                  <a:tcPr>
                    <a:solidFill>
                      <a:srgbClr val="FFFFFF"/>
                    </a:solidFill>
                  </a:tcPr>
                </a:tc>
              </a:tr>
              <a:tr h="466344">
                <a:tc>
                  <a:txBody>
                    <a:bodyPr/>
                    <a:lstStyle/>
                    <a:p>
                      <a:r>
                        <a:rPr sz="1000" b="0">
                          <a:solidFill>
                            <a:srgbClr val="000000"/>
                          </a:solidFill>
                          <a:latin typeface="Calibri"/>
                        </a:rPr>
                        <a:t>ai agent: gemini (told the Act)</a:t>
                      </a:r>
                    </a:p>
                  </a:txBody>
                  <a:tcPr>
                    <a:solidFill>
                      <a:srgbClr val="FFFFFF"/>
                    </a:solidFill>
                  </a:tcPr>
                </a:tc>
                <a:tc>
                  <a:txBody>
                    <a:bodyPr/>
                    <a:lstStyle/>
                    <a:p>
                      <a:r>
                        <a:rPr sz="1000" b="0">
                          <a:solidFill>
                            <a:srgbClr val="000000"/>
                          </a:solidFill>
                          <a:latin typeface="Calibri"/>
                        </a:rPr>
                        <a:t>0.988  ·  6/7 rules</a:t>
                      </a:r>
                    </a:p>
                  </a:txBody>
                  <a:tcPr>
                    <a:solidFill>
                      <a:srgbClr val="FFFFFF"/>
                    </a:solidFill>
                  </a:tcPr>
                </a:tc>
                <a:tc>
                  <a:txBody>
                    <a:bodyPr/>
                    <a:lstStyle/>
                    <a:p>
                      <a:r>
                        <a:rPr sz="1000" b="0">
                          <a:solidFill>
                            <a:srgbClr val="000000"/>
                          </a:solidFill>
                          <a:latin typeface="Calibri"/>
                        </a:rPr>
                        <a:t>1.17 · 0.83 · 76  ·  traps held 0/1</a:t>
                      </a:r>
                    </a:p>
                  </a:txBody>
                  <a:tcPr>
                    <a:solidFill>
                      <a:srgbClr val="FFFFFF"/>
                    </a:solidFill>
                  </a:tcPr>
                </a:tc>
                <a:tc>
                  <a:txBody>
                    <a:bodyPr/>
                    <a:lstStyle/>
                    <a:p>
                      <a:r>
                        <a:rPr sz="1000" b="0">
                          <a:solidFill>
                            <a:srgbClr val="000000"/>
                          </a:solidFill>
                          <a:latin typeface="Calibri"/>
                        </a:rPr>
                        <a:t>A public model decides the pull and the manifest from the job, purpose and field names; recorded and replayed.</a:t>
                      </a:r>
                    </a:p>
                  </a:txBody>
                  <a:tcPr>
                    <a:solidFill>
                      <a:srgbClr val="FFFFFF"/>
                    </a:solidFill>
                  </a:tcPr>
                </a:tc>
              </a:tr>
              <a:tr h="466344">
                <a:tc>
                  <a:txBody>
                    <a:bodyPr/>
                    <a:lstStyle/>
                    <a:p>
                      <a:r>
                        <a:rPr sz="1000" b="0">
                          <a:solidFill>
                            <a:srgbClr val="000000"/>
                          </a:solidFill>
                          <a:latin typeface="Calibri"/>
                        </a:rPr>
                        <a:t>unconstrained (baseline)</a:t>
                      </a:r>
                    </a:p>
                  </a:txBody>
                  <a:tcPr>
                    <a:solidFill>
                      <a:srgbClr val="FFFFFF"/>
                    </a:solidFill>
                  </a:tcPr>
                </a:tc>
                <a:tc>
                  <a:txBody>
                    <a:bodyPr/>
                    <a:lstStyle/>
                    <a:p>
                      <a:r>
                        <a:rPr sz="1000" b="0">
                          <a:solidFill>
                            <a:srgbClr val="000000"/>
                          </a:solidFill>
                          <a:latin typeface="Calibri"/>
                        </a:rPr>
                        <a:t>0.137  ·  0/7 rules</a:t>
                      </a:r>
                    </a:p>
                  </a:txBody>
                  <a:tcPr>
                    <a:solidFill>
                      <a:srgbClr val="FFFFFF"/>
                    </a:solidFill>
                  </a:tcPr>
                </a:tc>
                <a:tc>
                  <a:txBody>
                    <a:bodyPr/>
                    <a:lstStyle/>
                    <a:p>
                      <a:r>
                        <a:rPr sz="1000" b="0">
                          <a:solidFill>
                            <a:srgbClr val="000000"/>
                          </a:solidFill>
                          <a:latin typeface="Calibri"/>
                        </a:rPr>
                        <a:t>6.89 · 1.00 · 440  ·  traps held 0/1</a:t>
                      </a:r>
                    </a:p>
                  </a:txBody>
                  <a:tcPr>
                    <a:solidFill>
                      <a:srgbClr val="FFFFFF"/>
                    </a:solidFill>
                  </a:tcPr>
                </a:tc>
                <a:tc>
                  <a:txBody>
                    <a:bodyPr/>
                    <a:lstStyle/>
                    <a:p>
                      <a:r>
                        <a:rPr sz="1000" b="0">
                          <a:solidFill>
                            <a:srgbClr val="000000"/>
                          </a:solidFill>
                          <a:latin typeface="Calibri"/>
                        </a:rPr>
                        <a:t>Every field of every module; no purpose, no manifest; declares only the transport it was observed on.</a:t>
                      </a:r>
                    </a:p>
                  </a:txBody>
                  <a:tcPr>
                    <a:solidFill>
                      <a:srgbClr val="FFFFFF"/>
                    </a:solidFill>
                  </a:tcPr>
                </a:tc>
              </a:tr>
            </a:tbl>
          </a:graphicData>
        </a:graphic>
      </p:graphicFrame>
      <p:sp>
        <p:nvSpPr>
          <p:cNvPr id="7" name="TextBox 6"/>
          <p:cNvSpPr txBox="1"/>
          <p:nvPr/>
        </p:nvSpPr>
        <p:spPr>
          <a:xfrm>
            <a:off x="640080" y="4709160"/>
            <a:ext cx="10881360" cy="1554480"/>
          </a:xfrm>
          <a:prstGeom prst="rect">
            <a:avLst/>
          </a:prstGeom>
          <a:noFill/>
        </p:spPr>
        <p:txBody>
          <a:bodyPr wrap="square">
            <a:spAutoFit/>
          </a:bodyPr>
          <a:lstStyle/>
          <a:p>
            <a:r>
              <a:rPr sz="1200" b="0">
                <a:solidFill>
                  <a:srgbClr val="000000"/>
                </a:solidFill>
                <a:latin typeface="Calibri"/>
              </a:rPr>
              <a:t>Reading the table. The baseline loads about five times the pages for the same coverage; its surplus is exactly the overreach DM-01 penalises, so compliance and cost move together rather than trading off.</a:t>
            </a:r>
          </a:p>
          <a:p>
            <a:r>
              <a:rPr sz="1200" b="0">
                <a:solidFill>
                  <a:srgbClr val="000000"/>
                </a:solidFill>
                <a:latin typeface="Calibri"/>
              </a:rPr>
              <a:t>The AI agent is a real public model, briefed with field names — never values — and told what the deployment provides; it cites it correctly, so the gap is not paperwork. Told to reconcile an invoice against the diagnosis, it takes the diagnosis in every run, even with the Act in its prompt: traps held 0 of 20 runs against our 20 of 20. It does 74-78% of the job and reproduces its first decision in about half its repeats; ours reads the policy, not the prose, and repeats itself. Per-rule columns: docs/benchmark_results/.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&amp; Analysis (contd.)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0881360" cy="868680"/>
          </a:xfrm>
          <a:prstGeom prst="rect">
            <a:avLst/>
          </a:prstGeom>
          <a:noFill/>
        </p:spPr>
        <p:txBody>
          <a:bodyPr wrap="square">
            <a:spAutoFit/>
          </a:bodyPr>
          <a:lstStyle/>
          <a:p>
            <a:r>
              <a:rPr sz="1250" b="0">
                <a:solidFill>
                  <a:srgbClr val="000000"/>
                </a:solidFill>
                <a:latin typeface="Calibri"/>
              </a:rPr>
              <a:t>The same extraction judged under every purpose — records, manifest and rules identical; only what the data was for changes. And the export audited, not trusted: the manifest claims pseudonymisation; we searched what actually left for the raw identifiers.</a:t>
            </a:r>
          </a:p>
        </p:txBody>
      </p:sp>
      <p:graphicFrame>
        <p:nvGraphicFramePr>
          <p:cNvPr id="6" name="Table 5"/>
          <p:cNvGraphicFramePr>
            <a:graphicFrameLocks noGrp="1"/>
          </p:cNvGraphicFramePr>
          <p:nvPr/>
        </p:nvGraphicFramePr>
        <p:xfrm>
          <a:off x="548640" y="2194560"/>
          <a:ext cx="11091672" cy="1371600"/>
        </p:xfrm>
        <a:graphic>
          <a:graphicData uri="http://schemas.openxmlformats.org/drawingml/2006/table">
            <a:tbl>
              <a:tblPr firstRow="1" bandRow="1">
                <a:tableStyleId>{5C22544A-7EE6-4342-B048-85BDC9FD1C3A}</a:tableStyleId>
              </a:tblPr>
              <a:tblGrid>
                <a:gridCol w="4206240"/>
                <a:gridCol w="2011680"/>
                <a:gridCol w="2651760"/>
                <a:gridCol w="2221992"/>
              </a:tblGrid>
              <a:tr h="457200">
                <a:tc>
                  <a:txBody>
                    <a:bodyPr/>
                    <a:lstStyle/>
                    <a:p>
                      <a:r>
                        <a:rPr sz="1200" b="1">
                          <a:solidFill>
                            <a:srgbClr val="FFFFFF"/>
                          </a:solidFill>
                          <a:latin typeface="Calibri"/>
                        </a:rPr>
                        <a:t>Care pull (MRN, DOB, sex, diagnosis, medication, allergy)</a:t>
                      </a:r>
                    </a:p>
                  </a:txBody>
                  <a:tcPr>
                    <a:solidFill>
                      <a:srgbClr val="1D2F82"/>
                    </a:solidFill>
                  </a:tcPr>
                </a:tc>
                <a:tc>
                  <a:txBody>
                    <a:bodyPr/>
                    <a:lstStyle/>
                    <a:p>
                      <a:r>
                        <a:rPr sz="1200" b="1">
                          <a:solidFill>
                            <a:srgbClr val="FFFFFF"/>
                          </a:solidFill>
                          <a:latin typeface="Calibri"/>
                        </a:rPr>
                        <a:t>under care_coordination</a:t>
                      </a:r>
                    </a:p>
                  </a:txBody>
                  <a:tcPr>
                    <a:solidFill>
                      <a:srgbClr val="1D2F82"/>
                    </a:solidFill>
                  </a:tcPr>
                </a:tc>
                <a:tc>
                  <a:txBody>
                    <a:bodyPr/>
                    <a:lstStyle/>
                    <a:p>
                      <a:r>
                        <a:rPr sz="1200" b="1">
                          <a:solidFill>
                            <a:srgbClr val="FFFFFF"/>
                          </a:solidFill>
                          <a:latin typeface="Calibri"/>
                        </a:rPr>
                        <a:t>under billing_settlement</a:t>
                      </a:r>
                    </a:p>
                  </a:txBody>
                  <a:tcPr>
                    <a:solidFill>
                      <a:srgbClr val="1D2F82"/>
                    </a:solidFill>
                  </a:tcPr>
                </a:tc>
                <a:tc>
                  <a:txBody>
                    <a:bodyPr/>
                    <a:lstStyle/>
                    <a:p>
                      <a:r>
                        <a:rPr sz="1200" b="1">
                          <a:solidFill>
                            <a:srgbClr val="FFFFFF"/>
                          </a:solidFill>
                          <a:latin typeface="Calibri"/>
                        </a:rPr>
                        <a:t>under patient_registration</a:t>
                      </a:r>
                    </a:p>
                  </a:txBody>
                  <a:tcPr>
                    <a:solidFill>
                      <a:srgbClr val="1D2F82"/>
                    </a:solidFill>
                  </a:tcPr>
                </a:tc>
              </a:tr>
              <a:tr h="457200">
                <a:tc>
                  <a:txBody>
                    <a:bodyPr/>
                    <a:lstStyle/>
                    <a:p>
                      <a:r>
                        <a:rPr sz="1100" b="0">
                          <a:solidFill>
                            <a:srgbClr val="000000"/>
                          </a:solidFill>
                          <a:latin typeface="Calibri"/>
                        </a:rPr>
                        <a:t>compliance score · rules passed</a:t>
                      </a:r>
                    </a:p>
                  </a:txBody>
                  <a:tcPr>
                    <a:solidFill>
                      <a:srgbClr val="FFFFFF"/>
                    </a:solidFill>
                  </a:tcPr>
                </a:tc>
                <a:tc>
                  <a:txBody>
                    <a:bodyPr/>
                    <a:lstStyle/>
                    <a:p>
                      <a:r>
                        <a:rPr sz="1100" b="0">
                          <a:solidFill>
                            <a:srgbClr val="000000"/>
                          </a:solidFill>
                          <a:latin typeface="Calibri"/>
                        </a:rPr>
                        <a:t>1.000  ·  7 / 7</a:t>
                      </a:r>
                    </a:p>
                  </a:txBody>
                  <a:tcPr>
                    <a:solidFill>
                      <a:srgbClr val="FFFFFF"/>
                    </a:solidFill>
                  </a:tcPr>
                </a:tc>
                <a:tc>
                  <a:txBody>
                    <a:bodyPr/>
                    <a:lstStyle/>
                    <a:p>
                      <a:r>
                        <a:rPr sz="1100" b="0">
                          <a:solidFill>
                            <a:srgbClr val="000000"/>
                          </a:solidFill>
                          <a:latin typeface="Calibri"/>
                        </a:rPr>
                        <a:t>0.833  ·  5 / 7</a:t>
                      </a:r>
                    </a:p>
                  </a:txBody>
                  <a:tcPr>
                    <a:solidFill>
                      <a:srgbClr val="FFFFFF"/>
                    </a:solidFill>
                  </a:tcPr>
                </a:tc>
                <a:tc>
                  <a:txBody>
                    <a:bodyPr/>
                    <a:lstStyle/>
                    <a:p>
                      <a:r>
                        <a:rPr sz="1100" b="0">
                          <a:solidFill>
                            <a:srgbClr val="000000"/>
                          </a:solidFill>
                          <a:latin typeface="Calibri"/>
                        </a:rPr>
                        <a:t>0.881  ·  5 / 7</a:t>
                      </a:r>
                    </a:p>
                  </a:txBody>
                  <a:tcPr>
                    <a:solidFill>
                      <a:srgbClr val="FFFFFF"/>
                    </a:solidFill>
                  </a:tcPr>
                </a:tc>
              </a:tr>
              <a:tr h="457200">
                <a:tc>
                  <a:txBody>
                    <a:bodyPr/>
                    <a:lstStyle/>
                    <a:p>
                      <a:r>
                        <a:rPr sz="1100" b="0">
                          <a:solidFill>
                            <a:srgbClr val="000000"/>
                          </a:solidFill>
                          <a:latin typeface="Calibri"/>
                        </a:rPr>
                        <a:t>why</a:t>
                      </a:r>
                    </a:p>
                  </a:txBody>
                  <a:tcPr>
                    <a:solidFill>
                      <a:srgbClr val="FFFFFF"/>
                    </a:solidFill>
                  </a:tcPr>
                </a:tc>
                <a:tc>
                  <a:txBody>
                    <a:bodyPr/>
                    <a:lstStyle/>
                    <a:p>
                      <a:r>
                        <a:rPr sz="1100" b="0">
                          <a:solidFill>
                            <a:srgbClr val="000000"/>
                          </a:solidFill>
                          <a:latin typeface="Calibri"/>
                        </a:rPr>
                        <a:t>lawful for this purpose</a:t>
                      </a:r>
                    </a:p>
                  </a:txBody>
                  <a:tcPr>
                    <a:solidFill>
                      <a:srgbClr val="FFFFFF"/>
                    </a:solidFill>
                  </a:tcPr>
                </a:tc>
                <a:tc>
                  <a:txBody>
                    <a:bodyPr/>
                    <a:lstStyle/>
                    <a:p>
                      <a:r>
                        <a:rPr sz="1100" b="0">
                          <a:solidFill>
                            <a:srgbClr val="000000"/>
                          </a:solidFill>
                          <a:latin typeface="Calibri"/>
                        </a:rPr>
                        <a:t>out of scope: clinical, quasi-identifier; notice does not cover it</a:t>
                      </a:r>
                    </a:p>
                  </a:txBody>
                  <a:tcPr>
                    <a:solidFill>
                      <a:srgbClr val="FFFFFF"/>
                    </a:solidFill>
                  </a:tcPr>
                </a:tc>
                <a:tc>
                  <a:txBody>
                    <a:bodyPr/>
                    <a:lstStyle/>
                    <a:p>
                      <a:r>
                        <a:rPr sz="1100" b="0">
                          <a:solidFill>
                            <a:srgbClr val="000000"/>
                          </a:solidFill>
                          <a:latin typeface="Calibri"/>
                        </a:rPr>
                        <a:t>out of scope: clinical; notice does not cover it</a:t>
                      </a:r>
                    </a:p>
                  </a:txBody>
                  <a:tcPr>
                    <a:solidFill>
                      <a:srgbClr val="FFFFFF"/>
                    </a:solidFill>
                  </a:tcPr>
                </a:tc>
              </a:tr>
            </a:tbl>
          </a:graphicData>
        </a:graphic>
      </p:graphicFrame>
      <p:graphicFrame>
        <p:nvGraphicFramePr>
          <p:cNvPr id="7" name="Table 6"/>
          <p:cNvGraphicFramePr>
            <a:graphicFrameLocks noGrp="1"/>
          </p:cNvGraphicFramePr>
          <p:nvPr/>
        </p:nvGraphicFramePr>
        <p:xfrm>
          <a:off x="548640" y="3840480"/>
          <a:ext cx="11091672" cy="1188720"/>
        </p:xfrm>
        <a:graphic>
          <a:graphicData uri="http://schemas.openxmlformats.org/drawingml/2006/table">
            <a:tbl>
              <a:tblPr firstRow="1" bandRow="1">
                <a:tableStyleId>{5C22544A-7EE6-4342-B048-85BDC9FD1C3A}</a:tableStyleId>
              </a:tblPr>
              <a:tblGrid>
                <a:gridCol w="4206240"/>
                <a:gridCol w="3291840"/>
                <a:gridCol w="3593592"/>
              </a:tblGrid>
              <a:tr h="396240">
                <a:tc>
                  <a:txBody>
                    <a:bodyPr/>
                    <a:lstStyle/>
                    <a:p>
                      <a:r>
                        <a:rPr sz="1200" b="1">
                          <a:solidFill>
                            <a:srgbClr val="FFFFFF"/>
                          </a:solidFill>
                          <a:latin typeface="Calibri"/>
                        </a:rPr>
                        <a:t>Export audit (HL7 v2 + FHIR)</a:t>
                      </a:r>
                    </a:p>
                  </a:txBody>
                  <a:tcPr>
                    <a:solidFill>
                      <a:srgbClr val="1D2F82"/>
                    </a:solidFill>
                  </a:tcPr>
                </a:tc>
                <a:tc>
                  <a:txBody>
                    <a:bodyPr/>
                    <a:lstStyle/>
                    <a:p>
                      <a:r>
                        <a:rPr sz="1200" b="1">
                          <a:solidFill>
                            <a:srgbClr val="FFFFFF"/>
                          </a:solidFill>
                          <a:latin typeface="Calibri"/>
                        </a:rPr>
                        <a:t>Pseudonymisation</a:t>
                      </a:r>
                    </a:p>
                  </a:txBody>
                  <a:tcPr>
                    <a:solidFill>
                      <a:srgbClr val="1D2F82"/>
                    </a:solidFill>
                  </a:tcPr>
                </a:tc>
                <a:tc>
                  <a:txBody>
                    <a:bodyPr/>
                    <a:lstStyle/>
                    <a:p>
                      <a:r>
                        <a:rPr sz="1200" b="1">
                          <a:solidFill>
                            <a:srgbClr val="FFFFFF"/>
                          </a:solidFill>
                          <a:latin typeface="Calibri"/>
                        </a:rPr>
                        <a:t>Raw identifiers found in the export</a:t>
                      </a:r>
                    </a:p>
                  </a:txBody>
                  <a:tcPr>
                    <a:solidFill>
                      <a:srgbClr val="1D2F82"/>
                    </a:solidFill>
                  </a:tcPr>
                </a:tc>
              </a:tr>
              <a:tr h="396240">
                <a:tc>
                  <a:txBody>
                    <a:bodyPr/>
                    <a:lstStyle/>
                    <a:p>
                      <a:r>
                        <a:rPr sz="1100" b="0">
                          <a:solidFill>
                            <a:srgbClr val="000000"/>
                          </a:solidFill>
                          <a:latin typeface="Calibri"/>
                        </a:rPr>
                        <a:t>compliance-aware (ours)</a:t>
                      </a:r>
                    </a:p>
                  </a:txBody>
                  <a:tcPr>
                    <a:solidFill>
                      <a:srgbClr val="FFFFFF"/>
                    </a:solidFill>
                  </a:tcPr>
                </a:tc>
                <a:tc>
                  <a:txBody>
                    <a:bodyPr/>
                    <a:lstStyle/>
                    <a:p>
                      <a:r>
                        <a:rPr sz="1100" b="0">
                          <a:solidFill>
                            <a:srgbClr val="000000"/>
                          </a:solidFill>
                          <a:latin typeface="Calibri"/>
                        </a:rPr>
                        <a:t>declared → applied (HMAC tokens, PSN-…)</a:t>
                      </a:r>
                    </a:p>
                  </a:txBody>
                  <a:tcPr>
                    <a:solidFill>
                      <a:srgbClr val="FFFFFF"/>
                    </a:solidFill>
                  </a:tcPr>
                </a:tc>
                <a:tc>
                  <a:txBody>
                    <a:bodyPr/>
                    <a:lstStyle/>
                    <a:p>
                      <a:r>
                        <a:rPr sz="1100" b="0">
                          <a:solidFill>
                            <a:srgbClr val="000000"/>
                          </a:solidFill>
                          <a:latin typeface="Calibri"/>
                        </a:rPr>
                        <a:t>0 of 120  ·  180 artefacts checked</a:t>
                      </a:r>
                    </a:p>
                  </a:txBody>
                  <a:tcPr>
                    <a:solidFill>
                      <a:srgbClr val="FFFFFF"/>
                    </a:solidFill>
                  </a:tcPr>
                </a:tc>
              </a:tr>
              <a:tr h="396240">
                <a:tc>
                  <a:txBody>
                    <a:bodyPr/>
                    <a:lstStyle/>
                    <a:p>
                      <a:r>
                        <a:rPr sz="1100" b="0">
                          <a:solidFill>
                            <a:srgbClr val="000000"/>
                          </a:solidFill>
                          <a:latin typeface="Calibri"/>
                        </a:rPr>
                        <a:t>unconstrained (baseline)</a:t>
                      </a:r>
                    </a:p>
                  </a:txBody>
                  <a:tcPr>
                    <a:solidFill>
                      <a:srgbClr val="FFFFFF"/>
                    </a:solidFill>
                  </a:tcPr>
                </a:tc>
                <a:tc>
                  <a:txBody>
                    <a:bodyPr/>
                    <a:lstStyle/>
                    <a:p>
                      <a:r>
                        <a:rPr sz="1100" b="0">
                          <a:solidFill>
                            <a:srgbClr val="000000"/>
                          </a:solidFill>
                          <a:latin typeface="Calibri"/>
                        </a:rPr>
                        <a:t>not declared → raw</a:t>
                      </a:r>
                    </a:p>
                  </a:txBody>
                  <a:tcPr>
                    <a:solidFill>
                      <a:srgbClr val="FFFFFF"/>
                    </a:solidFill>
                  </a:tcPr>
                </a:tc>
                <a:tc>
                  <a:txBody>
                    <a:bodyPr/>
                    <a:lstStyle/>
                    <a:p>
                      <a:r>
                        <a:rPr sz="1100" b="0">
                          <a:solidFill>
                            <a:srgbClr val="000000"/>
                          </a:solidFill>
                          <a:latin typeface="Calibri"/>
                        </a:rPr>
                        <a:t>120 of 120  ·  510 artefacts checked</a:t>
                      </a:r>
                    </a:p>
                  </a:txBody>
                  <a:tcPr>
                    <a:solidFill>
                      <a:srgbClr val="FFFFFF"/>
                    </a:solidFill>
                  </a:tcPr>
                </a:tc>
              </a:tr>
            </a:tbl>
          </a:graphicData>
        </a:graphic>
      </p:graphicFrame>
      <p:sp>
        <p:nvSpPr>
          <p:cNvPr id="8" name="TextBox 7"/>
          <p:cNvSpPr txBox="1"/>
          <p:nvPr/>
        </p:nvSpPr>
        <p:spPr>
          <a:xfrm>
            <a:off x="640080" y="5212080"/>
            <a:ext cx="10881360" cy="1097280"/>
          </a:xfrm>
          <a:prstGeom prst="rect">
            <a:avLst/>
          </a:prstGeom>
          <a:noFill/>
        </p:spPr>
        <p:txBody>
          <a:bodyPr wrap="square">
            <a:spAutoFit/>
          </a:bodyPr>
          <a:lstStyle/>
          <a:p>
            <a:r>
              <a:rPr sz="1150" b="0">
                <a:solidFill>
                  <a:srgbClr val="000000"/>
                </a:solidFill>
                <a:latin typeface="Calibri"/>
              </a:rPr>
              <a:t>Care may see clinical data and not billing data; billing may see billing data and not clinical data. Neither purpose is stricter — "out of scope" means not necessary for this purpose. Tokens are keyed hashes: stable within one export, unlinkable across exports, not reversible.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Challenges &amp; Remaining Work</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Challenges faced and solutions:</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No live HIS access — built a login-gated mock portal as a system we do not control (form login, session cookie, paginated HTML, robots.txt), so the browser layer is real and transfers as selectors + aliases.</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Measuring cost honestly — wall-clock is hardware-dependent, so deterministic metrics lead (fields, page loads, excess ratio) and coverage guards against pulling nothing.</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Trusting the manifest — pseudonymisation is now applied at export and audited against the emitted artefacts rather than taken from the declaration. Real data handling — the PLAN §4 checklist is enforced in code: a non-synthetic export is refused without provenance, de-identification statement and ignore rule.</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Remaining work (25%):</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Project report: all eight chapters drafted; second pass for length, and the section mapping to be verified against the Gazette text before citations enter it. Manuscript compressed from chapters 3–7. Real hospital dataset → one column map, then the same pipeline; results reported beside the synthetic ones.</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Timeline for completion by Review-III (28.10.2026):</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Weeks 1–2: report chapters 3–4 (framework, techniques and cost) and 7 on synthetic data. Weeks 2–3: chapters 5–6, appendices; real-data integration the day the export lands. Week 4: manuscript compression, final results tables, rehearsal.</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 R. N. R. Ruchitaa, S. Nandhakumar Raj, and M. Vijayalakshmi, "Web Scrapping Tools and Techniques: A Brief Survey," in Proc. 2023 4th Int. Conf. Innovative Trends in Information Technology (ICITIIT), 2023.</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[2] W. Huang et al., "AutoScraper: A Progressive Understanding Web Agent for Web Scraper Generation," in Proc. 2024 Conf. Empirical Methods in Natural Language Processing (EMNLP), Miami, FL, USA, 2024, pp. 2371–2389.</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[3] A. Mansour, K. W. Alshaer, and M. Elsaban, "AXE: Low-Cost Cross-Domain Web Structured Information Extraction," arXiv:2602.01838, 2026.</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[4] A. Bohra et al., "WebLists: Extracting Structured Information from Complex Interactive Websites Using Executable LLM Agents," arXiv:2504.12682, 2025.</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[5] S. Wang, J. Qiu, W. Zhang, and C. He, "Co-Scraper: Query-Aware DOM Pruning and Reusable Scraper Synthesis for Lightweight Web Data Extraction," arXiv:2606.14821, 2026.</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[6] R. Gundelach, M. Mühlhauser, and D. Herrmann, "Detecting Bot Detection: Prevalence, Techniques, and Implications for Web Measurement Research," arXiv:2606.14525, 2025.</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[7] T. Kim, K. Bock, C. Luo, A. Liswood, C. Poroslay, and E. Wenger, "Scrapers Selectively Respect robots.txt Directives: Evidence From a Large-Scale Empirical Study," in Proc. 2025 ACM Internet Measurement Conf. (IMC), Madison, WI, USA, 2025, pp. 541–557, doi:10.1145/3730567.3764471.</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[8] D. A. Purnawan and K. Surendro, "Building Enterprise Architecture for Hospital Information System," in Proc. 2016 4th Int. Conf. Information and Communication Technology (ICoICT), Bandung, Indonesia, 2016.</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[9] C. N. Vorisek, M. Lehne, S. A. I. Klopfenstein, P. J. Mayer, A. Bartschke, T. Haese, and S. Thun, "Fast Healthcare Interoperability Resources (FHIR) for Interoperability in Health Research: Systematic Review," JMIR Medical Informatics, vol. 10, no. 7, art. e35724, 2022, doi:10.2196/35724.</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[10] V. Khanna and A. Kotwal, "Examining the Significance of the Digital Personal Data Protection Act, 2023 in the Context of the Healthcare Industry: A Comprehensive Analysis," Discover Public Health, vol. 22, art. 381, 2025, doi:10.1186/s12982-025-00757-6.</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[11] A. Sood, D. Mishra, V. Surya, H. Singh, R. Sundaresan, D. Pal, R. Dharmaraju, R. Satish, S. Mishra, N. A. Chavan, S. Mondal, P. Duggal, and V. K. Iyer, "Challenges and Recommendations for Enhancing Digital Data Protection in the Indian Medical Research and Healthcare Sector," npj Digital Medicine, vol. 8, art. 48, 2025, doi:10.1038/s41746-025-01448-x.</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[12] M. A. Brown, A. Gruen, G. Maldoff, S. Messing, Z. Sanderson, and M. Zimmer, "Web Scraping for Research: Legal, Ethical, Institutional, and Scientific Considerations," Big Data &amp; Society, 2025.</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[13] The Digital Personal Data Protection Act, 2023, Act No. 22 of 2023, The Gazette of India, 11 Aug. 2023.</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[14] C. V. Cook, "Tokenization techniques for privacy-preserving healthcare data: tokenization nuts and bolts," Frontiers in Drug Safety and Regulation, vol. 5, art. 1599217, 2025, doi:10.3389/fdsfr.2025.1599217.</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[15] M. A. de Carvalho Junior and P. Bandiera-Paiva, "Health Information System Role-Based Access Control Current Security Trends and Challenges," Journal of Healthcare Engineering, vol. 2018, art. 6510249, 2018, doi:10.1155/2018/6510249.</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[16] A. Rule, M. F. Chiang, and M. R. Hribar, "Using electronic health record audit logs to study clinical activity: a systematic review of aims, measures, and methods," Journal of the American Medical Informatics Association, vol. 27, no. 3, pp. 480–490, 2020, doi:10.1093/jamia/ocz196.</a:t>
            </a:r>
            <a:endParaRPr lang="en-US" sz="1600" dirty="0"/>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IEEE format. [1]–[12] and [14]–[16] are cited on the literature slides; [13] on the problem, methodology and results slides.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
        <p:nvSpPr>
          <p:cNvPr id="5" name="Text 2"/>
          <p:cNvSpPr txBox="1"/>
          <p:nvPr/>
        </p:nvSpPr>
        <p:spPr>
          <a:xfrm>
            <a:off x="548640" y="3749040"/>
            <a:ext cx="11091672" cy="365760"/>
          </a:xfrm>
          <a:prstGeom prst="rect">
            <a:avLst/>
          </a:prstGeom>
          <a:noFill/>
          <a:ln/>
        </p:spPr>
        <p:txBody>
          <a:bodyPr wrap="square" lIns="0" tIns="0" rIns="0" bIns="0" rtlCol="0" anchor="ctr"/>
          <a:lstStyle/>
          <a:p>
            <a:pPr marL="0" indent="0" algn="ctr">
              <a:buNone/>
            </a:pPr>
            <a:r>
              <a:rPr lang="en-US" sz="1400" dirty="0">
                <a:solidFill>
                  <a:srgbClr val="000000"/>
                </a:solidFill>
                <a:latin typeface="Calibri" pitchFamily="34" charset="0"/>
                <a:ea typeface="Calibri" pitchFamily="34" charset="-122"/>
                <a:cs typeface="Calibri" pitchFamily="34" charset="-120"/>
              </a:rPr>
              <a:t>Project-I (2026)  ·  SENSE  ·  VIT Chennai</a:t>
            </a:r>
            <a:endParaRPr lang="en-US" sz="14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Detailed Literature Review (contd.)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968496"/>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56692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Gundelach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Detecting Bot Detection: Prevalence, Techniques, Implications — arXiv</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Systematic review (2020–25) of bot-detection at top security / web venues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Maps the detection landscape; authenticated / credentialed portal scraping under-studied</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Kim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Scrapers Selectively Respect robots.txt Directives — ACM IMC</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Internet-scale measurement of robots.txt compliance in the wild</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Compliance observed after the fact, never designed into the technique</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Purnawan &amp; Surendro, 2016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Building Enterprise Architecture for Hospital Information System — ICoICT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Enterprise-architecture modelling of HIS structure</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Useful layer model; predates LLM extraction, no data-egress / compliance view</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Vorisek et al., 2022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FHIR for Interoperability in Health Research: Systematic Review — JMIR Med. Inform.</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49 studies on FHIR use cases, implementation, goals and limitations in research</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Interoperability ≠ compliant extraction; standards are silent on lawful scraping</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Khanna &amp; Kotwal,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Significance of the DPDP Act 2023 for the Healthcare Industry — Discover Public Health</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Doctrinal analysis of DPDP obligations for healthcare entities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Legal analysis only; no technical or measurable operationalisation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577840"/>
            <a:ext cx="11064240" cy="365760"/>
          </a:xfrm>
          <a:prstGeom prst="rect">
            <a:avLst/>
          </a:prstGeom>
          <a:noFill/>
          <a:ln/>
        </p:spPr>
        <p:txBody>
          <a:bodyPr wrap="square" lIns="0" tIns="0" rIns="0" bIns="0" rtlCol="0" anchor="ctr"/>
          <a:lstStyle/>
          <a:p>
            <a:pPr marL="0" indent="0">
              <a:buNone/>
            </a:pPr>
            <a:r>
              <a:rPr lang="en-US" sz="1100" i="1" dirty="0">
                <a:solidFill>
                  <a:srgbClr val="000000"/>
                </a:solidFill>
                <a:latin typeface="Calibri" pitchFamily="34" charset="0"/>
                <a:ea typeface="Calibri" pitchFamily="34" charset="-122"/>
                <a:cs typeface="Calibri" pitchFamily="34" charset="-120"/>
              </a:rPr>
              <a:t>[6]–[7]: the web-measurement view — compliance observed after the fact. [8]–[9]: HIS structure and interoperability standards, silent on lawful extraction. [10]: the Act read for healthcare, doctrinally.</a:t>
            </a:r>
            <a:endParaRPr lang="en-US" sz="12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Detailed Literature Review (contd.)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968496"/>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56692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Sood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Digital Data Protection in Indian Medical Research and Healthcare — npj Digital Medicine</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Synthesis of challenges and recommendations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Recommendations not translated into checkable controls on data-collection pipelines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Brown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Web Scraping for Research: Legal, Ethical, Institutional and Scientific Considerations — Big Data &amp; Society</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Multi-dimensional qualitative framework (contract, CFAA, IP, privacy, IRB, validity)</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A checklist, not a scored per-technique benchmark</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Cook,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Tokenization Techniques for Privacy-Preserving Healthcare Data — Frontiers in Drug Safety and Regulation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Deterministic vs referential (keyed, salted) tokenisation of health identifiers; linkage vs re-identification risk</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Mechanism only; no check that an export actually carries tokens — our audit verifies it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de Carvalho Jr. &amp; Bandiera-Paiva, 2018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HIS Role-Based Access Control: Current Security Trends and Challenges — J. Healthcare Engineering</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Industry-focused review of RBAC in health information systems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Static role lists both over- and under-grant; no derivation of scope from purpose — ours derives it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Rule, Chiang &amp; Hribar, 2020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Using EHR Audit Logs to Study Clinical Activity: A Systematic Review — JAMIA</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85 studies using audit logs as the record of who did what in the EHR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Logs used for workflow research, never to demonstrate compliance; our fifth layer models them for that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577840"/>
            <a:ext cx="11064240" cy="365760"/>
          </a:xfrm>
          <a:prstGeom prst="rect">
            <a:avLst/>
          </a:prstGeom>
          <a:noFill/>
          <a:ln/>
        </p:spPr>
        <p:txBody>
          <a:bodyPr wrap="square" lIns="0" tIns="0" rIns="0" bIns="0" rtlCol="0" anchor="ctr"/>
          <a:lstStyle/>
          <a:p>
            <a:pPr marL="0" indent="0">
              <a:buNone/>
            </a:pPr>
            <a:r>
              <a:rPr lang="en-US" sz="1100" i="1" dirty="0">
                <a:solidFill>
                  <a:srgbClr val="000000"/>
                </a:solidFill>
                <a:latin typeface="Calibri" pitchFamily="34" charset="0"/>
                <a:ea typeface="Calibri" pitchFamily="34" charset="-122"/>
                <a:cs typeface="Calibri" pitchFamily="34" charset="-120"/>
              </a:rPr>
              <a:t>[11]–[12]: recommendations and checklists, not checkable controls. [14]–[16]: the three mechanisms we build on — tokenisation, RBAC, audit logs — each described, none used to score a technique. [13] is the Act.</a:t>
            </a:r>
            <a:endParaRPr lang="en-US" sz="1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&amp; Analysis (contd.) — Discovery &amp; Assistant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234440"/>
            <a:ext cx="10881360" cy="1051560"/>
          </a:xfrm>
          <a:prstGeom prst="rect">
            <a:avLst/>
          </a:prstGeom>
          <a:noFill/>
        </p:spPr>
        <p:txBody>
          <a:bodyPr wrap="square">
            <a:spAutoFit/>
          </a:bodyPr>
          <a:lstStyle/>
          <a:p>
            <a:r>
              <a:rPr sz="1200" b="0">
                <a:solidFill>
                  <a:srgbClr val="000000"/>
                </a:solidFill>
                <a:latin typeface="Calibri"/>
              </a:rPr>
              <a:t>The scraper is never told the portal's layout. It crawls from the home page and infers each module's HIS layer from the field names it finds — the URL says "registration", the scraper concludes patient administration. With display labels instead of field names it cannot classify the module; with a label→field map it is back at 100% and nothing downstream changes. The same inference classifies an exported spreadsheet.</a:t>
            </a:r>
          </a:p>
        </p:txBody>
      </p:sp>
      <p:graphicFrame>
        <p:nvGraphicFramePr>
          <p:cNvPr id="6" name="Table 5"/>
          <p:cNvGraphicFramePr>
            <a:graphicFrameLocks noGrp="1"/>
          </p:cNvGraphicFramePr>
          <p:nvPr/>
        </p:nvGraphicFramePr>
        <p:xfrm>
          <a:off x="548640" y="2377440"/>
          <a:ext cx="11091672" cy="1737360"/>
        </p:xfrm>
        <a:graphic>
          <a:graphicData uri="http://schemas.openxmlformats.org/drawingml/2006/table">
            <a:tbl>
              <a:tblPr firstRow="1" bandRow="1">
                <a:tableStyleId>{5C22544A-7EE6-4342-B048-85BDC9FD1C3A}</a:tableStyleId>
              </a:tblPr>
              <a:tblGrid>
                <a:gridCol w="3108960"/>
                <a:gridCol w="2011680"/>
                <a:gridCol w="914400"/>
                <a:gridCol w="3291840"/>
                <a:gridCol w="1764792"/>
              </a:tblGrid>
              <a:tr h="289560">
                <a:tc>
                  <a:txBody>
                    <a:bodyPr/>
                    <a:lstStyle/>
                    <a:p>
                      <a:r>
                        <a:rPr sz="1200" b="1">
                          <a:solidFill>
                            <a:srgbClr val="FFFFFF"/>
                          </a:solidFill>
                          <a:latin typeface="Calibri"/>
                        </a:rPr>
                        <a:t>Module (as the portal names it)</a:t>
                      </a:r>
                    </a:p>
                  </a:txBody>
                  <a:tcPr>
                    <a:solidFill>
                      <a:srgbClr val="1D2F82"/>
                    </a:solidFill>
                  </a:tcPr>
                </a:tc>
                <a:tc>
                  <a:txBody>
                    <a:bodyPr/>
                    <a:lstStyle/>
                    <a:p>
                      <a:r>
                        <a:rPr sz="1200" b="1">
                          <a:solidFill>
                            <a:srgbClr val="FFFFFF"/>
                          </a:solidFill>
                          <a:latin typeface="Calibri"/>
                        </a:rPr>
                        <a:t>Path</a:t>
                      </a:r>
                    </a:p>
                  </a:txBody>
                  <a:tcPr>
                    <a:solidFill>
                      <a:srgbClr val="1D2F82"/>
                    </a:solidFill>
                  </a:tcPr>
                </a:tc>
                <a:tc>
                  <a:txBody>
                    <a:bodyPr/>
                    <a:lstStyle/>
                    <a:p>
                      <a:r>
                        <a:rPr sz="1200" b="1">
                          <a:solidFill>
                            <a:srgbClr val="FFFFFF"/>
                          </a:solidFill>
                          <a:latin typeface="Calibri"/>
                        </a:rPr>
                        <a:t>Pages</a:t>
                      </a:r>
                    </a:p>
                  </a:txBody>
                  <a:tcPr>
                    <a:solidFill>
                      <a:srgbClr val="1D2F82"/>
                    </a:solidFill>
                  </a:tcPr>
                </a:tc>
                <a:tc>
                  <a:txBody>
                    <a:bodyPr/>
                    <a:lstStyle/>
                    <a:p>
                      <a:r>
                        <a:rPr sz="1200" b="1">
                          <a:solidFill>
                            <a:srgbClr val="FFFFFF"/>
                          </a:solidFill>
                          <a:latin typeface="Calibri"/>
                        </a:rPr>
                        <a:t>Inferred HIS layer</a:t>
                      </a:r>
                    </a:p>
                  </a:txBody>
                  <a:tcPr>
                    <a:solidFill>
                      <a:srgbClr val="1D2F82"/>
                    </a:solidFill>
                  </a:tcPr>
                </a:tc>
                <a:tc>
                  <a:txBody>
                    <a:bodyPr/>
                    <a:lstStyle/>
                    <a:p>
                      <a:r>
                        <a:rPr sz="1200" b="1">
                          <a:solidFill>
                            <a:srgbClr val="FFFFFF"/>
                          </a:solidFill>
                          <a:latin typeface="Calibri"/>
                        </a:rPr>
                        <a:t>Confidence</a:t>
                      </a:r>
                    </a:p>
                  </a:txBody>
                  <a:tcPr>
                    <a:solidFill>
                      <a:srgbClr val="1D2F82"/>
                    </a:solidFill>
                  </a:tcPr>
                </a:tc>
              </a:tr>
              <a:tr h="289560">
                <a:tc>
                  <a:txBody>
                    <a:bodyPr/>
                    <a:lstStyle/>
                    <a:p>
                      <a:r>
                        <a:rPr sz="1100" b="0">
                          <a:solidFill>
                            <a:srgbClr val="000000"/>
                          </a:solidFill>
                          <a:latin typeface="Calibri"/>
                        </a:rPr>
                        <a:t>Patient Registration</a:t>
                      </a:r>
                    </a:p>
                  </a:txBody>
                  <a:tcPr>
                    <a:solidFill>
                      <a:srgbClr val="FFFFFF"/>
                    </a:solidFill>
                  </a:tcPr>
                </a:tc>
                <a:tc>
                  <a:txBody>
                    <a:bodyPr/>
                    <a:lstStyle/>
                    <a:p>
                      <a:r>
                        <a:rPr sz="1100" b="0">
                          <a:solidFill>
                            <a:srgbClr val="000000"/>
                          </a:solidFill>
                          <a:latin typeface="Calibri"/>
                        </a:rPr>
                        <a:t>/m/registration/</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patient_administration</a:t>
                      </a:r>
                    </a:p>
                  </a:txBody>
                  <a:tcPr>
                    <a:solidFill>
                      <a:srgbClr val="FFFFFF"/>
                    </a:solidFill>
                  </a:tcPr>
                </a:tc>
                <a:tc>
                  <a:txBody>
                    <a:bodyPr/>
                    <a:lstStyle/>
                    <a:p>
                      <a:r>
                        <a:rPr sz="1100" b="0">
                          <a:solidFill>
                            <a:srgbClr val="000000"/>
                          </a:solidFill>
                          <a:latin typeface="Calibri"/>
                        </a:rPr>
                        <a:t>100%</a:t>
                      </a:r>
                    </a:p>
                  </a:txBody>
                  <a:tcPr>
                    <a:solidFill>
                      <a:srgbClr val="FFFFFF"/>
                    </a:solidFill>
                  </a:tcPr>
                </a:tc>
              </a:tr>
              <a:tr h="289560">
                <a:tc>
                  <a:txBody>
                    <a:bodyPr/>
                    <a:lstStyle/>
                    <a:p>
                      <a:r>
                        <a:rPr sz="1100" b="0">
                          <a:solidFill>
                            <a:srgbClr val="000000"/>
                          </a:solidFill>
                          <a:latin typeface="Calibri"/>
                        </a:rPr>
                        <a:t>Clinical Records</a:t>
                      </a:r>
                    </a:p>
                  </a:txBody>
                  <a:tcPr>
                    <a:solidFill>
                      <a:srgbClr val="FFFFFF"/>
                    </a:solidFill>
                  </a:tcPr>
                </a:tc>
                <a:tc>
                  <a:txBody>
                    <a:bodyPr/>
                    <a:lstStyle/>
                    <a:p>
                      <a:r>
                        <a:rPr sz="1100" b="0">
                          <a:solidFill>
                            <a:srgbClr val="000000"/>
                          </a:solidFill>
                          <a:latin typeface="Calibri"/>
                        </a:rPr>
                        <a:t>/m/clinical/</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clinical_ehr</a:t>
                      </a:r>
                    </a:p>
                  </a:txBody>
                  <a:tcPr>
                    <a:solidFill>
                      <a:srgbClr val="FFFFFF"/>
                    </a:solidFill>
                  </a:tcPr>
                </a:tc>
                <a:tc>
                  <a:txBody>
                    <a:bodyPr/>
                    <a:lstStyle/>
                    <a:p>
                      <a:r>
                        <a:rPr sz="1100" b="0">
                          <a:solidFill>
                            <a:srgbClr val="000000"/>
                          </a:solidFill>
                          <a:latin typeface="Calibri"/>
                        </a:rPr>
                        <a:t>100%</a:t>
                      </a:r>
                    </a:p>
                  </a:txBody>
                  <a:tcPr>
                    <a:solidFill>
                      <a:srgbClr val="FFFFFF"/>
                    </a:solidFill>
                  </a:tcPr>
                </a:tc>
              </a:tr>
              <a:tr h="289560">
                <a:tc>
                  <a:txBody>
                    <a:bodyPr/>
                    <a:lstStyle/>
                    <a:p>
                      <a:r>
                        <a:rPr sz="1100" b="0">
                          <a:solidFill>
                            <a:srgbClr val="000000"/>
                          </a:solidFill>
                          <a:latin typeface="Calibri"/>
                        </a:rPr>
                        <a:t>Departmental Orders</a:t>
                      </a:r>
                    </a:p>
                  </a:txBody>
                  <a:tcPr>
                    <a:solidFill>
                      <a:srgbClr val="FFFFFF"/>
                    </a:solidFill>
                  </a:tcPr>
                </a:tc>
                <a:tc>
                  <a:txBody>
                    <a:bodyPr/>
                    <a:lstStyle/>
                    <a:p>
                      <a:r>
                        <a:rPr sz="1100" b="0">
                          <a:solidFill>
                            <a:srgbClr val="000000"/>
                          </a:solidFill>
                          <a:latin typeface="Calibri"/>
                        </a:rPr>
                        <a:t>/m/departments/</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ancillary_departmental</a:t>
                      </a:r>
                    </a:p>
                  </a:txBody>
                  <a:tcPr>
                    <a:solidFill>
                      <a:srgbClr val="FFFFFF"/>
                    </a:solidFill>
                  </a:tcPr>
                </a:tc>
                <a:tc>
                  <a:txBody>
                    <a:bodyPr/>
                    <a:lstStyle/>
                    <a:p>
                      <a:r>
                        <a:rPr sz="1100" b="0">
                          <a:solidFill>
                            <a:srgbClr val="000000"/>
                          </a:solidFill>
                          <a:latin typeface="Calibri"/>
                        </a:rPr>
                        <a:t>100%</a:t>
                      </a:r>
                    </a:p>
                  </a:txBody>
                  <a:tcPr>
                    <a:solidFill>
                      <a:srgbClr val="FFFFFF"/>
                    </a:solidFill>
                  </a:tcPr>
                </a:tc>
              </a:tr>
              <a:tr h="289560">
                <a:tc>
                  <a:txBody>
                    <a:bodyPr/>
                    <a:lstStyle/>
                    <a:p>
                      <a:r>
                        <a:rPr sz="1100" b="0">
                          <a:solidFill>
                            <a:srgbClr val="000000"/>
                          </a:solidFill>
                          <a:latin typeface="Calibri"/>
                        </a:rPr>
                        <a:t>Billing &amp; Accounts</a:t>
                      </a:r>
                    </a:p>
                  </a:txBody>
                  <a:tcPr>
                    <a:solidFill>
                      <a:srgbClr val="FFFFFF"/>
                    </a:solidFill>
                  </a:tcPr>
                </a:tc>
                <a:tc>
                  <a:txBody>
                    <a:bodyPr/>
                    <a:lstStyle/>
                    <a:p>
                      <a:r>
                        <a:rPr sz="1100" b="0">
                          <a:solidFill>
                            <a:srgbClr val="000000"/>
                          </a:solidFill>
                          <a:latin typeface="Calibri"/>
                        </a:rPr>
                        <a:t>/m/billing/</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administrative_financial</a:t>
                      </a:r>
                    </a:p>
                  </a:txBody>
                  <a:tcPr>
                    <a:solidFill>
                      <a:srgbClr val="FFFFFF"/>
                    </a:solidFill>
                  </a:tcPr>
                </a:tc>
                <a:tc>
                  <a:txBody>
                    <a:bodyPr/>
                    <a:lstStyle/>
                    <a:p>
                      <a:r>
                        <a:rPr sz="1100" b="0">
                          <a:solidFill>
                            <a:srgbClr val="000000"/>
                          </a:solidFill>
                          <a:latin typeface="Calibri"/>
                        </a:rPr>
                        <a:t>100%</a:t>
                      </a:r>
                    </a:p>
                  </a:txBody>
                  <a:tcPr>
                    <a:solidFill>
                      <a:srgbClr val="FFFFFF"/>
                    </a:solidFill>
                  </a:tcPr>
                </a:tc>
              </a:tr>
              <a:tr h="289560">
                <a:tc>
                  <a:txBody>
                    <a:bodyPr/>
                    <a:lstStyle/>
                    <a:p>
                      <a:r>
                        <a:rPr sz="1100" b="0">
                          <a:solidFill>
                            <a:srgbClr val="000000"/>
                          </a:solidFill>
                          <a:latin typeface="Calibri"/>
                        </a:rPr>
                        <a:t>Audit Log</a:t>
                      </a:r>
                    </a:p>
                  </a:txBody>
                  <a:tcPr>
                    <a:solidFill>
                      <a:srgbClr val="FFFFFF"/>
                    </a:solidFill>
                  </a:tcPr>
                </a:tc>
                <a:tc>
                  <a:txBody>
                    <a:bodyPr/>
                    <a:lstStyle/>
                    <a:p>
                      <a:r>
                        <a:rPr sz="1100" b="0">
                          <a:solidFill>
                            <a:srgbClr val="000000"/>
                          </a:solidFill>
                          <a:latin typeface="Calibri"/>
                        </a:rPr>
                        <a:t>/m/integration/</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infrastructure_integration</a:t>
                      </a:r>
                    </a:p>
                  </a:txBody>
                  <a:tcPr>
                    <a:solidFill>
                      <a:srgbClr val="FFFFFF"/>
                    </a:solidFill>
                  </a:tcPr>
                </a:tc>
                <a:tc>
                  <a:txBody>
                    <a:bodyPr/>
                    <a:lstStyle/>
                    <a:p>
                      <a:r>
                        <a:rPr sz="1100" b="0">
                          <a:solidFill>
                            <a:srgbClr val="000000"/>
                          </a:solidFill>
                          <a:latin typeface="Calibri"/>
                        </a:rPr>
                        <a:t>100%</a:t>
                      </a:r>
                    </a:p>
                  </a:txBody>
                  <a:tcPr>
                    <a:solidFill>
                      <a:srgbClr val="FFFFFF"/>
                    </a:solidFill>
                  </a:tcPr>
                </a:tc>
              </a:tr>
            </a:tbl>
          </a:graphicData>
        </a:graphic>
      </p:graphicFrame>
      <p:sp>
        <p:nvSpPr>
          <p:cNvPr id="7" name="TextBox 6"/>
          <p:cNvSpPr txBox="1"/>
          <p:nvPr/>
        </p:nvSpPr>
        <p:spPr>
          <a:xfrm>
            <a:off x="640080" y="4297680"/>
            <a:ext cx="10881360" cy="2011680"/>
          </a:xfrm>
          <a:prstGeom prst="rect">
            <a:avLst/>
          </a:prstGeom>
          <a:noFill/>
        </p:spPr>
        <p:txBody>
          <a:bodyPr wrap="square">
            <a:spAutoFit/>
          </a:bodyPr>
          <a:lstStyle/>
          <a:p>
            <a:r>
              <a:rPr sz="1100" b="0">
                <a:solidFill>
                  <a:srgbClr val="000000"/>
                </a:solidFill>
                <a:latin typeface="Calibri"/>
              </a:rPr>
              <a:t>reception &gt; what is the patient's diagnosis</a:t>
            </a:r>
          </a:p>
          <a:p>
            <a:r>
              <a:rPr sz="1100" b="0">
                <a:solidFill>
                  <a:srgbClr val="000000"/>
                </a:solidFill>
                <a:latin typeface="Calibri"/>
              </a:rPr>
              <a:t>assistant : I can't walk you through how to look up a patient's diagnosis as reception.</a:t>
            </a:r>
          </a:p>
          <a:p>
            <a:r>
              <a:rPr sz="1100" b="0">
                <a:solidFill>
                  <a:srgbClr val="000000"/>
                </a:solidFill>
                <a:latin typeface="Calibri"/>
              </a:rPr>
              <a:t>            reception has no lawful purpose to act under 'care_coordination'; its purposes are billing_settlement, patient_registration.   [PL-01 — DPDP Act 2023 - purpose limitation]</a:t>
            </a:r>
          </a:p>
          <a:p>
            <a:r>
              <a:rPr sz="1100" b="0">
                <a:solidFill>
                  <a:srgbClr val="000000"/>
                </a:solidFill>
                <a:latin typeface="Calibri"/>
              </a:rPr>
              <a:t>            This is something nurse can do; please hand it to them.        (declined before asking for any detail)</a:t>
            </a:r>
          </a:p>
          <a:p>
            <a:r>
              <a:rPr sz="1100" b="0">
                <a:solidFill>
                  <a:srgbClr val="000000"/>
                </a:solidFill>
                <a:latin typeface="Calibri"/>
              </a:rPr>
              <a:t>The refusal comes from the same policy table that scored the benchmark. A nurse asking the same question is walked through it, each step stamped with the page the crawler found: [clinical_ehr / Condition / /m/clinical/].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515</Words>
  <Application>Microsoft Macintosh PowerPoint</Application>
  <PresentationFormat>Widescreen</PresentationFormat>
  <Paragraphs>93</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1</cp:revision>
  <dcterms:created xsi:type="dcterms:W3CDTF">2026-08-27T09:57:11Z</dcterms:created>
  <dcterms:modified xsi:type="dcterms:W3CDTF">2026-08-27T10:07:40Z</dcterms:modified>
</cp:coreProperties>
</file>